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Glory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joVYzBBYzuyqc8KLk/Q6Gz4a3/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Glory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Glory-italic.fntdata"/><Relationship Id="rId25" Type="http://schemas.openxmlformats.org/officeDocument/2006/relationships/font" Target="fonts/Glory-bold.fntdata"/><Relationship Id="rId28" Type="http://schemas.openxmlformats.org/officeDocument/2006/relationships/font" Target="fonts/FiraCode-regular.fntdata"/><Relationship Id="rId27" Type="http://schemas.openxmlformats.org/officeDocument/2006/relationships/font" Target="fonts/Glory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Cod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999ebccfe_2_7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g3d999ebccfe_2_7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g3d999ebccfe_2_7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999ebccfe_2_7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999ebccfe_2_7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g3d999ebccfe_2_7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999ebccfe_2_1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g3d999ebccfe_2_1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1" name="Google Shape;221;g3d999ebccfe_2_12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999ebccfe_2_1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999ebccfe_2_1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4" name="Google Shape;224;g3d999ebccfe_2_1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999ebccfe_2_14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6" name="Google Shape;246;g3d999ebccfe_2_14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7" name="Google Shape;247;g3d999ebccfe_2_14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d999ebccfe_2_14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999ebccfe_2_14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0" name="Google Shape;250;g3d999ebccfe_2_14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999ebccfe_2_17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2" name="Google Shape;272;g3d999ebccfe_2_17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3" name="Google Shape;273;g3d999ebccfe_2_17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d999ebccfe_2_17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999ebccfe_2_17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6" name="Google Shape;276;g3d999ebccfe_2_17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6a6abdaa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6a6abda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6a6abdaa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6a6abdaa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6a6abdaa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6a6abdaa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6a6abdaa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e6a6abdaa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6a6abdaa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6a6abdaa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dc21de9d4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dc21de9d4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6a6abdaa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e6a6abdaa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6a6abdaa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e6a6abdaa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6a6abdaa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e6a6abdaa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6a6abdaa1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6a6abdaa1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6a6abdaa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e6a6abdaa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999ebccfe_2_19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8" name="Google Shape;548;g3d999ebccfe_2_19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9" name="Google Shape;549;g3d999ebccfe_2_19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d999ebccfe_2_19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d999ebccfe_2_19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2" name="Google Shape;552;g3d999ebccfe_2_19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c21de9d46_1_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5" name="Google Shape;575;g3dc21de9d46_1_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76" name="Google Shape;576;g3dc21de9d46_1_1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dc21de9d46_1_1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dc21de9d46_1_1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9" name="Google Shape;579;g3dc21de9d46_1_1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11" Type="http://schemas.openxmlformats.org/officeDocument/2006/relationships/image" Target="../media/image22.jpg"/><Relationship Id="rId10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1" name="Google Shape;11;p25"/>
          <p:cNvGrpSpPr/>
          <p:nvPr/>
        </p:nvGrpSpPr>
        <p:grpSpPr>
          <a:xfrm>
            <a:off x="976855" y="3868407"/>
            <a:ext cx="7432599" cy="601338"/>
            <a:chOff x="976855" y="3868407"/>
            <a:chExt cx="7432599" cy="601338"/>
          </a:xfrm>
        </p:grpSpPr>
        <p:grpSp>
          <p:nvGrpSpPr>
            <p:cNvPr id="12" name="Google Shape;12;p25"/>
            <p:cNvGrpSpPr/>
            <p:nvPr/>
          </p:nvGrpSpPr>
          <p:grpSpPr>
            <a:xfrm>
              <a:off x="976855" y="3868407"/>
              <a:ext cx="3107609" cy="601338"/>
              <a:chOff x="583042" y="3285588"/>
              <a:chExt cx="3350522" cy="648343"/>
            </a:xfrm>
          </p:grpSpPr>
          <p:grpSp>
            <p:nvGrpSpPr>
              <p:cNvPr id="13" name="Google Shape;13;p25"/>
              <p:cNvGrpSpPr/>
              <p:nvPr/>
            </p:nvGrpSpPr>
            <p:grpSpPr>
              <a:xfrm>
                <a:off x="583042" y="3504088"/>
                <a:ext cx="3350522" cy="429843"/>
                <a:chOff x="575950" y="3349000"/>
                <a:chExt cx="3839700" cy="492600"/>
              </a:xfrm>
            </p:grpSpPr>
            <p:sp>
              <p:nvSpPr>
                <p:cNvPr id="14" name="Google Shape;14;p25"/>
                <p:cNvSpPr/>
                <p:nvPr/>
              </p:nvSpPr>
              <p:spPr>
                <a:xfrm>
                  <a:off x="575950" y="3349000"/>
                  <a:ext cx="3839700" cy="4926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2958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4000" lIns="74000" spcFirstLastPara="1" rIns="74000" wrap="square" tIns="74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33"/>
                    <a:buFont typeface="Arial"/>
                    <a:buNone/>
                  </a:pPr>
                  <a:r>
                    <a:t/>
                  </a:r>
                  <a:endParaRPr b="0" i="0" sz="1133" u="none" cap="none" strike="noStrike">
                    <a:solidFill>
                      <a:srgbClr val="000000"/>
                    </a:solidFill>
                    <a:latin typeface="Glory"/>
                    <a:ea typeface="Glory"/>
                    <a:cs typeface="Glory"/>
                    <a:sym typeface="Glory"/>
                  </a:endParaRPr>
                </a:p>
              </p:txBody>
            </p:sp>
            <p:pic>
              <p:nvPicPr>
                <p:cNvPr id="15" name="Google Shape;15;p25" title="Asset 10.png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b="0" l="0" r="0" t="0"/>
                <a:stretch/>
              </p:blipFill>
              <p:spPr>
                <a:xfrm>
                  <a:off x="664393" y="3438404"/>
                  <a:ext cx="759337" cy="3137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" name="Google Shape;16;p25" title="Asset 4.png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562907" y="3454504"/>
                  <a:ext cx="1944235" cy="2815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" name="Google Shape;17;p25" title="Asset 3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646331" y="3450077"/>
                  <a:ext cx="659755" cy="2904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8" name="Google Shape;18;p25"/>
              <p:cNvSpPr txBox="1"/>
              <p:nvPr/>
            </p:nvSpPr>
            <p:spPr>
              <a:xfrm>
                <a:off x="583058" y="3285588"/>
                <a:ext cx="12513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7"/>
                  <a:buFont typeface="Arial"/>
                  <a:buNone/>
                </a:pPr>
                <a:r>
                  <a:rPr b="0" i="0" lang="en-GB" sz="927" u="none" cap="none" strike="noStrike">
                    <a:solidFill>
                      <a:srgbClr val="424953"/>
                    </a:solidFill>
                    <a:latin typeface="Arial"/>
                    <a:ea typeface="Arial"/>
                    <a:cs typeface="Arial"/>
                    <a:sym typeface="Arial"/>
                  </a:rPr>
                  <a:t>Organizer</a:t>
                </a:r>
                <a:endParaRPr b="0" i="0" sz="927" u="none" cap="none" strike="noStrike">
                  <a:solidFill>
                    <a:srgbClr val="42495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" name="Google Shape;19;p25"/>
            <p:cNvGrpSpPr/>
            <p:nvPr/>
          </p:nvGrpSpPr>
          <p:grpSpPr>
            <a:xfrm>
              <a:off x="4212397" y="3868442"/>
              <a:ext cx="1934953" cy="601280"/>
              <a:chOff x="4071497" y="3285600"/>
              <a:chExt cx="2086203" cy="648280"/>
            </a:xfrm>
          </p:grpSpPr>
          <p:grpSp>
            <p:nvGrpSpPr>
              <p:cNvPr id="20" name="Google Shape;20;p25"/>
              <p:cNvGrpSpPr/>
              <p:nvPr/>
            </p:nvGrpSpPr>
            <p:grpSpPr>
              <a:xfrm>
                <a:off x="4071500" y="3504136"/>
                <a:ext cx="2086200" cy="429744"/>
                <a:chOff x="4611875" y="3349000"/>
                <a:chExt cx="2086200" cy="492600"/>
              </a:xfrm>
            </p:grpSpPr>
            <p:sp>
              <p:nvSpPr>
                <p:cNvPr id="21" name="Google Shape;21;p25"/>
                <p:cNvSpPr/>
                <p:nvPr/>
              </p:nvSpPr>
              <p:spPr>
                <a:xfrm>
                  <a:off x="4611875" y="3349000"/>
                  <a:ext cx="2086200" cy="4926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2958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4800" lIns="84800" spcFirstLastPara="1" rIns="84800" wrap="square" tIns="84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98"/>
                    <a:buFont typeface="Arial"/>
                    <a:buNone/>
                  </a:pPr>
                  <a:r>
                    <a:t/>
                  </a:r>
                  <a:endParaRPr b="0" i="0" sz="1298" u="none" cap="none" strike="noStrike">
                    <a:solidFill>
                      <a:srgbClr val="000000"/>
                    </a:solidFill>
                    <a:latin typeface="Glory"/>
                    <a:ea typeface="Glory"/>
                    <a:cs typeface="Glory"/>
                    <a:sym typeface="Glory"/>
                  </a:endParaRPr>
                </a:p>
              </p:txBody>
            </p:sp>
            <p:grpSp>
              <p:nvGrpSpPr>
                <p:cNvPr id="22" name="Google Shape;22;p25"/>
                <p:cNvGrpSpPr/>
                <p:nvPr/>
              </p:nvGrpSpPr>
              <p:grpSpPr>
                <a:xfrm>
                  <a:off x="4730924" y="3477414"/>
                  <a:ext cx="1862306" cy="237970"/>
                  <a:chOff x="4693939" y="3479624"/>
                  <a:chExt cx="1862306" cy="237970"/>
                </a:xfrm>
              </p:grpSpPr>
              <p:pic>
                <p:nvPicPr>
                  <p:cNvPr id="23" name="Google Shape;23;p25" title="Asset 5.png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4693939" y="3479624"/>
                    <a:ext cx="853843" cy="2313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" name="Google Shape;24;p25" title="Screenshot_2025-09-19_015326-removebg-preview.png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5641200" y="3486244"/>
                    <a:ext cx="915045" cy="2313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5" name="Google Shape;25;p25"/>
              <p:cNvSpPr txBox="1"/>
              <p:nvPr/>
            </p:nvSpPr>
            <p:spPr>
              <a:xfrm>
                <a:off x="4071497" y="3285600"/>
                <a:ext cx="17163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7"/>
                  <a:buFont typeface="Arial"/>
                  <a:buNone/>
                </a:pPr>
                <a:r>
                  <a:rPr b="0" i="0" lang="en-GB" sz="927" u="none" cap="none" strike="noStrike">
                    <a:solidFill>
                      <a:srgbClr val="424953"/>
                    </a:solidFill>
                    <a:latin typeface="Arial"/>
                    <a:ea typeface="Arial"/>
                    <a:cs typeface="Arial"/>
                    <a:sym typeface="Arial"/>
                  </a:rPr>
                  <a:t>Publication Partner</a:t>
                </a:r>
                <a:endParaRPr b="0" i="0" sz="927" u="none" cap="none" strike="noStrike">
                  <a:solidFill>
                    <a:srgbClr val="42495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" name="Google Shape;26;p25"/>
            <p:cNvGrpSpPr/>
            <p:nvPr/>
          </p:nvGrpSpPr>
          <p:grpSpPr>
            <a:xfrm>
              <a:off x="6275276" y="3868430"/>
              <a:ext cx="2134178" cy="601286"/>
              <a:chOff x="6295625" y="3285588"/>
              <a:chExt cx="2301000" cy="648287"/>
            </a:xfrm>
          </p:grpSpPr>
          <p:grpSp>
            <p:nvGrpSpPr>
              <p:cNvPr id="27" name="Google Shape;27;p25"/>
              <p:cNvGrpSpPr/>
              <p:nvPr/>
            </p:nvGrpSpPr>
            <p:grpSpPr>
              <a:xfrm>
                <a:off x="6295625" y="3504131"/>
                <a:ext cx="2301000" cy="429744"/>
                <a:chOff x="5875900" y="2712150"/>
                <a:chExt cx="2301000" cy="492600"/>
              </a:xfrm>
            </p:grpSpPr>
            <p:sp>
              <p:nvSpPr>
                <p:cNvPr id="28" name="Google Shape;28;p25"/>
                <p:cNvSpPr/>
                <p:nvPr/>
              </p:nvSpPr>
              <p:spPr>
                <a:xfrm>
                  <a:off x="5875900" y="2712150"/>
                  <a:ext cx="2301000" cy="4926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2958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4800" lIns="84800" spcFirstLastPara="1" rIns="84800" wrap="square" tIns="84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98"/>
                    <a:buFont typeface="Arial"/>
                    <a:buNone/>
                  </a:pPr>
                  <a:r>
                    <a:t/>
                  </a:r>
                  <a:endParaRPr b="0" i="0" sz="1298" u="none" cap="none" strike="noStrike">
                    <a:solidFill>
                      <a:srgbClr val="000000"/>
                    </a:solidFill>
                    <a:latin typeface="Glory"/>
                    <a:ea typeface="Glory"/>
                    <a:cs typeface="Glory"/>
                    <a:sym typeface="Glory"/>
                  </a:endParaRPr>
                </a:p>
              </p:txBody>
            </p:sp>
            <p:pic>
              <p:nvPicPr>
                <p:cNvPr id="29" name="Google Shape;29;p25" title="Asset 8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6767474" y="2801560"/>
                  <a:ext cx="814844" cy="3137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" name="Google Shape;30;p25" title="Asset 6.png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5958165" y="2801556"/>
                  <a:ext cx="659759" cy="3137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1" name="Google Shape;31;p25" title="Asset 7.png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7731869" y="2787125"/>
                  <a:ext cx="328566" cy="3426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2" name="Google Shape;32;p25"/>
              <p:cNvSpPr txBox="1"/>
              <p:nvPr/>
            </p:nvSpPr>
            <p:spPr>
              <a:xfrm>
                <a:off x="6295633" y="3285588"/>
                <a:ext cx="12513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7"/>
                  <a:buFont typeface="Arial"/>
                  <a:buNone/>
                </a:pPr>
                <a:r>
                  <a:rPr b="0" i="0" lang="en-GB" sz="927" u="none" cap="none" strike="noStrike">
                    <a:solidFill>
                      <a:srgbClr val="424953"/>
                    </a:solidFill>
                    <a:latin typeface="Arial"/>
                    <a:ea typeface="Arial"/>
                    <a:cs typeface="Arial"/>
                    <a:sym typeface="Arial"/>
                  </a:rPr>
                  <a:t>Support Partner</a:t>
                </a:r>
                <a:endParaRPr b="0" i="0" sz="927" u="none" cap="none" strike="noStrike">
                  <a:solidFill>
                    <a:srgbClr val="42495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oogle Shape;33;p25"/>
          <p:cNvGrpSpPr/>
          <p:nvPr/>
        </p:nvGrpSpPr>
        <p:grpSpPr>
          <a:xfrm>
            <a:off x="962652" y="538943"/>
            <a:ext cx="6286475" cy="436938"/>
            <a:chOff x="940100" y="240450"/>
            <a:chExt cx="5757900" cy="400200"/>
          </a:xfrm>
        </p:grpSpPr>
        <p:sp>
          <p:nvSpPr>
            <p:cNvPr id="34" name="Google Shape;34;p25"/>
            <p:cNvSpPr txBox="1"/>
            <p:nvPr/>
          </p:nvSpPr>
          <p:spPr>
            <a:xfrm>
              <a:off x="940100" y="240450"/>
              <a:ext cx="575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825" lIns="99825" spcFirstLastPara="1" rIns="99825" wrap="square" tIns="998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8"/>
                <a:buFont typeface="Arial"/>
                <a:buNone/>
              </a:pPr>
              <a:r>
                <a:rPr b="1" i="0" lang="en-GB" sz="1528" u="none" cap="none" strike="noStrike">
                  <a:solidFill>
                    <a:srgbClr val="424953"/>
                  </a:solidFill>
                  <a:latin typeface="Glory"/>
                  <a:ea typeface="Glory"/>
                  <a:cs typeface="Glory"/>
                  <a:sym typeface="Glory"/>
                </a:rPr>
                <a:t>3rd International Conference on Big Data, loT and Machine Learning (BIM 2025)</a:t>
              </a:r>
              <a:endParaRPr b="1" i="0" sz="1528" u="none" cap="none" strike="noStrike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  <p:sp>
          <p:nvSpPr>
            <p:cNvPr id="35" name="Google Shape;35;p25"/>
            <p:cNvSpPr/>
            <p:nvPr/>
          </p:nvSpPr>
          <p:spPr>
            <a:xfrm>
              <a:off x="988350" y="312850"/>
              <a:ext cx="5624400" cy="277200"/>
            </a:xfrm>
            <a:prstGeom prst="roundRect">
              <a:avLst>
                <a:gd fmla="val 16667" name="adj"/>
              </a:avLst>
            </a:prstGeom>
            <a:noFill/>
            <a:ln cap="flat" cmpd="sng" w="10400">
              <a:solidFill>
                <a:srgbClr val="A295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825" lIns="99825" spcFirstLastPara="1" rIns="99825" wrap="square" tIns="99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8"/>
                <a:buFont typeface="Arial"/>
                <a:buNone/>
              </a:pPr>
              <a:r>
                <a:t/>
              </a:r>
              <a:endParaRPr b="0" i="0" sz="1528" u="none" cap="none" strike="noStrike">
                <a:solidFill>
                  <a:srgbClr val="000000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</p:grpSp>
      <p:grpSp>
        <p:nvGrpSpPr>
          <p:cNvPr id="36" name="Google Shape;36;p25"/>
          <p:cNvGrpSpPr/>
          <p:nvPr/>
        </p:nvGrpSpPr>
        <p:grpSpPr>
          <a:xfrm>
            <a:off x="7325212" y="369769"/>
            <a:ext cx="1084896" cy="1084896"/>
            <a:chOff x="1125364" y="878389"/>
            <a:chExt cx="859800" cy="859800"/>
          </a:xfrm>
        </p:grpSpPr>
        <p:sp>
          <p:nvSpPr>
            <p:cNvPr id="37" name="Google Shape;37;p25"/>
            <p:cNvSpPr/>
            <p:nvPr/>
          </p:nvSpPr>
          <p:spPr>
            <a:xfrm rot="5400000">
              <a:off x="1208150" y="960625"/>
              <a:ext cx="694226" cy="695345"/>
            </a:xfrm>
            <a:custGeom>
              <a:rect b="b" l="l" r="r" t="t"/>
              <a:pathLst>
                <a:path extrusionOk="0" h="523" w="523">
                  <a:moveTo>
                    <a:pt x="261" y="523"/>
                  </a:moveTo>
                  <a:cubicBezTo>
                    <a:pt x="261" y="523"/>
                    <a:pt x="261" y="523"/>
                    <a:pt x="261" y="523"/>
                  </a:cubicBezTo>
                  <a:cubicBezTo>
                    <a:pt x="406" y="523"/>
                    <a:pt x="523" y="406"/>
                    <a:pt x="523" y="261"/>
                  </a:cubicBezTo>
                  <a:cubicBezTo>
                    <a:pt x="523" y="261"/>
                    <a:pt x="523" y="261"/>
                    <a:pt x="523" y="261"/>
                  </a:cubicBezTo>
                  <a:cubicBezTo>
                    <a:pt x="523" y="117"/>
                    <a:pt x="406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117" y="0"/>
                    <a:pt x="0" y="117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406"/>
                    <a:pt x="117" y="523"/>
                    <a:pt x="261" y="523"/>
                  </a:cubicBezTo>
                  <a:close/>
                </a:path>
              </a:pathLst>
            </a:custGeom>
            <a:solidFill>
              <a:srgbClr val="C4C9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5"/>
            <p:cNvSpPr/>
            <p:nvPr/>
          </p:nvSpPr>
          <p:spPr>
            <a:xfrm>
              <a:off x="1125364" y="878389"/>
              <a:ext cx="859800" cy="859800"/>
            </a:xfrm>
            <a:prstGeom prst="arc">
              <a:avLst>
                <a:gd fmla="val 16200000" name="adj1"/>
                <a:gd fmla="val 5338847" name="adj2"/>
              </a:avLst>
            </a:prstGeom>
            <a:noFill/>
            <a:ln cap="flat" cmpd="sng" w="9525">
              <a:solidFill>
                <a:srgbClr val="8D9B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9" name="Google Shape;39;p25"/>
          <p:cNvSpPr txBox="1"/>
          <p:nvPr/>
        </p:nvSpPr>
        <p:spPr>
          <a:xfrm>
            <a:off x="998213" y="1393646"/>
            <a:ext cx="13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Paper Title: </a:t>
            </a:r>
            <a:endParaRPr b="0" i="0" sz="1400" u="none" cap="none" strike="noStrike">
              <a:solidFill>
                <a:srgbClr val="42495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25"/>
          <p:cNvSpPr txBox="1"/>
          <p:nvPr/>
        </p:nvSpPr>
        <p:spPr>
          <a:xfrm>
            <a:off x="998226" y="1212925"/>
            <a:ext cx="9732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Paper ID:</a:t>
            </a:r>
            <a:endParaRPr b="0" i="0" sz="1400" u="none" cap="none" strike="noStrike">
              <a:solidFill>
                <a:srgbClr val="42495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25"/>
          <p:cNvSpPr txBox="1"/>
          <p:nvPr/>
        </p:nvSpPr>
        <p:spPr>
          <a:xfrm>
            <a:off x="976900" y="3183525"/>
            <a:ext cx="59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Date:</a:t>
            </a:r>
            <a:endParaRPr b="0" i="0" sz="1400" u="none" cap="none" strike="noStrike">
              <a:solidFill>
                <a:srgbClr val="42495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42" name="Google Shape;42;p25"/>
          <p:cNvGrpSpPr/>
          <p:nvPr/>
        </p:nvGrpSpPr>
        <p:grpSpPr>
          <a:xfrm>
            <a:off x="-985324" y="1572363"/>
            <a:ext cx="7552238" cy="3895926"/>
            <a:chOff x="-985324" y="1572363"/>
            <a:chExt cx="7552238" cy="3895926"/>
          </a:xfrm>
        </p:grpSpPr>
        <p:grpSp>
          <p:nvGrpSpPr>
            <p:cNvPr id="43" name="Google Shape;43;p25"/>
            <p:cNvGrpSpPr/>
            <p:nvPr/>
          </p:nvGrpSpPr>
          <p:grpSpPr>
            <a:xfrm>
              <a:off x="-985324" y="1572363"/>
              <a:ext cx="1700426" cy="1700426"/>
              <a:chOff x="1125364" y="878389"/>
              <a:chExt cx="859800" cy="859800"/>
            </a:xfrm>
          </p:grpSpPr>
          <p:sp>
            <p:nvSpPr>
              <p:cNvPr id="44" name="Google Shape;44;p25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rect b="b" l="l" r="r" t="t"/>
                <a:pathLst>
                  <a:path extrusionOk="0" h="523" w="523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rgbClr val="C4C9C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5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fmla="val 16200000" name="adj1"/>
                  <a:gd fmla="val 5338847" name="adj2"/>
                </a:avLst>
              </a:prstGeom>
              <a:noFill/>
              <a:ln cap="flat" cmpd="sng" w="9525">
                <a:solidFill>
                  <a:srgbClr val="8D9BA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6" name="Google Shape;46;p25"/>
            <p:cNvGrpSpPr/>
            <p:nvPr/>
          </p:nvGrpSpPr>
          <p:grpSpPr>
            <a:xfrm rot="-5400000">
              <a:off x="5707114" y="4608489"/>
              <a:ext cx="859800" cy="859800"/>
              <a:chOff x="1125364" y="878389"/>
              <a:chExt cx="859800" cy="859800"/>
            </a:xfrm>
          </p:grpSpPr>
          <p:sp>
            <p:nvSpPr>
              <p:cNvPr id="47" name="Google Shape;47;p25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rect b="b" l="l" r="r" t="t"/>
                <a:pathLst>
                  <a:path extrusionOk="0" h="523" w="523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rgbClr val="E6DFD7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5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fmla="val 16200000" name="adj1"/>
                  <a:gd fmla="val 5338847" name="adj2"/>
                </a:avLst>
              </a:prstGeom>
              <a:noFill/>
              <a:ln cap="flat" cmpd="sng" w="9525">
                <a:solidFill>
                  <a:srgbClr val="D9CCC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49" name="Google Shape;49;p25"/>
          <p:cNvGrpSpPr/>
          <p:nvPr/>
        </p:nvGrpSpPr>
        <p:grpSpPr>
          <a:xfrm>
            <a:off x="375945" y="272047"/>
            <a:ext cx="8395423" cy="221100"/>
            <a:chOff x="375945" y="272047"/>
            <a:chExt cx="8395423" cy="221100"/>
          </a:xfrm>
        </p:grpSpPr>
        <p:sp>
          <p:nvSpPr>
            <p:cNvPr id="50" name="Google Shape;50;p25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rgbClr val="D9CC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5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rgbClr val="42495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" name="Google Shape;5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34950" y="483515"/>
            <a:ext cx="872625" cy="8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/>
        </p:nvSpPr>
        <p:spPr>
          <a:xfrm>
            <a:off x="976900" y="2750325"/>
            <a:ext cx="184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Presenter:</a:t>
            </a:r>
            <a:endParaRPr b="1" i="0" sz="2400" u="none" cap="none" strike="noStrike">
              <a:solidFill>
                <a:srgbClr val="98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54" name="Google Shape;54;p25" title="DIU_Dhaka_International_University_OUT_banner.jpg"/>
          <p:cNvPicPr preferRelativeResize="0"/>
          <p:nvPr/>
        </p:nvPicPr>
        <p:blipFill rotWithShape="1">
          <a:blip r:embed="rId11">
            <a:alphaModFix amt="13000"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8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CFE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/>
          <p:nvPr>
            <p:ph type="title"/>
          </p:nvPr>
        </p:nvSpPr>
        <p:spPr>
          <a:xfrm>
            <a:off x="311700" y="445025"/>
            <a:ext cx="787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26"/>
          <p:cNvSpPr/>
          <p:nvPr/>
        </p:nvSpPr>
        <p:spPr>
          <a:xfrm>
            <a:off x="0" y="4427100"/>
            <a:ext cx="9144000" cy="716400"/>
          </a:xfrm>
          <a:prstGeom prst="rect">
            <a:avLst/>
          </a:prstGeom>
          <a:solidFill>
            <a:srgbClr val="E6DF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lory"/>
              <a:ea typeface="Glory"/>
              <a:cs typeface="Glory"/>
              <a:sym typeface="Glory"/>
            </a:endParaRPr>
          </a:p>
        </p:txBody>
      </p:sp>
      <p:grpSp>
        <p:nvGrpSpPr>
          <p:cNvPr id="60" name="Google Shape;60;p26"/>
          <p:cNvGrpSpPr/>
          <p:nvPr/>
        </p:nvGrpSpPr>
        <p:grpSpPr>
          <a:xfrm>
            <a:off x="308806" y="4477500"/>
            <a:ext cx="4418612" cy="615600"/>
            <a:chOff x="940100" y="240450"/>
            <a:chExt cx="5757900" cy="615600"/>
          </a:xfrm>
        </p:grpSpPr>
        <p:sp>
          <p:nvSpPr>
            <p:cNvPr id="61" name="Google Shape;61;p26"/>
            <p:cNvSpPr txBox="1"/>
            <p:nvPr/>
          </p:nvSpPr>
          <p:spPr>
            <a:xfrm>
              <a:off x="940100" y="240450"/>
              <a:ext cx="5757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Glory"/>
                  <a:ea typeface="Glory"/>
                  <a:cs typeface="Glory"/>
                  <a:sym typeface="Glory"/>
                </a:rPr>
                <a:t>3rd International Conference on Big Data, loT and Machine Learning (BIM 2025)</a:t>
              </a:r>
              <a:endParaRPr b="1" i="0" sz="1400" u="none" cap="none" strike="noStrike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  <p:sp>
          <p:nvSpPr>
            <p:cNvPr id="62" name="Google Shape;62;p26"/>
            <p:cNvSpPr/>
            <p:nvPr/>
          </p:nvSpPr>
          <p:spPr>
            <a:xfrm>
              <a:off x="988337" y="312850"/>
              <a:ext cx="5624400" cy="4707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A295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</p:grpSp>
      <p:grpSp>
        <p:nvGrpSpPr>
          <p:cNvPr id="63" name="Google Shape;63;p26"/>
          <p:cNvGrpSpPr/>
          <p:nvPr/>
        </p:nvGrpSpPr>
        <p:grpSpPr>
          <a:xfrm>
            <a:off x="4892896" y="4536526"/>
            <a:ext cx="3878481" cy="497526"/>
            <a:chOff x="575950" y="3349000"/>
            <a:chExt cx="3839700" cy="492600"/>
          </a:xfrm>
        </p:grpSpPr>
        <p:sp>
          <p:nvSpPr>
            <p:cNvPr id="64" name="Google Shape;64;p26"/>
            <p:cNvSpPr/>
            <p:nvPr/>
          </p:nvSpPr>
          <p:spPr>
            <a:xfrm>
              <a:off x="575950" y="3349000"/>
              <a:ext cx="3839700" cy="492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600">
              <a:solidFill>
                <a:srgbClr val="A295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350" lIns="92350" spcFirstLastPara="1" rIns="92350" wrap="square" tIns="92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4"/>
                <a:buFont typeface="Arial"/>
                <a:buNone/>
              </a:pPr>
              <a:r>
                <a:t/>
              </a:r>
              <a:endParaRPr b="0" i="0" sz="1414" u="none" cap="none" strike="noStrike">
                <a:solidFill>
                  <a:srgbClr val="000000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  <p:pic>
          <p:nvPicPr>
            <p:cNvPr id="65" name="Google Shape;65;p26" title="Asset 10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64393" y="3438404"/>
              <a:ext cx="759337" cy="313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26" title="Asset 4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2907" y="3454504"/>
              <a:ext cx="1944235" cy="281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6" title="Asset 3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46331" y="3450077"/>
              <a:ext cx="659755" cy="2904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" name="Google Shape;68;p26"/>
          <p:cNvGrpSpPr/>
          <p:nvPr/>
        </p:nvGrpSpPr>
        <p:grpSpPr>
          <a:xfrm>
            <a:off x="-490886" y="-375037"/>
            <a:ext cx="2573140" cy="2583176"/>
            <a:chOff x="-490886" y="-375037"/>
            <a:chExt cx="2573140" cy="2583176"/>
          </a:xfrm>
        </p:grpSpPr>
        <p:grpSp>
          <p:nvGrpSpPr>
            <p:cNvPr id="69" name="Google Shape;69;p26"/>
            <p:cNvGrpSpPr/>
            <p:nvPr/>
          </p:nvGrpSpPr>
          <p:grpSpPr>
            <a:xfrm rot="5400000">
              <a:off x="1367434" y="-375037"/>
              <a:ext cx="714820" cy="714820"/>
              <a:chOff x="771846" y="524889"/>
              <a:chExt cx="1566900" cy="1566900"/>
            </a:xfrm>
          </p:grpSpPr>
          <p:sp>
            <p:nvSpPr>
              <p:cNvPr id="70" name="Google Shape;70;p26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rect b="b" l="l" r="r" t="t"/>
                <a:pathLst>
                  <a:path extrusionOk="0" h="523" w="523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rgbClr val="C4C9C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6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fmla="val 16200000" name="adj1"/>
                  <a:gd fmla="val 5338847" name="adj2"/>
                </a:avLst>
              </a:prstGeom>
              <a:noFill/>
              <a:ln cap="flat" cmpd="sng" w="9525">
                <a:solidFill>
                  <a:srgbClr val="8D9BA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72" name="Google Shape;72;p26"/>
            <p:cNvGrpSpPr/>
            <p:nvPr/>
          </p:nvGrpSpPr>
          <p:grpSpPr>
            <a:xfrm rot="-5400000">
              <a:off x="-490886" y="1348339"/>
              <a:ext cx="859800" cy="859800"/>
              <a:chOff x="1125364" y="878389"/>
              <a:chExt cx="859800" cy="859800"/>
            </a:xfrm>
          </p:grpSpPr>
          <p:sp>
            <p:nvSpPr>
              <p:cNvPr id="73" name="Google Shape;73;p26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rect b="b" l="l" r="r" t="t"/>
                <a:pathLst>
                  <a:path extrusionOk="0" h="523" w="523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rgbClr val="E6DFD7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6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fmla="val 16200000" name="adj1"/>
                  <a:gd fmla="val 5338847" name="adj2"/>
                </a:avLst>
              </a:prstGeom>
              <a:noFill/>
              <a:ln cap="flat" cmpd="sng" w="9525">
                <a:solidFill>
                  <a:srgbClr val="D9CCC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75" name="Google Shape;75;p26"/>
          <p:cNvSpPr/>
          <p:nvPr/>
        </p:nvSpPr>
        <p:spPr>
          <a:xfrm rot="2456694">
            <a:off x="8587604" y="4073305"/>
            <a:ext cx="148542" cy="144173"/>
          </a:xfrm>
          <a:prstGeom prst="rect">
            <a:avLst/>
          </a:prstGeom>
          <a:solidFill>
            <a:srgbClr val="4249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4464" y="310044"/>
            <a:ext cx="59971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CFE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311700" y="445025"/>
            <a:ext cx="786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27"/>
          <p:cNvSpPr/>
          <p:nvPr/>
        </p:nvSpPr>
        <p:spPr>
          <a:xfrm>
            <a:off x="0" y="4427100"/>
            <a:ext cx="9144000" cy="716400"/>
          </a:xfrm>
          <a:prstGeom prst="rect">
            <a:avLst/>
          </a:prstGeom>
          <a:solidFill>
            <a:srgbClr val="E6DF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lory"/>
              <a:ea typeface="Glory"/>
              <a:cs typeface="Glory"/>
              <a:sym typeface="Glory"/>
            </a:endParaRPr>
          </a:p>
        </p:txBody>
      </p:sp>
      <p:grpSp>
        <p:nvGrpSpPr>
          <p:cNvPr id="82" name="Google Shape;82;p27"/>
          <p:cNvGrpSpPr/>
          <p:nvPr/>
        </p:nvGrpSpPr>
        <p:grpSpPr>
          <a:xfrm>
            <a:off x="308806" y="4477500"/>
            <a:ext cx="4418612" cy="615600"/>
            <a:chOff x="940100" y="240450"/>
            <a:chExt cx="5757900" cy="615600"/>
          </a:xfrm>
        </p:grpSpPr>
        <p:sp>
          <p:nvSpPr>
            <p:cNvPr id="83" name="Google Shape;83;p27"/>
            <p:cNvSpPr txBox="1"/>
            <p:nvPr/>
          </p:nvSpPr>
          <p:spPr>
            <a:xfrm>
              <a:off x="940100" y="240450"/>
              <a:ext cx="5757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Glory"/>
                  <a:ea typeface="Glory"/>
                  <a:cs typeface="Glory"/>
                  <a:sym typeface="Glory"/>
                </a:rPr>
                <a:t>3rd International Conference on Big Data, loT and Machine Learning (BIM 2025)</a:t>
              </a:r>
              <a:endParaRPr b="1" i="0" sz="1400" u="none" cap="none" strike="noStrike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  <p:sp>
          <p:nvSpPr>
            <p:cNvPr id="84" name="Google Shape;84;p27"/>
            <p:cNvSpPr/>
            <p:nvPr/>
          </p:nvSpPr>
          <p:spPr>
            <a:xfrm>
              <a:off x="988337" y="312850"/>
              <a:ext cx="5624400" cy="4707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A295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</p:grpSp>
      <p:grpSp>
        <p:nvGrpSpPr>
          <p:cNvPr id="85" name="Google Shape;85;p27"/>
          <p:cNvGrpSpPr/>
          <p:nvPr/>
        </p:nvGrpSpPr>
        <p:grpSpPr>
          <a:xfrm>
            <a:off x="4892896" y="4536526"/>
            <a:ext cx="3878481" cy="497526"/>
            <a:chOff x="575950" y="3349000"/>
            <a:chExt cx="3839700" cy="492600"/>
          </a:xfrm>
        </p:grpSpPr>
        <p:sp>
          <p:nvSpPr>
            <p:cNvPr id="86" name="Google Shape;86;p27"/>
            <p:cNvSpPr/>
            <p:nvPr/>
          </p:nvSpPr>
          <p:spPr>
            <a:xfrm>
              <a:off x="575950" y="3349000"/>
              <a:ext cx="3839700" cy="492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600">
              <a:solidFill>
                <a:srgbClr val="A295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350" lIns="92350" spcFirstLastPara="1" rIns="92350" wrap="square" tIns="92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4"/>
                <a:buFont typeface="Arial"/>
                <a:buNone/>
              </a:pPr>
              <a:r>
                <a:t/>
              </a:r>
              <a:endParaRPr b="0" i="0" sz="1414" u="none" cap="none" strike="noStrike">
                <a:solidFill>
                  <a:srgbClr val="000000"/>
                </a:solidFill>
                <a:latin typeface="Glory"/>
                <a:ea typeface="Glory"/>
                <a:cs typeface="Glory"/>
                <a:sym typeface="Glory"/>
              </a:endParaRPr>
            </a:p>
          </p:txBody>
        </p:sp>
        <p:pic>
          <p:nvPicPr>
            <p:cNvPr id="87" name="Google Shape;87;p27" title="Asset 10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64393" y="3438404"/>
              <a:ext cx="759337" cy="313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27" title="Asset 4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2907" y="3454504"/>
              <a:ext cx="1944235" cy="281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27" title="Asset 3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46331" y="3450077"/>
              <a:ext cx="659755" cy="2904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27"/>
          <p:cNvGrpSpPr/>
          <p:nvPr/>
        </p:nvGrpSpPr>
        <p:grpSpPr>
          <a:xfrm flipH="1">
            <a:off x="8675314" y="3443714"/>
            <a:ext cx="859800" cy="859800"/>
            <a:chOff x="1125364" y="878389"/>
            <a:chExt cx="859800" cy="859800"/>
          </a:xfrm>
        </p:grpSpPr>
        <p:sp>
          <p:nvSpPr>
            <p:cNvPr id="91" name="Google Shape;91;p27"/>
            <p:cNvSpPr/>
            <p:nvPr/>
          </p:nvSpPr>
          <p:spPr>
            <a:xfrm rot="5400000">
              <a:off x="1208150" y="960625"/>
              <a:ext cx="694226" cy="695345"/>
            </a:xfrm>
            <a:custGeom>
              <a:rect b="b" l="l" r="r" t="t"/>
              <a:pathLst>
                <a:path extrusionOk="0" h="523" w="523">
                  <a:moveTo>
                    <a:pt x="261" y="523"/>
                  </a:moveTo>
                  <a:cubicBezTo>
                    <a:pt x="261" y="523"/>
                    <a:pt x="261" y="523"/>
                    <a:pt x="261" y="523"/>
                  </a:cubicBezTo>
                  <a:cubicBezTo>
                    <a:pt x="406" y="523"/>
                    <a:pt x="523" y="406"/>
                    <a:pt x="523" y="261"/>
                  </a:cubicBezTo>
                  <a:cubicBezTo>
                    <a:pt x="523" y="261"/>
                    <a:pt x="523" y="261"/>
                    <a:pt x="523" y="261"/>
                  </a:cubicBezTo>
                  <a:cubicBezTo>
                    <a:pt x="523" y="117"/>
                    <a:pt x="406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117" y="0"/>
                    <a:pt x="0" y="117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406"/>
                    <a:pt x="117" y="523"/>
                    <a:pt x="261" y="523"/>
                  </a:cubicBezTo>
                  <a:close/>
                </a:path>
              </a:pathLst>
            </a:custGeom>
            <a:solidFill>
              <a:srgbClr val="C4C9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7"/>
            <p:cNvSpPr/>
            <p:nvPr/>
          </p:nvSpPr>
          <p:spPr>
            <a:xfrm>
              <a:off x="1125364" y="878389"/>
              <a:ext cx="859800" cy="859800"/>
            </a:xfrm>
            <a:prstGeom prst="arc">
              <a:avLst>
                <a:gd fmla="val 16200000" name="adj1"/>
                <a:gd fmla="val 5338847" name="adj2"/>
              </a:avLst>
            </a:prstGeom>
            <a:noFill/>
            <a:ln cap="flat" cmpd="sng" w="9525">
              <a:solidFill>
                <a:srgbClr val="8D9B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3" name="Google Shape;93;p27"/>
          <p:cNvGrpSpPr/>
          <p:nvPr/>
        </p:nvGrpSpPr>
        <p:grpSpPr>
          <a:xfrm rot="5400000">
            <a:off x="-378053" y="3148738"/>
            <a:ext cx="714820" cy="714820"/>
            <a:chOff x="771846" y="524889"/>
            <a:chExt cx="1566900" cy="1566900"/>
          </a:xfrm>
        </p:grpSpPr>
        <p:sp>
          <p:nvSpPr>
            <p:cNvPr id="94" name="Google Shape;94;p27"/>
            <p:cNvSpPr/>
            <p:nvPr/>
          </p:nvSpPr>
          <p:spPr>
            <a:xfrm rot="5400000">
              <a:off x="1208150" y="960625"/>
              <a:ext cx="694226" cy="695345"/>
            </a:xfrm>
            <a:custGeom>
              <a:rect b="b" l="l" r="r" t="t"/>
              <a:pathLst>
                <a:path extrusionOk="0" h="523" w="523">
                  <a:moveTo>
                    <a:pt x="261" y="523"/>
                  </a:moveTo>
                  <a:cubicBezTo>
                    <a:pt x="261" y="523"/>
                    <a:pt x="261" y="523"/>
                    <a:pt x="261" y="523"/>
                  </a:cubicBezTo>
                  <a:cubicBezTo>
                    <a:pt x="406" y="523"/>
                    <a:pt x="523" y="406"/>
                    <a:pt x="523" y="261"/>
                  </a:cubicBezTo>
                  <a:cubicBezTo>
                    <a:pt x="523" y="261"/>
                    <a:pt x="523" y="261"/>
                    <a:pt x="523" y="261"/>
                  </a:cubicBezTo>
                  <a:cubicBezTo>
                    <a:pt x="523" y="117"/>
                    <a:pt x="406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117" y="0"/>
                    <a:pt x="0" y="117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406"/>
                    <a:pt x="117" y="523"/>
                    <a:pt x="261" y="523"/>
                  </a:cubicBezTo>
                  <a:close/>
                </a:path>
              </a:pathLst>
            </a:custGeom>
            <a:solidFill>
              <a:srgbClr val="E6DFD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7"/>
            <p:cNvSpPr/>
            <p:nvPr/>
          </p:nvSpPr>
          <p:spPr>
            <a:xfrm>
              <a:off x="771846" y="524889"/>
              <a:ext cx="1566900" cy="1566900"/>
            </a:xfrm>
            <a:prstGeom prst="arc">
              <a:avLst>
                <a:gd fmla="val 16200000" name="adj1"/>
                <a:gd fmla="val 5338847" name="adj2"/>
              </a:avLst>
            </a:prstGeom>
            <a:noFill/>
            <a:ln cap="flat" cmpd="sng" w="9525">
              <a:solidFill>
                <a:srgbClr val="D9C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96" name="Google Shape;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4464" y="310044"/>
            <a:ext cx="59971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99ebccfe_2_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g3d999ebccfe_2_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6" name="Google Shape;106;g3d999ebccfe_2_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99ebccfe_2_10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9" name="Google Shape;109;g3d999ebccfe_2_10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g3d999ebccfe_2_1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g3d999ebccfe_2_1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g3d999ebccfe_2_1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99ebccfe_2_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g3d999ebccfe_2_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g3d999ebccfe_2_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g3d999ebccfe_2_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g3d999ebccfe_2_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99ebccfe_2_22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g3d999ebccfe_2_22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g3d999ebccfe_2_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g3d999ebccfe_2_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g3d999ebccfe_2_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999ebccfe_2_2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g3d999ebccfe_2_2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28" name="Google Shape;128;g3d999ebccfe_2_2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29" name="Google Shape;129;g3d999ebccfe_2_2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0" name="Google Shape;130;g3d999ebccfe_2_2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1" name="Google Shape;131;g3d999ebccfe_2_2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999ebccfe_2_3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4" name="Google Shape;134;g3d999ebccfe_2_35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35" name="Google Shape;135;g3d999ebccfe_2_35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36" name="Google Shape;136;g3d999ebccfe_2_35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37" name="Google Shape;137;g3d999ebccfe_2_35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38" name="Google Shape;138;g3d999ebccfe_2_3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g3d999ebccfe_2_3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0" name="Google Shape;140;g3d999ebccfe_2_3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999ebccfe_2_4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3" name="Google Shape;143;g3d999ebccfe_2_4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4" name="Google Shape;144;g3d999ebccfe_2_4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5" name="Google Shape;145;g3d999ebccfe_2_4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999ebccfe_2_49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8" name="Google Shape;148;g3d999ebccfe_2_49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49" name="Google Shape;149;g3d999ebccfe_2_49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50" name="Google Shape;150;g3d999ebccfe_2_4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g3d999ebccfe_2_4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g3d999ebccfe_2_4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99ebccfe_2_56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5" name="Google Shape;155;g3d999ebccfe_2_56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g3d999ebccfe_2_56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57" name="Google Shape;157;g3d999ebccfe_2_5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g3d999ebccfe_2_5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9" name="Google Shape;159;g3d999ebccfe_2_5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99ebccfe_2_6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2" name="Google Shape;162;g3d999ebccfe_2_6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63" name="Google Shape;163;g3d999ebccfe_2_6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4" name="Google Shape;164;g3d999ebccfe_2_6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5" name="Google Shape;165;g3d999ebccfe_2_6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999ebccfe_2_69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8" name="Google Shape;168;g3d999ebccfe_2_69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69" name="Google Shape;169;g3d999ebccfe_2_6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0" name="Google Shape;170;g3d999ebccfe_2_6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1" name="Google Shape;171;g3d999ebccfe_2_6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99ebccfe_2_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99" name="Google Shape;99;g3d999ebccfe_2_0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g3d999ebccfe_2_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g3d999ebccfe_2_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g3d999ebccfe_2_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7.png"/><Relationship Id="rId13" Type="http://schemas.openxmlformats.org/officeDocument/2006/relationships/image" Target="../media/image14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5" Type="http://schemas.openxmlformats.org/officeDocument/2006/relationships/image" Target="../media/image27.png"/><Relationship Id="rId1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10.jp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0.jp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999ebccfe_2_7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1715" r="-11715" t="0"/>
            </a:stretch>
          </a:blipFill>
          <a:ln>
            <a:noFill/>
          </a:ln>
        </p:spPr>
      </p:sp>
      <p:grpSp>
        <p:nvGrpSpPr>
          <p:cNvPr id="181" name="Google Shape;181;g3d999ebccfe_2_75"/>
          <p:cNvGrpSpPr/>
          <p:nvPr/>
        </p:nvGrpSpPr>
        <p:grpSpPr>
          <a:xfrm>
            <a:off x="973003" y="4067213"/>
            <a:ext cx="3117152" cy="408194"/>
            <a:chOff x="0" y="0"/>
            <a:chExt cx="8312404" cy="1088517"/>
          </a:xfrm>
        </p:grpSpPr>
        <p:sp>
          <p:nvSpPr>
            <p:cNvPr id="182" name="Google Shape;182;g3d999ebccfe_2_75"/>
            <p:cNvSpPr/>
            <p:nvPr/>
          </p:nvSpPr>
          <p:spPr>
            <a:xfrm>
              <a:off x="12700" y="12700"/>
              <a:ext cx="8287004" cy="1063117"/>
            </a:xfrm>
            <a:custGeom>
              <a:rect b="b" l="l" r="r" t="t"/>
              <a:pathLst>
                <a:path extrusionOk="0" h="1063117" w="8287004">
                  <a:moveTo>
                    <a:pt x="0" y="177165"/>
                  </a:moveTo>
                  <a:cubicBezTo>
                    <a:pt x="0" y="79375"/>
                    <a:pt x="80645" y="0"/>
                    <a:pt x="180213" y="0"/>
                  </a:cubicBezTo>
                  <a:lnTo>
                    <a:pt x="8106791" y="0"/>
                  </a:lnTo>
                  <a:cubicBezTo>
                    <a:pt x="8206360" y="0"/>
                    <a:pt x="8287004" y="79375"/>
                    <a:pt x="8287004" y="177165"/>
                  </a:cubicBezTo>
                  <a:lnTo>
                    <a:pt x="8287004" y="885952"/>
                  </a:lnTo>
                  <a:cubicBezTo>
                    <a:pt x="8287004" y="983869"/>
                    <a:pt x="8206360" y="1063117"/>
                    <a:pt x="8106791" y="1063117"/>
                  </a:cubicBezTo>
                  <a:lnTo>
                    <a:pt x="180213" y="1063117"/>
                  </a:lnTo>
                  <a:cubicBezTo>
                    <a:pt x="80645" y="1063117"/>
                    <a:pt x="0" y="983869"/>
                    <a:pt x="0" y="8859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d999ebccfe_2_75"/>
            <p:cNvSpPr/>
            <p:nvPr/>
          </p:nvSpPr>
          <p:spPr>
            <a:xfrm>
              <a:off x="0" y="0"/>
              <a:ext cx="8312404" cy="1088517"/>
            </a:xfrm>
            <a:custGeom>
              <a:rect b="b" l="l" r="r" t="t"/>
              <a:pathLst>
                <a:path extrusionOk="0" h="1088517" w="8312404">
                  <a:moveTo>
                    <a:pt x="0" y="189865"/>
                  </a:moveTo>
                  <a:cubicBezTo>
                    <a:pt x="0" y="84836"/>
                    <a:pt x="86614" y="0"/>
                    <a:pt x="192913" y="0"/>
                  </a:cubicBezTo>
                  <a:lnTo>
                    <a:pt x="8119491" y="0"/>
                  </a:lnTo>
                  <a:lnTo>
                    <a:pt x="8119491" y="12700"/>
                  </a:lnTo>
                  <a:lnTo>
                    <a:pt x="8119491" y="0"/>
                  </a:lnTo>
                  <a:cubicBezTo>
                    <a:pt x="8225790" y="0"/>
                    <a:pt x="8312404" y="84836"/>
                    <a:pt x="8312404" y="189865"/>
                  </a:cubicBezTo>
                  <a:lnTo>
                    <a:pt x="8299704" y="189865"/>
                  </a:lnTo>
                  <a:lnTo>
                    <a:pt x="8312404" y="189865"/>
                  </a:lnTo>
                  <a:lnTo>
                    <a:pt x="8312404" y="898652"/>
                  </a:lnTo>
                  <a:lnTo>
                    <a:pt x="8299704" y="898652"/>
                  </a:lnTo>
                  <a:lnTo>
                    <a:pt x="8312404" y="898652"/>
                  </a:lnTo>
                  <a:cubicBezTo>
                    <a:pt x="8312404" y="1003681"/>
                    <a:pt x="8225790" y="1088517"/>
                    <a:pt x="8119491" y="1088517"/>
                  </a:cubicBezTo>
                  <a:lnTo>
                    <a:pt x="8119491" y="1075817"/>
                  </a:lnTo>
                  <a:lnTo>
                    <a:pt x="8119491" y="1088517"/>
                  </a:lnTo>
                  <a:lnTo>
                    <a:pt x="192913" y="1088517"/>
                  </a:lnTo>
                  <a:lnTo>
                    <a:pt x="192913" y="1075817"/>
                  </a:lnTo>
                  <a:lnTo>
                    <a:pt x="192913" y="1088517"/>
                  </a:lnTo>
                  <a:cubicBezTo>
                    <a:pt x="86614" y="1088517"/>
                    <a:pt x="0" y="1003681"/>
                    <a:pt x="0" y="898652"/>
                  </a:cubicBezTo>
                  <a:lnTo>
                    <a:pt x="0" y="189865"/>
                  </a:lnTo>
                  <a:lnTo>
                    <a:pt x="12700" y="189865"/>
                  </a:lnTo>
                  <a:lnTo>
                    <a:pt x="0" y="189865"/>
                  </a:lnTo>
                  <a:moveTo>
                    <a:pt x="25400" y="189865"/>
                  </a:moveTo>
                  <a:lnTo>
                    <a:pt x="25400" y="898652"/>
                  </a:lnTo>
                  <a:lnTo>
                    <a:pt x="12700" y="898652"/>
                  </a:lnTo>
                  <a:lnTo>
                    <a:pt x="25400" y="898652"/>
                  </a:lnTo>
                  <a:cubicBezTo>
                    <a:pt x="25400" y="989330"/>
                    <a:pt x="100203" y="1063117"/>
                    <a:pt x="192913" y="1063117"/>
                  </a:cubicBezTo>
                  <a:lnTo>
                    <a:pt x="8119491" y="1063117"/>
                  </a:lnTo>
                  <a:cubicBezTo>
                    <a:pt x="8212201" y="1063117"/>
                    <a:pt x="8287004" y="989330"/>
                    <a:pt x="8287004" y="898652"/>
                  </a:cubicBezTo>
                  <a:lnTo>
                    <a:pt x="8287004" y="189865"/>
                  </a:lnTo>
                  <a:cubicBezTo>
                    <a:pt x="8287004" y="99187"/>
                    <a:pt x="8212201" y="25400"/>
                    <a:pt x="8119491" y="25400"/>
                  </a:cubicBezTo>
                  <a:lnTo>
                    <a:pt x="192913" y="25400"/>
                  </a:lnTo>
                  <a:lnTo>
                    <a:pt x="192913" y="12700"/>
                  </a:lnTo>
                  <a:lnTo>
                    <a:pt x="192913" y="25400"/>
                  </a:lnTo>
                  <a:cubicBezTo>
                    <a:pt x="100203" y="25400"/>
                    <a:pt x="25400" y="99187"/>
                    <a:pt x="25400" y="189865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g3d999ebccfe_2_75"/>
          <p:cNvSpPr/>
          <p:nvPr/>
        </p:nvSpPr>
        <p:spPr>
          <a:xfrm>
            <a:off x="1775636" y="4156453"/>
            <a:ext cx="1573530" cy="227886"/>
          </a:xfrm>
          <a:custGeom>
            <a:rect b="b" l="l" r="r" t="t"/>
            <a:pathLst>
              <a:path extrusionOk="0" h="607695" w="4196080">
                <a:moveTo>
                  <a:pt x="0" y="0"/>
                </a:moveTo>
                <a:lnTo>
                  <a:pt x="4196080" y="0"/>
                </a:lnTo>
                <a:lnTo>
                  <a:pt x="4196080" y="607695"/>
                </a:lnTo>
                <a:lnTo>
                  <a:pt x="0" y="607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" l="0" r="0" t="0"/>
            </a:stretch>
          </a:blipFill>
          <a:ln>
            <a:noFill/>
          </a:ln>
        </p:spPr>
      </p:sp>
      <p:sp>
        <p:nvSpPr>
          <p:cNvPr id="185" name="Google Shape;185;g3d999ebccfe_2_75"/>
          <p:cNvSpPr/>
          <p:nvPr/>
        </p:nvSpPr>
        <p:spPr>
          <a:xfrm>
            <a:off x="3461828" y="4152872"/>
            <a:ext cx="533971" cy="235077"/>
          </a:xfrm>
          <a:custGeom>
            <a:rect b="b" l="l" r="r" t="t"/>
            <a:pathLst>
              <a:path extrusionOk="0" h="626872" w="1423924">
                <a:moveTo>
                  <a:pt x="0" y="0"/>
                </a:moveTo>
                <a:lnTo>
                  <a:pt x="1423924" y="0"/>
                </a:lnTo>
                <a:lnTo>
                  <a:pt x="1423924" y="626872"/>
                </a:lnTo>
                <a:lnTo>
                  <a:pt x="0" y="626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186" name="Google Shape;186;g3d999ebccfe_2_75"/>
          <p:cNvSpPr txBox="1"/>
          <p:nvPr/>
        </p:nvSpPr>
        <p:spPr>
          <a:xfrm>
            <a:off x="976870" y="3854120"/>
            <a:ext cx="1160579" cy="15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424953"/>
                </a:solidFill>
                <a:latin typeface="Arial"/>
                <a:ea typeface="Arial"/>
                <a:cs typeface="Arial"/>
                <a:sym typeface="Arial"/>
              </a:rPr>
              <a:t>Organizer</a:t>
            </a:r>
            <a:endParaRPr sz="700"/>
          </a:p>
        </p:txBody>
      </p:sp>
      <p:grpSp>
        <p:nvGrpSpPr>
          <p:cNvPr id="187" name="Google Shape;187;g3d999ebccfe_2_75"/>
          <p:cNvGrpSpPr/>
          <p:nvPr/>
        </p:nvGrpSpPr>
        <p:grpSpPr>
          <a:xfrm>
            <a:off x="4207983" y="4067280"/>
            <a:ext cx="1944434" cy="408098"/>
            <a:chOff x="0" y="0"/>
            <a:chExt cx="5185156" cy="1088263"/>
          </a:xfrm>
        </p:grpSpPr>
        <p:sp>
          <p:nvSpPr>
            <p:cNvPr id="188" name="Google Shape;188;g3d999ebccfe_2_75"/>
            <p:cNvSpPr/>
            <p:nvPr/>
          </p:nvSpPr>
          <p:spPr>
            <a:xfrm>
              <a:off x="12700" y="12700"/>
              <a:ext cx="5159756" cy="1062863"/>
            </a:xfrm>
            <a:custGeom>
              <a:rect b="b" l="l" r="r" t="t"/>
              <a:pathLst>
                <a:path extrusionOk="0" h="1062863" w="5159756">
                  <a:moveTo>
                    <a:pt x="0" y="177165"/>
                  </a:moveTo>
                  <a:cubicBezTo>
                    <a:pt x="0" y="79375"/>
                    <a:pt x="80518" y="0"/>
                    <a:pt x="179705" y="0"/>
                  </a:cubicBezTo>
                  <a:lnTo>
                    <a:pt x="4980051" y="0"/>
                  </a:lnTo>
                  <a:cubicBezTo>
                    <a:pt x="5079365" y="0"/>
                    <a:pt x="5159756" y="79375"/>
                    <a:pt x="5159756" y="177165"/>
                  </a:cubicBezTo>
                  <a:lnTo>
                    <a:pt x="5159756" y="885698"/>
                  </a:lnTo>
                  <a:cubicBezTo>
                    <a:pt x="5159756" y="983488"/>
                    <a:pt x="5079238" y="1062863"/>
                    <a:pt x="4980051" y="1062863"/>
                  </a:cubicBezTo>
                  <a:lnTo>
                    <a:pt x="179705" y="1062863"/>
                  </a:lnTo>
                  <a:cubicBezTo>
                    <a:pt x="80518" y="1062863"/>
                    <a:pt x="0" y="983615"/>
                    <a:pt x="0" y="8856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3d999ebccfe_2_75"/>
            <p:cNvSpPr/>
            <p:nvPr/>
          </p:nvSpPr>
          <p:spPr>
            <a:xfrm>
              <a:off x="0" y="0"/>
              <a:ext cx="5185156" cy="1088263"/>
            </a:xfrm>
            <a:custGeom>
              <a:rect b="b" l="l" r="r" t="t"/>
              <a:pathLst>
                <a:path extrusionOk="0" h="1088263" w="5185156">
                  <a:moveTo>
                    <a:pt x="0" y="189865"/>
                  </a:moveTo>
                  <a:cubicBezTo>
                    <a:pt x="0" y="84836"/>
                    <a:pt x="86360" y="0"/>
                    <a:pt x="192405" y="0"/>
                  </a:cubicBezTo>
                  <a:lnTo>
                    <a:pt x="4992751" y="0"/>
                  </a:lnTo>
                  <a:lnTo>
                    <a:pt x="4992751" y="12700"/>
                  </a:lnTo>
                  <a:lnTo>
                    <a:pt x="4992751" y="0"/>
                  </a:lnTo>
                  <a:cubicBezTo>
                    <a:pt x="5098923" y="0"/>
                    <a:pt x="5185156" y="84836"/>
                    <a:pt x="5185156" y="189865"/>
                  </a:cubicBezTo>
                  <a:lnTo>
                    <a:pt x="5172456" y="189865"/>
                  </a:lnTo>
                  <a:lnTo>
                    <a:pt x="5185156" y="189865"/>
                  </a:lnTo>
                  <a:lnTo>
                    <a:pt x="5185156" y="898398"/>
                  </a:lnTo>
                  <a:lnTo>
                    <a:pt x="5172456" y="898398"/>
                  </a:lnTo>
                  <a:lnTo>
                    <a:pt x="5185156" y="898398"/>
                  </a:lnTo>
                  <a:cubicBezTo>
                    <a:pt x="5185156" y="1003427"/>
                    <a:pt x="5098796" y="1088263"/>
                    <a:pt x="4992751" y="1088263"/>
                  </a:cubicBezTo>
                  <a:lnTo>
                    <a:pt x="4992751" y="1075563"/>
                  </a:lnTo>
                  <a:lnTo>
                    <a:pt x="4992751" y="1088263"/>
                  </a:lnTo>
                  <a:lnTo>
                    <a:pt x="192405" y="1088263"/>
                  </a:lnTo>
                  <a:lnTo>
                    <a:pt x="192405" y="1075563"/>
                  </a:lnTo>
                  <a:lnTo>
                    <a:pt x="192405" y="1088263"/>
                  </a:lnTo>
                  <a:cubicBezTo>
                    <a:pt x="86360" y="1088263"/>
                    <a:pt x="0" y="1003427"/>
                    <a:pt x="0" y="898398"/>
                  </a:cubicBezTo>
                  <a:lnTo>
                    <a:pt x="0" y="189865"/>
                  </a:lnTo>
                  <a:lnTo>
                    <a:pt x="12700" y="189865"/>
                  </a:lnTo>
                  <a:lnTo>
                    <a:pt x="0" y="189865"/>
                  </a:lnTo>
                  <a:moveTo>
                    <a:pt x="25400" y="189865"/>
                  </a:moveTo>
                  <a:lnTo>
                    <a:pt x="25400" y="898398"/>
                  </a:lnTo>
                  <a:lnTo>
                    <a:pt x="12700" y="898398"/>
                  </a:lnTo>
                  <a:lnTo>
                    <a:pt x="25400" y="898398"/>
                  </a:lnTo>
                  <a:cubicBezTo>
                    <a:pt x="25400" y="989076"/>
                    <a:pt x="100076" y="1062863"/>
                    <a:pt x="192405" y="1062863"/>
                  </a:cubicBezTo>
                  <a:lnTo>
                    <a:pt x="4992751" y="1062863"/>
                  </a:lnTo>
                  <a:cubicBezTo>
                    <a:pt x="5085207" y="1062863"/>
                    <a:pt x="5159756" y="989076"/>
                    <a:pt x="5159756" y="898398"/>
                  </a:cubicBezTo>
                  <a:lnTo>
                    <a:pt x="5159756" y="189865"/>
                  </a:lnTo>
                  <a:cubicBezTo>
                    <a:pt x="5159883" y="99187"/>
                    <a:pt x="5085207" y="25400"/>
                    <a:pt x="4992751" y="25400"/>
                  </a:cubicBezTo>
                  <a:lnTo>
                    <a:pt x="192405" y="25400"/>
                  </a:lnTo>
                  <a:lnTo>
                    <a:pt x="192405" y="12700"/>
                  </a:lnTo>
                  <a:lnTo>
                    <a:pt x="192405" y="25400"/>
                  </a:lnTo>
                  <a:cubicBezTo>
                    <a:pt x="100076" y="25400"/>
                    <a:pt x="25400" y="99187"/>
                    <a:pt x="25400" y="189865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g3d999ebccfe_2_75"/>
          <p:cNvSpPr/>
          <p:nvPr/>
        </p:nvSpPr>
        <p:spPr>
          <a:xfrm>
            <a:off x="4313547" y="4131721"/>
            <a:ext cx="520226" cy="265647"/>
          </a:xfrm>
          <a:custGeom>
            <a:rect b="b" l="l" r="r" t="t"/>
            <a:pathLst>
              <a:path extrusionOk="0" h="531295" w="1040453">
                <a:moveTo>
                  <a:pt x="0" y="0"/>
                </a:moveTo>
                <a:lnTo>
                  <a:pt x="1040453" y="0"/>
                </a:lnTo>
                <a:lnTo>
                  <a:pt x="1040453" y="531295"/>
                </a:lnTo>
                <a:lnTo>
                  <a:pt x="0" y="531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g3d999ebccfe_2_75"/>
          <p:cNvSpPr txBox="1"/>
          <p:nvPr/>
        </p:nvSpPr>
        <p:spPr>
          <a:xfrm>
            <a:off x="4212398" y="3854153"/>
            <a:ext cx="1591871" cy="15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424953"/>
                </a:solidFill>
                <a:latin typeface="Arial"/>
                <a:ea typeface="Arial"/>
                <a:cs typeface="Arial"/>
                <a:sym typeface="Arial"/>
              </a:rPr>
              <a:t>Publication Partner</a:t>
            </a:r>
            <a:endParaRPr sz="700"/>
          </a:p>
        </p:txBody>
      </p:sp>
      <p:grpSp>
        <p:nvGrpSpPr>
          <p:cNvPr id="192" name="Google Shape;192;g3d999ebccfe_2_75"/>
          <p:cNvGrpSpPr/>
          <p:nvPr/>
        </p:nvGrpSpPr>
        <p:grpSpPr>
          <a:xfrm>
            <a:off x="6270860" y="4067275"/>
            <a:ext cx="1244966" cy="408098"/>
            <a:chOff x="0" y="0"/>
            <a:chExt cx="3319911" cy="1088263"/>
          </a:xfrm>
        </p:grpSpPr>
        <p:sp>
          <p:nvSpPr>
            <p:cNvPr id="193" name="Google Shape;193;g3d999ebccfe_2_75"/>
            <p:cNvSpPr/>
            <p:nvPr/>
          </p:nvSpPr>
          <p:spPr>
            <a:xfrm>
              <a:off x="7374" y="12700"/>
              <a:ext cx="3304396" cy="1062863"/>
            </a:xfrm>
            <a:custGeom>
              <a:rect b="b" l="l" r="r" t="t"/>
              <a:pathLst>
                <a:path extrusionOk="0" h="1062863" w="3304396">
                  <a:moveTo>
                    <a:pt x="0" y="177165"/>
                  </a:moveTo>
                  <a:cubicBezTo>
                    <a:pt x="0" y="79375"/>
                    <a:pt x="46750" y="0"/>
                    <a:pt x="104414" y="0"/>
                  </a:cubicBezTo>
                  <a:lnTo>
                    <a:pt x="3199981" y="0"/>
                  </a:lnTo>
                  <a:cubicBezTo>
                    <a:pt x="3257645" y="0"/>
                    <a:pt x="3304396" y="79375"/>
                    <a:pt x="3304396" y="177165"/>
                  </a:cubicBezTo>
                  <a:lnTo>
                    <a:pt x="3304396" y="885698"/>
                  </a:lnTo>
                  <a:cubicBezTo>
                    <a:pt x="3304396" y="983488"/>
                    <a:pt x="3257645" y="1062863"/>
                    <a:pt x="3199981" y="1062863"/>
                  </a:cubicBezTo>
                  <a:lnTo>
                    <a:pt x="104414" y="1062863"/>
                  </a:lnTo>
                  <a:cubicBezTo>
                    <a:pt x="46750" y="1062863"/>
                    <a:pt x="0" y="983615"/>
                    <a:pt x="0" y="8856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g3d999ebccfe_2_75"/>
            <p:cNvSpPr/>
            <p:nvPr/>
          </p:nvSpPr>
          <p:spPr>
            <a:xfrm>
              <a:off x="0" y="0"/>
              <a:ext cx="3319911" cy="1088263"/>
            </a:xfrm>
            <a:custGeom>
              <a:rect b="b" l="l" r="r" t="t"/>
              <a:pathLst>
                <a:path extrusionOk="0" h="1088263" w="3319911">
                  <a:moveTo>
                    <a:pt x="0" y="189865"/>
                  </a:moveTo>
                  <a:cubicBezTo>
                    <a:pt x="0" y="84836"/>
                    <a:pt x="50143" y="0"/>
                    <a:pt x="111788" y="0"/>
                  </a:cubicBezTo>
                  <a:lnTo>
                    <a:pt x="3207355" y="0"/>
                  </a:lnTo>
                  <a:lnTo>
                    <a:pt x="3207355" y="12700"/>
                  </a:lnTo>
                  <a:lnTo>
                    <a:pt x="3207355" y="0"/>
                  </a:lnTo>
                  <a:cubicBezTo>
                    <a:pt x="3269001" y="0"/>
                    <a:pt x="3319911" y="84836"/>
                    <a:pt x="3319911" y="189865"/>
                  </a:cubicBezTo>
                  <a:lnTo>
                    <a:pt x="3311770" y="189865"/>
                  </a:lnTo>
                  <a:lnTo>
                    <a:pt x="3319911" y="189865"/>
                  </a:lnTo>
                  <a:lnTo>
                    <a:pt x="3319911" y="898398"/>
                  </a:lnTo>
                  <a:lnTo>
                    <a:pt x="3311770" y="898398"/>
                  </a:lnTo>
                  <a:lnTo>
                    <a:pt x="3319911" y="898398"/>
                  </a:lnTo>
                  <a:cubicBezTo>
                    <a:pt x="3319911" y="1003427"/>
                    <a:pt x="3269001" y="1088263"/>
                    <a:pt x="3207355" y="1088263"/>
                  </a:cubicBezTo>
                  <a:lnTo>
                    <a:pt x="3207355" y="1075563"/>
                  </a:lnTo>
                  <a:lnTo>
                    <a:pt x="3207355" y="1088263"/>
                  </a:lnTo>
                  <a:lnTo>
                    <a:pt x="111788" y="1088263"/>
                  </a:lnTo>
                  <a:lnTo>
                    <a:pt x="111788" y="1075563"/>
                  </a:lnTo>
                  <a:lnTo>
                    <a:pt x="111788" y="1088263"/>
                  </a:lnTo>
                  <a:cubicBezTo>
                    <a:pt x="50143" y="1088263"/>
                    <a:pt x="0" y="1003427"/>
                    <a:pt x="0" y="898398"/>
                  </a:cubicBezTo>
                  <a:lnTo>
                    <a:pt x="0" y="189865"/>
                  </a:lnTo>
                  <a:lnTo>
                    <a:pt x="7374" y="189865"/>
                  </a:lnTo>
                  <a:lnTo>
                    <a:pt x="0" y="189865"/>
                  </a:lnTo>
                  <a:moveTo>
                    <a:pt x="14748" y="189865"/>
                  </a:moveTo>
                  <a:lnTo>
                    <a:pt x="14748" y="898398"/>
                  </a:lnTo>
                  <a:lnTo>
                    <a:pt x="7374" y="898398"/>
                  </a:lnTo>
                  <a:lnTo>
                    <a:pt x="14748" y="898398"/>
                  </a:lnTo>
                  <a:cubicBezTo>
                    <a:pt x="14748" y="989076"/>
                    <a:pt x="58106" y="1062863"/>
                    <a:pt x="111788" y="1062863"/>
                  </a:cubicBezTo>
                  <a:lnTo>
                    <a:pt x="3207355" y="1062863"/>
                  </a:lnTo>
                  <a:cubicBezTo>
                    <a:pt x="3261037" y="1062863"/>
                    <a:pt x="3304396" y="989076"/>
                    <a:pt x="3304396" y="898398"/>
                  </a:cubicBezTo>
                  <a:lnTo>
                    <a:pt x="3304396" y="189865"/>
                  </a:lnTo>
                  <a:cubicBezTo>
                    <a:pt x="3304396" y="99187"/>
                    <a:pt x="3261037" y="25400"/>
                    <a:pt x="3207355" y="25400"/>
                  </a:cubicBezTo>
                  <a:lnTo>
                    <a:pt x="111788" y="25400"/>
                  </a:lnTo>
                  <a:lnTo>
                    <a:pt x="111788" y="12700"/>
                  </a:lnTo>
                  <a:lnTo>
                    <a:pt x="111788" y="25400"/>
                  </a:lnTo>
                  <a:cubicBezTo>
                    <a:pt x="58106" y="25400"/>
                    <a:pt x="14748" y="99187"/>
                    <a:pt x="14748" y="189865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g3d999ebccfe_2_75"/>
          <p:cNvSpPr txBox="1"/>
          <p:nvPr/>
        </p:nvSpPr>
        <p:spPr>
          <a:xfrm>
            <a:off x="6275284" y="3854144"/>
            <a:ext cx="1160583" cy="15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424953"/>
                </a:solidFill>
                <a:latin typeface="Arial"/>
                <a:ea typeface="Arial"/>
                <a:cs typeface="Arial"/>
                <a:sym typeface="Arial"/>
              </a:rPr>
              <a:t>Support Partner</a:t>
            </a:r>
            <a:endParaRPr sz="700"/>
          </a:p>
        </p:txBody>
      </p:sp>
      <p:sp>
        <p:nvSpPr>
          <p:cNvPr id="196" name="Google Shape;196;g3d999ebccfe_2_75"/>
          <p:cNvSpPr/>
          <p:nvPr/>
        </p:nvSpPr>
        <p:spPr>
          <a:xfrm>
            <a:off x="973003" y="588855"/>
            <a:ext cx="7111779" cy="503459"/>
          </a:xfrm>
          <a:custGeom>
            <a:rect b="b" l="l" r="r" t="t"/>
            <a:pathLst>
              <a:path extrusionOk="0" h="1342557" w="18964745">
                <a:moveTo>
                  <a:pt x="0" y="238568"/>
                </a:moveTo>
                <a:cubicBezTo>
                  <a:pt x="0" y="106212"/>
                  <a:pt x="79878" y="0"/>
                  <a:pt x="177083" y="0"/>
                </a:cubicBezTo>
                <a:lnTo>
                  <a:pt x="18787663" y="0"/>
                </a:lnTo>
                <a:lnTo>
                  <a:pt x="18787663" y="22264"/>
                </a:lnTo>
                <a:lnTo>
                  <a:pt x="18787663" y="0"/>
                </a:lnTo>
                <a:cubicBezTo>
                  <a:pt x="18884866" y="0"/>
                  <a:pt x="18964745" y="106212"/>
                  <a:pt x="18964745" y="238568"/>
                </a:cubicBezTo>
                <a:lnTo>
                  <a:pt x="18948740" y="238568"/>
                </a:lnTo>
                <a:lnTo>
                  <a:pt x="18964745" y="238568"/>
                </a:lnTo>
                <a:lnTo>
                  <a:pt x="18964745" y="1103989"/>
                </a:lnTo>
                <a:lnTo>
                  <a:pt x="18948740" y="1103989"/>
                </a:lnTo>
                <a:lnTo>
                  <a:pt x="18964745" y="1103989"/>
                </a:lnTo>
                <a:cubicBezTo>
                  <a:pt x="18964745" y="1236549"/>
                  <a:pt x="18884866" y="1342557"/>
                  <a:pt x="18787663" y="1342557"/>
                </a:cubicBezTo>
                <a:lnTo>
                  <a:pt x="18787663" y="1320293"/>
                </a:lnTo>
                <a:lnTo>
                  <a:pt x="18787663" y="1342557"/>
                </a:lnTo>
                <a:lnTo>
                  <a:pt x="177083" y="1342557"/>
                </a:lnTo>
                <a:lnTo>
                  <a:pt x="177083" y="1320293"/>
                </a:lnTo>
                <a:lnTo>
                  <a:pt x="177083" y="1342557"/>
                </a:lnTo>
                <a:cubicBezTo>
                  <a:pt x="79878" y="1342557"/>
                  <a:pt x="0" y="1236549"/>
                  <a:pt x="0" y="1103989"/>
                </a:cubicBezTo>
                <a:lnTo>
                  <a:pt x="0" y="238568"/>
                </a:lnTo>
                <a:lnTo>
                  <a:pt x="16005" y="238568"/>
                </a:lnTo>
                <a:lnTo>
                  <a:pt x="0" y="238568"/>
                </a:lnTo>
                <a:moveTo>
                  <a:pt x="32010" y="238568"/>
                </a:moveTo>
                <a:lnTo>
                  <a:pt x="32010" y="1103989"/>
                </a:lnTo>
                <a:lnTo>
                  <a:pt x="16005" y="1103989"/>
                </a:lnTo>
                <a:lnTo>
                  <a:pt x="32010" y="1103989"/>
                </a:lnTo>
                <a:cubicBezTo>
                  <a:pt x="32010" y="1210405"/>
                  <a:pt x="96470" y="1298029"/>
                  <a:pt x="177083" y="1298029"/>
                </a:cubicBezTo>
                <a:lnTo>
                  <a:pt x="18787663" y="1298029"/>
                </a:lnTo>
                <a:cubicBezTo>
                  <a:pt x="18868275" y="1298029"/>
                  <a:pt x="18932734" y="1210405"/>
                  <a:pt x="18932734" y="1103989"/>
                </a:cubicBezTo>
                <a:lnTo>
                  <a:pt x="18932734" y="238568"/>
                </a:lnTo>
                <a:cubicBezTo>
                  <a:pt x="18932734" y="132152"/>
                  <a:pt x="18868275" y="44527"/>
                  <a:pt x="18787663" y="44527"/>
                </a:cubicBezTo>
                <a:lnTo>
                  <a:pt x="177083" y="44527"/>
                </a:lnTo>
                <a:lnTo>
                  <a:pt x="177083" y="22264"/>
                </a:lnTo>
                <a:lnTo>
                  <a:pt x="177083" y="44527"/>
                </a:lnTo>
                <a:cubicBezTo>
                  <a:pt x="96470" y="44527"/>
                  <a:pt x="32010" y="132152"/>
                  <a:pt x="32010" y="238568"/>
                </a:cubicBezTo>
                <a:close/>
              </a:path>
            </a:pathLst>
          </a:custGeom>
          <a:solidFill>
            <a:srgbClr val="A295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999ebccfe_2_75"/>
          <p:cNvSpPr txBox="1"/>
          <p:nvPr/>
        </p:nvSpPr>
        <p:spPr>
          <a:xfrm>
            <a:off x="998215" y="1393646"/>
            <a:ext cx="1301101" cy="21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Paper Title: </a:t>
            </a:r>
            <a:endParaRPr sz="700"/>
          </a:p>
        </p:txBody>
      </p:sp>
      <p:grpSp>
        <p:nvGrpSpPr>
          <p:cNvPr id="198" name="Google Shape;198;g3d999ebccfe_2_75"/>
          <p:cNvGrpSpPr/>
          <p:nvPr/>
        </p:nvGrpSpPr>
        <p:grpSpPr>
          <a:xfrm>
            <a:off x="998225" y="1212923"/>
            <a:ext cx="973200" cy="122401"/>
            <a:chOff x="0" y="0"/>
            <a:chExt cx="2595200" cy="326403"/>
          </a:xfrm>
        </p:grpSpPr>
        <p:sp>
          <p:nvSpPr>
            <p:cNvPr id="199" name="Google Shape;199;g3d999ebccfe_2_75"/>
            <p:cNvSpPr/>
            <p:nvPr/>
          </p:nvSpPr>
          <p:spPr>
            <a:xfrm>
              <a:off x="0" y="0"/>
              <a:ext cx="2595200" cy="326400"/>
            </a:xfrm>
            <a:custGeom>
              <a:rect b="b" l="l" r="r" t="t"/>
              <a:pathLst>
                <a:path extrusionOk="0" h="326400" w="2595200">
                  <a:moveTo>
                    <a:pt x="0" y="0"/>
                  </a:moveTo>
                  <a:lnTo>
                    <a:pt x="2595200" y="0"/>
                  </a:lnTo>
                  <a:lnTo>
                    <a:pt x="2595200" y="326400"/>
                  </a:lnTo>
                  <a:lnTo>
                    <a:pt x="0" y="3264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4923" l="0" r="0" t="-104923"/>
              </a:stretch>
            </a:blipFill>
            <a:ln>
              <a:noFill/>
            </a:ln>
          </p:spPr>
        </p:sp>
        <p:sp>
          <p:nvSpPr>
            <p:cNvPr id="200" name="Google Shape;200;g3d999ebccfe_2_75"/>
            <p:cNvSpPr txBox="1"/>
            <p:nvPr/>
          </p:nvSpPr>
          <p:spPr>
            <a:xfrm>
              <a:off x="0" y="0"/>
              <a:ext cx="2595194" cy="326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rgbClr val="424953"/>
                  </a:solidFill>
                  <a:latin typeface="Fira Code"/>
                  <a:ea typeface="Fira Code"/>
                  <a:cs typeface="Fira Code"/>
                  <a:sym typeface="Fira Code"/>
                </a:rPr>
                <a:t>Paper ID:</a:t>
              </a:r>
              <a:endParaRPr sz="700"/>
            </a:p>
          </p:txBody>
        </p:sp>
      </p:grpSp>
      <p:sp>
        <p:nvSpPr>
          <p:cNvPr id="201" name="Google Shape;201;g3d999ebccfe_2_75"/>
          <p:cNvSpPr txBox="1"/>
          <p:nvPr/>
        </p:nvSpPr>
        <p:spPr>
          <a:xfrm>
            <a:off x="976899" y="3183527"/>
            <a:ext cx="592198" cy="21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Date:</a:t>
            </a:r>
            <a:endParaRPr sz="700"/>
          </a:p>
        </p:txBody>
      </p:sp>
      <p:sp>
        <p:nvSpPr>
          <p:cNvPr id="202" name="Google Shape;202;g3d999ebccfe_2_75"/>
          <p:cNvSpPr/>
          <p:nvPr/>
        </p:nvSpPr>
        <p:spPr>
          <a:xfrm>
            <a:off x="375947" y="272048"/>
            <a:ext cx="8395426" cy="221099"/>
          </a:xfrm>
          <a:custGeom>
            <a:rect b="b" l="l" r="r" t="t"/>
            <a:pathLst>
              <a:path extrusionOk="0" h="442198" w="16790851">
                <a:moveTo>
                  <a:pt x="0" y="0"/>
                </a:moveTo>
                <a:lnTo>
                  <a:pt x="16790851" y="0"/>
                </a:lnTo>
                <a:lnTo>
                  <a:pt x="16790851" y="442198"/>
                </a:lnTo>
                <a:lnTo>
                  <a:pt x="0" y="442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g3d999ebccfe_2_75"/>
          <p:cNvGrpSpPr/>
          <p:nvPr/>
        </p:nvGrpSpPr>
        <p:grpSpPr>
          <a:xfrm>
            <a:off x="1971428" y="1212923"/>
            <a:ext cx="1575902" cy="122401"/>
            <a:chOff x="0" y="0"/>
            <a:chExt cx="4202405" cy="326403"/>
          </a:xfrm>
        </p:grpSpPr>
        <p:sp>
          <p:nvSpPr>
            <p:cNvPr id="204" name="Google Shape;204;g3d999ebccfe_2_75"/>
            <p:cNvSpPr/>
            <p:nvPr/>
          </p:nvSpPr>
          <p:spPr>
            <a:xfrm>
              <a:off x="0" y="0"/>
              <a:ext cx="4202400" cy="326400"/>
            </a:xfrm>
            <a:custGeom>
              <a:rect b="b" l="l" r="r" t="t"/>
              <a:pathLst>
                <a:path extrusionOk="0" h="326400" w="4202400">
                  <a:moveTo>
                    <a:pt x="0" y="0"/>
                  </a:moveTo>
                  <a:lnTo>
                    <a:pt x="4202400" y="0"/>
                  </a:lnTo>
                  <a:lnTo>
                    <a:pt x="4202400" y="326400"/>
                  </a:lnTo>
                  <a:lnTo>
                    <a:pt x="0" y="3264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00878" l="0" r="0" t="-200878"/>
              </a:stretch>
            </a:blipFill>
            <a:ln>
              <a:noFill/>
            </a:ln>
          </p:spPr>
        </p:sp>
        <p:sp>
          <p:nvSpPr>
            <p:cNvPr id="205" name="Google Shape;205;g3d999ebccfe_2_75"/>
            <p:cNvSpPr txBox="1"/>
            <p:nvPr/>
          </p:nvSpPr>
          <p:spPr>
            <a:xfrm>
              <a:off x="0" y="0"/>
              <a:ext cx="4202405" cy="326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>
                  <a:solidFill>
                    <a:srgbClr val="424953"/>
                  </a:solidFill>
                  <a:latin typeface="Fira Code"/>
                  <a:ea typeface="Fira Code"/>
                  <a:cs typeface="Fira Code"/>
                  <a:sym typeface="Fira Code"/>
                </a:rPr>
                <a:t>571</a:t>
              </a:r>
              <a:endParaRPr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206" name="Google Shape;206;g3d999ebccfe_2_75"/>
          <p:cNvSpPr txBox="1"/>
          <p:nvPr/>
        </p:nvSpPr>
        <p:spPr>
          <a:xfrm>
            <a:off x="1012565" y="579329"/>
            <a:ext cx="7073341" cy="466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424953"/>
                </a:solidFill>
                <a:latin typeface="Times"/>
                <a:ea typeface="Times"/>
                <a:cs typeface="Times"/>
                <a:sym typeface="Times"/>
              </a:rPr>
              <a:t>International Conference on Electrical, Computer and Communication Technologies (ECCT 2026)</a:t>
            </a:r>
            <a:endParaRPr sz="700"/>
          </a:p>
        </p:txBody>
      </p:sp>
      <p:sp>
        <p:nvSpPr>
          <p:cNvPr id="207" name="Google Shape;207;g3d999ebccfe_2_75"/>
          <p:cNvSpPr txBox="1"/>
          <p:nvPr/>
        </p:nvSpPr>
        <p:spPr>
          <a:xfrm>
            <a:off x="976899" y="2750325"/>
            <a:ext cx="1847103" cy="39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Presenter:</a:t>
            </a:r>
            <a:endParaRPr sz="700"/>
          </a:p>
        </p:txBody>
      </p:sp>
      <p:sp>
        <p:nvSpPr>
          <p:cNvPr id="208" name="Google Shape;208;g3d999ebccfe_2_75"/>
          <p:cNvSpPr txBox="1"/>
          <p:nvPr/>
        </p:nvSpPr>
        <p:spPr>
          <a:xfrm>
            <a:off x="1000125" y="1616774"/>
            <a:ext cx="731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rgbClr val="1C4587"/>
                </a:solidFill>
                <a:latin typeface="Fira Code"/>
                <a:ea typeface="Fira Code"/>
                <a:cs typeface="Fira Code"/>
                <a:sym typeface="Fira Code"/>
              </a:rPr>
              <a:t>Impact of Social Media Usage on Academic</a:t>
            </a:r>
            <a:endParaRPr b="1" sz="2100">
              <a:solidFill>
                <a:srgbClr val="1C4587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rgbClr val="1C4587"/>
                </a:solidFill>
                <a:latin typeface="Fira Code"/>
                <a:ea typeface="Fira Code"/>
                <a:cs typeface="Fira Code"/>
                <a:sym typeface="Fira Code"/>
              </a:rPr>
              <a:t>Performance: A Hybrid Machine Learning and</a:t>
            </a:r>
            <a:endParaRPr b="1" sz="2100">
              <a:solidFill>
                <a:srgbClr val="1C4587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100">
                <a:solidFill>
                  <a:srgbClr val="1C4587"/>
                </a:solidFill>
                <a:latin typeface="Fira Code"/>
                <a:ea typeface="Fira Code"/>
                <a:cs typeface="Fira Code"/>
                <a:sym typeface="Fira Code"/>
              </a:rPr>
              <a:t>SEM Approach</a:t>
            </a:r>
            <a:endParaRPr b="1" sz="2100">
              <a:solidFill>
                <a:srgbClr val="1C4587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g3d999ebccfe_2_75"/>
          <p:cNvSpPr txBox="1"/>
          <p:nvPr/>
        </p:nvSpPr>
        <p:spPr>
          <a:xfrm>
            <a:off x="1569101" y="3183527"/>
            <a:ext cx="1633199" cy="21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GB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b="0" i="0" lang="en-GB" sz="1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/05/2026</a:t>
            </a:r>
            <a:endParaRPr sz="700"/>
          </a:p>
        </p:txBody>
      </p:sp>
      <p:sp>
        <p:nvSpPr>
          <p:cNvPr id="210" name="Google Shape;210;g3d999ebccfe_2_75"/>
          <p:cNvSpPr txBox="1"/>
          <p:nvPr/>
        </p:nvSpPr>
        <p:spPr>
          <a:xfrm>
            <a:off x="2872478" y="2768399"/>
            <a:ext cx="4296299" cy="39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424953"/>
                </a:solidFill>
                <a:latin typeface="Fira Code"/>
                <a:ea typeface="Fira Code"/>
                <a:cs typeface="Fira Code"/>
                <a:sym typeface="Fira Code"/>
              </a:rPr>
              <a:t>Md. Mehedi Hasan</a:t>
            </a:r>
            <a:endParaRPr sz="700"/>
          </a:p>
        </p:txBody>
      </p:sp>
      <p:sp>
        <p:nvSpPr>
          <p:cNvPr id="211" name="Google Shape;211;g3d999ebccfe_2_75"/>
          <p:cNvSpPr/>
          <p:nvPr/>
        </p:nvSpPr>
        <p:spPr>
          <a:xfrm>
            <a:off x="5058499" y="4156453"/>
            <a:ext cx="967151" cy="244526"/>
          </a:xfrm>
          <a:custGeom>
            <a:rect b="b" l="l" r="r" t="t"/>
            <a:pathLst>
              <a:path extrusionOk="0" h="489052" w="1934302">
                <a:moveTo>
                  <a:pt x="0" y="0"/>
                </a:moveTo>
                <a:lnTo>
                  <a:pt x="1934303" y="0"/>
                </a:lnTo>
                <a:lnTo>
                  <a:pt x="1934303" y="489051"/>
                </a:lnTo>
                <a:lnTo>
                  <a:pt x="0" y="489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g3d999ebccfe_2_75"/>
          <p:cNvSpPr/>
          <p:nvPr/>
        </p:nvSpPr>
        <p:spPr>
          <a:xfrm>
            <a:off x="6375606" y="4156453"/>
            <a:ext cx="534086" cy="254014"/>
          </a:xfrm>
          <a:custGeom>
            <a:rect b="b" l="l" r="r" t="t"/>
            <a:pathLst>
              <a:path extrusionOk="0" h="508028" w="1068172">
                <a:moveTo>
                  <a:pt x="0" y="0"/>
                </a:moveTo>
                <a:lnTo>
                  <a:pt x="1068171" y="0"/>
                </a:lnTo>
                <a:lnTo>
                  <a:pt x="1068171" y="508027"/>
                </a:lnTo>
                <a:lnTo>
                  <a:pt x="0" y="508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3d999ebccfe_2_75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g3d999ebccfe_2_75"/>
          <p:cNvSpPr/>
          <p:nvPr/>
        </p:nvSpPr>
        <p:spPr>
          <a:xfrm>
            <a:off x="8670551" y="3438954"/>
            <a:ext cx="869323" cy="869323"/>
          </a:xfrm>
          <a:custGeom>
            <a:rect b="b" l="l" r="r" t="t"/>
            <a:pathLst>
              <a:path extrusionOk="0" h="1738646" w="1738646">
                <a:moveTo>
                  <a:pt x="0" y="0"/>
                </a:moveTo>
                <a:lnTo>
                  <a:pt x="1738646" y="0"/>
                </a:lnTo>
                <a:lnTo>
                  <a:pt x="1738646" y="1738646"/>
                </a:lnTo>
                <a:lnTo>
                  <a:pt x="0" y="1738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g3d999ebccfe_2_75"/>
          <p:cNvSpPr/>
          <p:nvPr/>
        </p:nvSpPr>
        <p:spPr>
          <a:xfrm>
            <a:off x="-380223" y="3146564"/>
            <a:ext cx="719166" cy="719166"/>
          </a:xfrm>
          <a:custGeom>
            <a:rect b="b" l="l" r="r" t="t"/>
            <a:pathLst>
              <a:path extrusionOk="0" h="1438332" w="1438332">
                <a:moveTo>
                  <a:pt x="0" y="0"/>
                </a:moveTo>
                <a:lnTo>
                  <a:pt x="1438332" y="0"/>
                </a:lnTo>
                <a:lnTo>
                  <a:pt x="1438332" y="1438333"/>
                </a:lnTo>
                <a:lnTo>
                  <a:pt x="0" y="1438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g3d999ebccfe_2_75"/>
          <p:cNvSpPr/>
          <p:nvPr/>
        </p:nvSpPr>
        <p:spPr>
          <a:xfrm>
            <a:off x="1076867" y="4124418"/>
            <a:ext cx="579707" cy="280255"/>
          </a:xfrm>
          <a:custGeom>
            <a:rect b="b" l="l" r="r" t="t"/>
            <a:pathLst>
              <a:path extrusionOk="0" h="560510" w="1159413">
                <a:moveTo>
                  <a:pt x="0" y="0"/>
                </a:moveTo>
                <a:lnTo>
                  <a:pt x="1159413" y="0"/>
                </a:lnTo>
                <a:lnTo>
                  <a:pt x="1159413" y="560510"/>
                </a:lnTo>
                <a:lnTo>
                  <a:pt x="0" y="560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7" name="Google Shape;217;g3d999ebccfe_2_75" title="ECCT 26 logo.png"/>
          <p:cNvPicPr preferRelativeResize="0"/>
          <p:nvPr/>
        </p:nvPicPr>
        <p:blipFill rotWithShape="1">
          <a:blip r:embed="rId15">
            <a:alphaModFix/>
          </a:blip>
          <a:srcRect b="22650" l="0" r="0" t="22601"/>
          <a:stretch/>
        </p:blipFill>
        <p:spPr>
          <a:xfrm>
            <a:off x="7965750" y="5591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E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999ebccfe_2_121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227" name="Google Shape;227;g3d999ebccfe_2_121"/>
          <p:cNvGrpSpPr/>
          <p:nvPr/>
        </p:nvGrpSpPr>
        <p:grpSpPr>
          <a:xfrm>
            <a:off x="264733" y="4531676"/>
            <a:ext cx="4416975" cy="480203"/>
            <a:chOff x="0" y="0"/>
            <a:chExt cx="11778601" cy="1280541"/>
          </a:xfrm>
        </p:grpSpPr>
        <p:sp>
          <p:nvSpPr>
            <p:cNvPr id="228" name="Google Shape;228;g3d999ebccfe_2_121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g3d999ebccfe_2_121"/>
            <p:cNvSpPr txBox="1"/>
            <p:nvPr/>
          </p:nvSpPr>
          <p:spPr>
            <a:xfrm>
              <a:off x="239432" y="62403"/>
              <a:ext cx="11539169" cy="1136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grpSp>
        <p:nvGrpSpPr>
          <p:cNvPr id="230" name="Google Shape;230;g3d999ebccfe_2_121"/>
          <p:cNvGrpSpPr/>
          <p:nvPr/>
        </p:nvGrpSpPr>
        <p:grpSpPr>
          <a:xfrm>
            <a:off x="4888049" y="4531676"/>
            <a:ext cx="3888058" cy="507111"/>
            <a:chOff x="0" y="0"/>
            <a:chExt cx="10368153" cy="1352296"/>
          </a:xfrm>
        </p:grpSpPr>
        <p:sp>
          <p:nvSpPr>
            <p:cNvPr id="231" name="Google Shape;231;g3d999ebccfe_2_121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g3d999ebccfe_2_121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g3d999ebccfe_2_121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234" name="Google Shape;234;g3d999ebccfe_2_121"/>
          <p:cNvSpPr/>
          <p:nvPr/>
        </p:nvSpPr>
        <p:spPr>
          <a:xfrm>
            <a:off x="5889822" y="4643085"/>
            <a:ext cx="1963865" cy="284416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" l="0" r="0" t="0"/>
            </a:stretch>
          </a:blipFill>
          <a:ln>
            <a:noFill/>
          </a:ln>
        </p:spPr>
      </p:sp>
      <p:sp>
        <p:nvSpPr>
          <p:cNvPr id="235" name="Google Shape;235;g3d999ebccfe_2_121"/>
          <p:cNvSpPr/>
          <p:nvPr/>
        </p:nvSpPr>
        <p:spPr>
          <a:xfrm>
            <a:off x="7994290" y="4638613"/>
            <a:ext cx="666416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" l="0" r="0" t="0"/>
            </a:stretch>
          </a:blipFill>
          <a:ln>
            <a:noFill/>
          </a:ln>
        </p:spPr>
      </p:sp>
      <p:sp>
        <p:nvSpPr>
          <p:cNvPr id="236" name="Google Shape;236;g3d999ebccfe_2_121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g3d999ebccfe_2_121"/>
          <p:cNvSpPr/>
          <p:nvPr/>
        </p:nvSpPr>
        <p:spPr>
          <a:xfrm rot="2456700">
            <a:off x="8587607" y="4073306"/>
            <a:ext cx="148543" cy="144161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238" name="Google Shape;238;g3d999ebccfe_2_121"/>
          <p:cNvSpPr txBox="1"/>
          <p:nvPr/>
        </p:nvSpPr>
        <p:spPr>
          <a:xfrm>
            <a:off x="585673" y="471688"/>
            <a:ext cx="7785673" cy="500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</a:t>
            </a:r>
            <a:endParaRPr sz="700"/>
          </a:p>
        </p:txBody>
      </p:sp>
      <p:sp>
        <p:nvSpPr>
          <p:cNvPr id="239" name="Google Shape;239;g3d999ebccfe_2_121"/>
          <p:cNvSpPr txBox="1"/>
          <p:nvPr/>
        </p:nvSpPr>
        <p:spPr>
          <a:xfrm>
            <a:off x="585673" y="1149411"/>
            <a:ext cx="84291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Md. Alnoman 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Robin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Mrida,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CSE, Dhaka International University.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Mehedi Hasan, 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CSE, Dhaka International University.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Nabil Ausaf</a:t>
            </a:r>
            <a:r>
              <a:rPr i="1" lang="en-GB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CSE, Dhaka International University.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Paritosh Chandra Ray</a:t>
            </a:r>
            <a:r>
              <a:rPr i="1" lang="en-GB" sz="13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CSE, Dhaka International University.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Hasan Al Monsur, </a:t>
            </a:r>
            <a:r>
              <a:rPr i="1" lang="en-GB" sz="1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Director, IS Audit &amp; IT Advisory Services, ACNABIN Chartered Accountants.</a:t>
            </a:r>
            <a:endParaRPr i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Abdul Based, </a:t>
            </a:r>
            <a:r>
              <a:rPr i="1" lang="en-GB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CSE, Dhaka International University.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25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0" name="Google Shape;240;g3d999ebccfe_2_121"/>
          <p:cNvGrpSpPr/>
          <p:nvPr/>
        </p:nvGrpSpPr>
        <p:grpSpPr>
          <a:xfrm>
            <a:off x="8472459" y="4659644"/>
            <a:ext cx="548702" cy="397173"/>
            <a:chOff x="0" y="-9525"/>
            <a:chExt cx="1463205" cy="1059129"/>
          </a:xfrm>
        </p:grpSpPr>
        <p:sp>
          <p:nvSpPr>
            <p:cNvPr id="241" name="Google Shape;241;g3d999ebccfe_2_121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37" r="-42037" t="0"/>
              </a:stretch>
            </a:blipFill>
            <a:ln>
              <a:noFill/>
            </a:ln>
          </p:spPr>
        </p:sp>
        <p:sp>
          <p:nvSpPr>
            <p:cNvPr id="242" name="Google Shape;242;g3d999ebccfe_2_121"/>
            <p:cNvSpPr txBox="1"/>
            <p:nvPr/>
          </p:nvSpPr>
          <p:spPr>
            <a:xfrm>
              <a:off x="0" y="-9525"/>
              <a:ext cx="1463205" cy="1059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</a:rPr>
                <a:t>02</a:t>
              </a:r>
              <a:endParaRPr sz="700"/>
            </a:p>
          </p:txBody>
        </p:sp>
      </p:grpSp>
      <p:pic>
        <p:nvPicPr>
          <p:cNvPr id="243" name="Google Shape;243;g3d999ebccfe_2_121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E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999ebccfe_2_146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253" name="Google Shape;253;g3d999ebccfe_2_146"/>
          <p:cNvGrpSpPr/>
          <p:nvPr/>
        </p:nvGrpSpPr>
        <p:grpSpPr>
          <a:xfrm>
            <a:off x="4888049" y="4531676"/>
            <a:ext cx="3888058" cy="507111"/>
            <a:chOff x="0" y="0"/>
            <a:chExt cx="10368153" cy="1352296"/>
          </a:xfrm>
        </p:grpSpPr>
        <p:sp>
          <p:nvSpPr>
            <p:cNvPr id="254" name="Google Shape;254;g3d999ebccfe_2_146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g3d999ebccfe_2_146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" name="Google Shape;256;g3d999ebccfe_2_146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257" name="Google Shape;257;g3d999ebccfe_2_146"/>
          <p:cNvSpPr/>
          <p:nvPr/>
        </p:nvSpPr>
        <p:spPr>
          <a:xfrm>
            <a:off x="5889822" y="4643085"/>
            <a:ext cx="1963865" cy="284416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" l="0" r="0" t="0"/>
            </a:stretch>
          </a:blipFill>
          <a:ln>
            <a:noFill/>
          </a:ln>
        </p:spPr>
      </p:sp>
      <p:sp>
        <p:nvSpPr>
          <p:cNvPr id="258" name="Google Shape;258;g3d999ebccfe_2_146"/>
          <p:cNvSpPr/>
          <p:nvPr/>
        </p:nvSpPr>
        <p:spPr>
          <a:xfrm>
            <a:off x="7994290" y="4638613"/>
            <a:ext cx="666416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" l="0" r="0" t="0"/>
            </a:stretch>
          </a:blipFill>
          <a:ln>
            <a:noFill/>
          </a:ln>
        </p:spPr>
      </p:sp>
      <p:sp>
        <p:nvSpPr>
          <p:cNvPr id="259" name="Google Shape;259;g3d999ebccfe_2_146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g3d999ebccfe_2_146"/>
          <p:cNvSpPr/>
          <p:nvPr/>
        </p:nvSpPr>
        <p:spPr>
          <a:xfrm rot="2456700">
            <a:off x="8587607" y="4073306"/>
            <a:ext cx="148543" cy="144161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261" name="Google Shape;261;g3d999ebccfe_2_146"/>
          <p:cNvSpPr txBox="1"/>
          <p:nvPr/>
        </p:nvSpPr>
        <p:spPr>
          <a:xfrm>
            <a:off x="357411" y="471688"/>
            <a:ext cx="7785673" cy="500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700"/>
          </a:p>
        </p:txBody>
      </p:sp>
      <p:sp>
        <p:nvSpPr>
          <p:cNvPr id="262" name="Google Shape;262;g3d999ebccfe_2_146"/>
          <p:cNvSpPr txBox="1"/>
          <p:nvPr/>
        </p:nvSpPr>
        <p:spPr>
          <a:xfrm>
            <a:off x="357461" y="876215"/>
            <a:ext cx="84291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Outcomes &amp; Impacts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Directions</a:t>
            </a:r>
            <a:endParaRPr sz="700"/>
          </a:p>
          <a:p>
            <a:pPr indent="-254000" lvl="1" marL="5080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700"/>
          </a:p>
          <a:p>
            <a:pPr indent="0" lvl="0" marL="914400" marR="0" rtl="0" algn="l">
              <a:lnSpc>
                <a:spcPct val="11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63500" lvl="1" marL="139700" marR="0" rtl="0" algn="l">
              <a:lnSpc>
                <a:spcPct val="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0" lvl="1" marL="139700" marR="0" rtl="0" algn="l">
              <a:lnSpc>
                <a:spcPct val="31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0" lvl="1" marL="139700" marR="0" rtl="0" algn="l">
              <a:lnSpc>
                <a:spcPct val="31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3" name="Google Shape;263;g3d999ebccfe_2_146"/>
          <p:cNvGrpSpPr/>
          <p:nvPr/>
        </p:nvGrpSpPr>
        <p:grpSpPr>
          <a:xfrm>
            <a:off x="8472459" y="4656072"/>
            <a:ext cx="548702" cy="400745"/>
            <a:chOff x="0" y="-19050"/>
            <a:chExt cx="1463205" cy="1068654"/>
          </a:xfrm>
        </p:grpSpPr>
        <p:sp>
          <p:nvSpPr>
            <p:cNvPr id="264" name="Google Shape;264;g3d999ebccfe_2_146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37" r="-42037" t="0"/>
              </a:stretch>
            </a:blipFill>
            <a:ln>
              <a:noFill/>
            </a:ln>
          </p:spPr>
        </p:sp>
        <p:sp>
          <p:nvSpPr>
            <p:cNvPr id="265" name="Google Shape;265;g3d999ebccfe_2_146"/>
            <p:cNvSpPr txBox="1"/>
            <p:nvPr/>
          </p:nvSpPr>
          <p:spPr>
            <a:xfrm>
              <a:off x="0" y="-19050"/>
              <a:ext cx="1463205" cy="1068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</a:t>
              </a:r>
              <a:endParaRPr sz="700"/>
            </a:p>
          </p:txBody>
        </p:sp>
      </p:grpSp>
      <p:grpSp>
        <p:nvGrpSpPr>
          <p:cNvPr id="266" name="Google Shape;266;g3d999ebccfe_2_146"/>
          <p:cNvGrpSpPr/>
          <p:nvPr/>
        </p:nvGrpSpPr>
        <p:grpSpPr>
          <a:xfrm>
            <a:off x="264733" y="4531676"/>
            <a:ext cx="4416975" cy="480203"/>
            <a:chOff x="0" y="0"/>
            <a:chExt cx="11778601" cy="1280541"/>
          </a:xfrm>
        </p:grpSpPr>
        <p:sp>
          <p:nvSpPr>
            <p:cNvPr id="267" name="Google Shape;267;g3d999ebccfe_2_146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g3d999ebccfe_2_146"/>
            <p:cNvSpPr txBox="1"/>
            <p:nvPr/>
          </p:nvSpPr>
          <p:spPr>
            <a:xfrm>
              <a:off x="239432" y="62403"/>
              <a:ext cx="11539169" cy="1136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269" name="Google Shape;269;g3d999ebccfe_2_146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E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999ebccfe_2_171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279" name="Google Shape;279;g3d999ebccfe_2_171"/>
          <p:cNvGrpSpPr/>
          <p:nvPr/>
        </p:nvGrpSpPr>
        <p:grpSpPr>
          <a:xfrm>
            <a:off x="4888049" y="4531676"/>
            <a:ext cx="3888058" cy="507111"/>
            <a:chOff x="0" y="0"/>
            <a:chExt cx="10368153" cy="1352296"/>
          </a:xfrm>
        </p:grpSpPr>
        <p:sp>
          <p:nvSpPr>
            <p:cNvPr id="280" name="Google Shape;280;g3d999ebccfe_2_171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g3d999ebccfe_2_171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g3d999ebccfe_2_171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283" name="Google Shape;283;g3d999ebccfe_2_171"/>
          <p:cNvSpPr/>
          <p:nvPr/>
        </p:nvSpPr>
        <p:spPr>
          <a:xfrm>
            <a:off x="5889822" y="4643085"/>
            <a:ext cx="1963865" cy="284416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" l="0" r="0" t="0"/>
            </a:stretch>
          </a:blipFill>
          <a:ln>
            <a:noFill/>
          </a:ln>
        </p:spPr>
      </p:sp>
      <p:sp>
        <p:nvSpPr>
          <p:cNvPr id="284" name="Google Shape;284;g3d999ebccfe_2_171"/>
          <p:cNvSpPr/>
          <p:nvPr/>
        </p:nvSpPr>
        <p:spPr>
          <a:xfrm>
            <a:off x="7994290" y="4638613"/>
            <a:ext cx="666416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" l="0" r="0" t="0"/>
            </a:stretch>
          </a:blipFill>
          <a:ln>
            <a:noFill/>
          </a:ln>
        </p:spPr>
      </p:sp>
      <p:sp>
        <p:nvSpPr>
          <p:cNvPr id="285" name="Google Shape;285;g3d999ebccfe_2_171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d999ebccfe_2_171"/>
          <p:cNvSpPr/>
          <p:nvPr/>
        </p:nvSpPr>
        <p:spPr>
          <a:xfrm rot="2456700">
            <a:off x="8587607" y="4073306"/>
            <a:ext cx="148543" cy="144161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287" name="Google Shape;287;g3d999ebccfe_2_171"/>
          <p:cNvSpPr txBox="1"/>
          <p:nvPr/>
        </p:nvSpPr>
        <p:spPr>
          <a:xfrm>
            <a:off x="357411" y="471688"/>
            <a:ext cx="7785673" cy="500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700"/>
          </a:p>
        </p:txBody>
      </p:sp>
      <p:sp>
        <p:nvSpPr>
          <p:cNvPr id="288" name="Google Shape;288;g3d999ebccfe_2_171"/>
          <p:cNvSpPr txBox="1"/>
          <p:nvPr/>
        </p:nvSpPr>
        <p:spPr>
          <a:xfrm>
            <a:off x="357411" y="1155325"/>
            <a:ext cx="84291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growth of digital technologies has transformed student learning and interaction.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plays a dual role: learning tool vs. distraction.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research shows conflicting effects on academic performance.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 comprehensive, data-driven approach.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study proposes a hybrid Machine Learning + SEM framework.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797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9" name="Google Shape;289;g3d999ebccfe_2_171"/>
          <p:cNvGrpSpPr/>
          <p:nvPr/>
        </p:nvGrpSpPr>
        <p:grpSpPr>
          <a:xfrm>
            <a:off x="8472459" y="4656072"/>
            <a:ext cx="548702" cy="400745"/>
            <a:chOff x="0" y="-19050"/>
            <a:chExt cx="1463205" cy="1068654"/>
          </a:xfrm>
        </p:grpSpPr>
        <p:sp>
          <p:nvSpPr>
            <p:cNvPr id="290" name="Google Shape;290;g3d999ebccfe_2_171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37" r="-42037" t="0"/>
              </a:stretch>
            </a:blipFill>
            <a:ln>
              <a:noFill/>
            </a:ln>
          </p:spPr>
        </p:sp>
        <p:sp>
          <p:nvSpPr>
            <p:cNvPr id="291" name="Google Shape;291;g3d999ebccfe_2_171"/>
            <p:cNvSpPr txBox="1"/>
            <p:nvPr/>
          </p:nvSpPr>
          <p:spPr>
            <a:xfrm>
              <a:off x="0" y="-19050"/>
              <a:ext cx="1463205" cy="1068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  <a:endParaRPr sz="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2" name="Google Shape;292;g3d999ebccfe_2_171"/>
          <p:cNvGrpSpPr/>
          <p:nvPr/>
        </p:nvGrpSpPr>
        <p:grpSpPr>
          <a:xfrm>
            <a:off x="264733" y="4531676"/>
            <a:ext cx="4416975" cy="480203"/>
            <a:chOff x="0" y="0"/>
            <a:chExt cx="11778601" cy="1280541"/>
          </a:xfrm>
        </p:grpSpPr>
        <p:sp>
          <p:nvSpPr>
            <p:cNvPr id="293" name="Google Shape;293;g3d999ebccfe_2_171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g3d999ebccfe_2_171"/>
            <p:cNvSpPr txBox="1"/>
            <p:nvPr/>
          </p:nvSpPr>
          <p:spPr>
            <a:xfrm>
              <a:off x="239432" y="62403"/>
              <a:ext cx="11539169" cy="1136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295" name="Google Shape;295;g3d999ebccfe_2_171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6a6abdaa1_0_5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301" name="Google Shape;301;g3e6a6abdaa1_0_5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302" name="Google Shape;302;g3e6a6abdaa1_0_5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g3e6a6abdaa1_0_5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g3e6a6abdaa1_0_5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305" name="Google Shape;305;g3e6a6abdaa1_0_5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306" name="Google Shape;306;g3e6a6abdaa1_0_5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307" name="Google Shape;307;g3e6a6abdaa1_0_5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g3e6a6abdaa1_0_5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309" name="Google Shape;309;g3e6a6abdaa1_0_5"/>
          <p:cNvSpPr txBox="1"/>
          <p:nvPr/>
        </p:nvSpPr>
        <p:spPr>
          <a:xfrm>
            <a:off x="357411" y="471688"/>
            <a:ext cx="7785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500">
              <a:solidFill>
                <a:srgbClr val="FFFFFF"/>
              </a:solidFill>
              <a:highlight>
                <a:srgbClr val="353535"/>
              </a:highlight>
            </a:endParaRPr>
          </a:p>
          <a:p>
            <a:pPr indent="0" lvl="0" marL="0" marR="0" rtl="0" algn="l">
              <a:lnSpc>
                <a:spcPct val="120004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g3e6a6abdaa1_0_5"/>
          <p:cNvSpPr txBox="1"/>
          <p:nvPr/>
        </p:nvSpPr>
        <p:spPr>
          <a:xfrm>
            <a:off x="357461" y="994325"/>
            <a:ext cx="84291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studies: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either on prediction (ML) or explanation (SEM).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frameworks combining both.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Generalizable, multi-country insights.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Capturing complex behavioral relationships affecting academic outcomes.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1" name="Google Shape;311;g3e6a6abdaa1_0_5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312" name="Google Shape;312;g3e6a6abdaa1_0_5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313" name="Google Shape;313;g3e6a6abdaa1_0_5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</a:t>
              </a:r>
              <a:endParaRPr sz="700"/>
            </a:p>
          </p:txBody>
        </p:sp>
      </p:grpSp>
      <p:grpSp>
        <p:nvGrpSpPr>
          <p:cNvPr id="314" name="Google Shape;314;g3e6a6abdaa1_0_5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315" name="Google Shape;315;g3e6a6abdaa1_0_5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g3e6a6abdaa1_0_5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317" name="Google Shape;317;g3e6a6abdaa1_0_5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6a6abdaa1_0_30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323" name="Google Shape;323;g3e6a6abdaa1_0_30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324" name="Google Shape;324;g3e6a6abdaa1_0_30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g3e6a6abdaa1_0_30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g3e6a6abdaa1_0_30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327" name="Google Shape;327;g3e6a6abdaa1_0_30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328" name="Google Shape;328;g3e6a6abdaa1_0_30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329" name="Google Shape;329;g3e6a6abdaa1_0_30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g3e6a6abdaa1_0_30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331" name="Google Shape;331;g3e6a6abdaa1_0_30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g3e6a6abdaa1_0_30"/>
          <p:cNvSpPr txBox="1"/>
          <p:nvPr/>
        </p:nvSpPr>
        <p:spPr>
          <a:xfrm>
            <a:off x="357449" y="986450"/>
            <a:ext cx="79278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impacts: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Excessive usage → lower GPA, distraction.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impacts: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Collaboration, knowledge sharing.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predictive performance.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interpretability.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causal insights.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predictive power.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Gap: No unified hybrid approach.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3" name="Google Shape;333;g3e6a6abdaa1_0_30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334" name="Google Shape;334;g3e6a6abdaa1_0_30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335" name="Google Shape;335;g3e6a6abdaa1_0_30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</a:t>
              </a:r>
              <a:endParaRPr sz="700"/>
            </a:p>
          </p:txBody>
        </p:sp>
      </p:grpSp>
      <p:grpSp>
        <p:nvGrpSpPr>
          <p:cNvPr id="336" name="Google Shape;336;g3e6a6abdaa1_0_30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337" name="Google Shape;337;g3e6a6abdaa1_0_30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g3e6a6abdaa1_0_30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339" name="Google Shape;339;g3e6a6abdaa1_0_30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6a6abdaa1_0_52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345" name="Google Shape;345;g3e6a6abdaa1_0_52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346" name="Google Shape;346;g3e6a6abdaa1_0_52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g3e6a6abdaa1_0_52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g3e6a6abdaa1_0_52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349" name="Google Shape;349;g3e6a6abdaa1_0_52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350" name="Google Shape;350;g3e6a6abdaa1_0_52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351" name="Google Shape;351;g3e6a6abdaa1_0_52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g3e6a6abdaa1_0_52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353" name="Google Shape;353;g3e6a6abdaa1_0_52"/>
          <p:cNvSpPr txBox="1"/>
          <p:nvPr/>
        </p:nvSpPr>
        <p:spPr>
          <a:xfrm>
            <a:off x="357411" y="471688"/>
            <a:ext cx="77856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g3e6a6abdaa1_0_52"/>
          <p:cNvSpPr txBox="1"/>
          <p:nvPr/>
        </p:nvSpPr>
        <p:spPr>
          <a:xfrm>
            <a:off x="357411" y="1155325"/>
            <a:ext cx="84291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social media usage affect academic performance?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factors (behavioral vs demographic) are most influential?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 hybrid ML + SEM model improve both prediction and explanation?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usage intensity mediate academic outcomes?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5" name="Google Shape;355;g3e6a6abdaa1_0_52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356" name="Google Shape;356;g3e6a6abdaa1_0_52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357" name="Google Shape;357;g3e6a6abdaa1_0_52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07</a:t>
              </a:r>
              <a:endParaRPr sz="700"/>
            </a:p>
          </p:txBody>
        </p:sp>
      </p:grpSp>
      <p:grpSp>
        <p:nvGrpSpPr>
          <p:cNvPr id="358" name="Google Shape;358;g3e6a6abdaa1_0_52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359" name="Google Shape;359;g3e6a6abdaa1_0_52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g3e6a6abdaa1_0_52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361" name="Google Shape;361;g3e6a6abdaa1_0_52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6a6abdaa1_0_74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367" name="Google Shape;367;g3e6a6abdaa1_0_74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368" name="Google Shape;368;g3e6a6abdaa1_0_74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g3e6a6abdaa1_0_74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g3e6a6abdaa1_0_74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371" name="Google Shape;371;g3e6a6abdaa1_0_74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372" name="Google Shape;372;g3e6a6abdaa1_0_74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373" name="Google Shape;373;g3e6a6abdaa1_0_74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4" name="Google Shape;374;g3e6a6abdaa1_0_74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375" name="Google Shape;375;g3e6a6abdaa1_0_74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sz="700"/>
          </a:p>
        </p:txBody>
      </p:sp>
      <p:sp>
        <p:nvSpPr>
          <p:cNvPr id="376" name="Google Shape;376;g3e6a6abdaa1_0_74"/>
          <p:cNvSpPr txBox="1"/>
          <p:nvPr/>
        </p:nvSpPr>
        <p:spPr>
          <a:xfrm>
            <a:off x="357411" y="1155325"/>
            <a:ext cx="84291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relationship between social media usage &amp; academic performance.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key influencing factors.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hybrid ML + SEM framework.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multiple predictive models.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actionable insights for educators &amp; policymakers.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3797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7" name="Google Shape;377;g3e6a6abdaa1_0_74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378" name="Google Shape;378;g3e6a6abdaa1_0_74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379" name="Google Shape;379;g3e6a6abdaa1_0_74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08</a:t>
              </a:r>
              <a:endParaRPr sz="700"/>
            </a:p>
          </p:txBody>
        </p:sp>
      </p:grpSp>
      <p:grpSp>
        <p:nvGrpSpPr>
          <p:cNvPr id="380" name="Google Shape;380;g3e6a6abdaa1_0_74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381" name="Google Shape;381;g3e6a6abdaa1_0_74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3e6a6abdaa1_0_74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383" name="Google Shape;383;g3e6a6abdaa1_0_74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6a6abdaa1_0_118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389" name="Google Shape;389;g3e6a6abdaa1_0_118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390" name="Google Shape;390;g3e6a6abdaa1_0_118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g3e6a6abdaa1_0_118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g3e6a6abdaa1_0_118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393" name="Google Shape;393;g3e6a6abdaa1_0_118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394" name="Google Shape;394;g3e6a6abdaa1_0_118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395" name="Google Shape;395;g3e6a6abdaa1_0_118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g3e6a6abdaa1_0_118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397" name="Google Shape;397;g3e6a6abdaa1_0_118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g3e6a6abdaa1_0_118"/>
          <p:cNvSpPr txBox="1"/>
          <p:nvPr/>
        </p:nvSpPr>
        <p:spPr>
          <a:xfrm>
            <a:off x="592050" y="974400"/>
            <a:ext cx="5765400" cy="3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Multi-country student survey (1625 samples).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L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Demographic, Behavioral, Psychological.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L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 &amp; encoding.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L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L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Regression.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L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Equation Modeling (SEM).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L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5-fold cross-validation.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romanLcPeriod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for imbalance.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9" name="Google Shape;399;g3e6a6abdaa1_0_118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400" name="Google Shape;400;g3e6a6abdaa1_0_118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401" name="Google Shape;401;g3e6a6abdaa1_0_118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09</a:t>
              </a:r>
              <a:endParaRPr sz="700"/>
            </a:p>
          </p:txBody>
        </p:sp>
      </p:grpSp>
      <p:grpSp>
        <p:nvGrpSpPr>
          <p:cNvPr id="402" name="Google Shape;402;g3e6a6abdaa1_0_118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403" name="Google Shape;403;g3e6a6abdaa1_0_118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g3e6a6abdaa1_0_118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405" name="Google Shape;405;g3e6a6abdaa1_0_118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c21de9d46_1_81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411" name="Google Shape;411;g3dc21de9d46_1_81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412" name="Google Shape;412;g3dc21de9d46_1_81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g3dc21de9d46_1_81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g3dc21de9d46_1_81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415" name="Google Shape;415;g3dc21de9d46_1_81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416" name="Google Shape;416;g3dc21de9d46_1_81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417" name="Google Shape;417;g3dc21de9d46_1_81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g3dc21de9d46_1_81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419" name="Google Shape;419;g3dc21de9d46_1_81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20" name="Google Shape;420;g3dc21de9d46_1_81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421" name="Google Shape;421;g3dc21de9d46_1_81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422" name="Google Shape;422;g3dc21de9d46_1_81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700"/>
            </a:p>
          </p:txBody>
        </p:sp>
      </p:grpSp>
      <p:grpSp>
        <p:nvGrpSpPr>
          <p:cNvPr id="423" name="Google Shape;423;g3dc21de9d46_1_81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424" name="Google Shape;424;g3dc21de9d46_1_81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g3dc21de9d46_1_81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426" name="Google Shape;426;g3dc21de9d46_1_81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dc21de9d46_1_81" title="Hyperparameter Tuning Model-2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55640" y="263275"/>
            <a:ext cx="2232719" cy="37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dc21de9d46_1_81"/>
          <p:cNvSpPr txBox="1"/>
          <p:nvPr/>
        </p:nvSpPr>
        <p:spPr>
          <a:xfrm>
            <a:off x="3237450" y="4022146"/>
            <a:ext cx="266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Model architecture.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6a6abdaa1_0_152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434" name="Google Shape;434;g3e6a6abdaa1_0_152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435" name="Google Shape;435;g3e6a6abdaa1_0_152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g3e6a6abdaa1_0_152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7" name="Google Shape;437;g3e6a6abdaa1_0_152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438" name="Google Shape;438;g3e6a6abdaa1_0_152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439" name="Google Shape;439;g3e6a6abdaa1_0_152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440" name="Google Shape;440;g3e6a6abdaa1_0_152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1" name="Google Shape;441;g3e6a6abdaa1_0_152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442" name="Google Shape;442;g3e6a6abdaa1_0_152"/>
          <p:cNvSpPr txBox="1"/>
          <p:nvPr/>
        </p:nvSpPr>
        <p:spPr>
          <a:xfrm>
            <a:off x="357411" y="471688"/>
            <a:ext cx="778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43" name="Google Shape;443;g3e6a6abdaa1_0_152"/>
          <p:cNvSpPr txBox="1"/>
          <p:nvPr/>
        </p:nvSpPr>
        <p:spPr>
          <a:xfrm>
            <a:off x="357454" y="1145350"/>
            <a:ext cx="57222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usage negatively correlated with GPA (r = -0.342).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Usage significantly reduces academic performance.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Models: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Accuracy: 94%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F1-score: 0.93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 Findings: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Usage acts as a mediating variable.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model fit (CFI = 0.991, RMSEA = 0.051).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4" name="Google Shape;444;g3e6a6abdaa1_0_152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445" name="Google Shape;445;g3e6a6abdaa1_0_152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446" name="Google Shape;446;g3e6a6abdaa1_0_152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700"/>
            </a:p>
          </p:txBody>
        </p:sp>
      </p:grpSp>
      <p:grpSp>
        <p:nvGrpSpPr>
          <p:cNvPr id="447" name="Google Shape;447;g3e6a6abdaa1_0_152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448" name="Google Shape;448;g3e6a6abdaa1_0_152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g3e6a6abdaa1_0_152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450" name="Google Shape;450;g3e6a6abdaa1_0_152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e6a6abdaa1_0_152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2" name="Google Shape;452;g3e6a6abdaa1_0_152" title="Screenshot 2026-05-05 at 5.41.16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57325" y="1975686"/>
            <a:ext cx="2164500" cy="6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e6a6abdaa1_0_152" title="Screenshot 2026-05-05 at 5.41.26 A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21075" y="2883238"/>
            <a:ext cx="2748851" cy="62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e6a6abdaa1_0_152" title="Screenshot 2026-05-05 at 5.42.25 A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30300" y="1074829"/>
            <a:ext cx="2130402" cy="6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e6a6abdaa1_0_152"/>
          <p:cNvSpPr txBox="1"/>
          <p:nvPr/>
        </p:nvSpPr>
        <p:spPr>
          <a:xfrm>
            <a:off x="6305025" y="1591195"/>
            <a:ext cx="266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Correlation Matrix.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g3e6a6abdaa1_0_152"/>
          <p:cNvSpPr txBox="1"/>
          <p:nvPr/>
        </p:nvSpPr>
        <p:spPr>
          <a:xfrm>
            <a:off x="6299883" y="2494509"/>
            <a:ext cx="266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3:  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Model Performance.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g3e6a6abdaa1_0_152"/>
          <p:cNvSpPr txBox="1"/>
          <p:nvPr/>
        </p:nvSpPr>
        <p:spPr>
          <a:xfrm>
            <a:off x="6106999" y="3388732"/>
            <a:ext cx="296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4:  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Model Performance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6a6abdaa1_0_96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463" name="Google Shape;463;g3e6a6abdaa1_0_96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464" name="Google Shape;464;g3e6a6abdaa1_0_96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g3e6a6abdaa1_0_96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6" name="Google Shape;466;g3e6a6abdaa1_0_96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467" name="Google Shape;467;g3e6a6abdaa1_0_96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468" name="Google Shape;468;g3e6a6abdaa1_0_96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469" name="Google Shape;469;g3e6a6abdaa1_0_96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g3e6a6abdaa1_0_96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471" name="Google Shape;471;g3e6a6abdaa1_0_96"/>
          <p:cNvSpPr txBox="1"/>
          <p:nvPr/>
        </p:nvSpPr>
        <p:spPr>
          <a:xfrm>
            <a:off x="357411" y="471688"/>
            <a:ext cx="77856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Outcomes &amp; Impacts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g3e6a6abdaa1_0_96"/>
          <p:cNvSpPr txBox="1"/>
          <p:nvPr/>
        </p:nvSpPr>
        <p:spPr>
          <a:xfrm>
            <a:off x="592061" y="991175"/>
            <a:ext cx="8429100" cy="19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factors (usage intensity) are strongest predictors.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model improves: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lphaLcPeriod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accuracy.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lphaLcPeriod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Interpretability.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lphaLcPeriod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Evidence-based academic policies.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lphaLcPeriod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social media usage strategies.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3" name="Google Shape;473;g3e6a6abdaa1_0_96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474" name="Google Shape;474;g3e6a6abdaa1_0_96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475" name="Google Shape;475;g3e6a6abdaa1_0_96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700"/>
            </a:p>
          </p:txBody>
        </p:sp>
      </p:grpSp>
      <p:grpSp>
        <p:nvGrpSpPr>
          <p:cNvPr id="476" name="Google Shape;476;g3e6a6abdaa1_0_96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477" name="Google Shape;477;g3e6a6abdaa1_0_96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g3e6a6abdaa1_0_96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479" name="Google Shape;479;g3e6a6abdaa1_0_96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6a6abdaa1_0_221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485" name="Google Shape;485;g3e6a6abdaa1_0_221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486" name="Google Shape;486;g3e6a6abdaa1_0_221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g3e6a6abdaa1_0_221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8" name="Google Shape;488;g3e6a6abdaa1_0_221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489" name="Google Shape;489;g3e6a6abdaa1_0_221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490" name="Google Shape;490;g3e6a6abdaa1_0_221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491" name="Google Shape;491;g3e6a6abdaa1_0_221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2" name="Google Shape;492;g3e6a6abdaa1_0_221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493" name="Google Shape;493;g3e6a6abdaa1_0_221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700"/>
          </a:p>
        </p:txBody>
      </p:sp>
      <p:sp>
        <p:nvSpPr>
          <p:cNvPr id="494" name="Google Shape;494;g3e6a6abdaa1_0_221"/>
          <p:cNvSpPr txBox="1"/>
          <p:nvPr/>
        </p:nvSpPr>
        <p:spPr>
          <a:xfrm>
            <a:off x="357411" y="1155325"/>
            <a:ext cx="8429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usage intensity is the strongest predictor.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factors outweigh demographic factors.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ML + SEM provides: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prediction.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explanation.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balanced, controlled usage instead of restriction.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95" name="Google Shape;495;g3e6a6abdaa1_0_221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496" name="Google Shape;496;g3e6a6abdaa1_0_221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497" name="Google Shape;497;g3e6a6abdaa1_0_221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  <a:endParaRPr sz="700"/>
            </a:p>
          </p:txBody>
        </p:sp>
      </p:grpSp>
      <p:grpSp>
        <p:nvGrpSpPr>
          <p:cNvPr id="498" name="Google Shape;498;g3e6a6abdaa1_0_221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499" name="Google Shape;499;g3e6a6abdaa1_0_221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g3e6a6abdaa1_0_221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501" name="Google Shape;501;g3e6a6abdaa1_0_221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6a6abdaa1_0_264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507" name="Google Shape;507;g3e6a6abdaa1_0_264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508" name="Google Shape;508;g3e6a6abdaa1_0_264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g3e6a6abdaa1_0_264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g3e6a6abdaa1_0_264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511" name="Google Shape;511;g3e6a6abdaa1_0_264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512" name="Google Shape;512;g3e6a6abdaa1_0_264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513" name="Google Shape;513;g3e6a6abdaa1_0_264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g3e6a6abdaa1_0_264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515" name="Google Shape;515;g3e6a6abdaa1_0_264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Future Directions </a:t>
            </a:r>
            <a:endParaRPr sz="700"/>
          </a:p>
        </p:txBody>
      </p:sp>
      <p:sp>
        <p:nvSpPr>
          <p:cNvPr id="516" name="Google Shape;516;g3e6a6abdaa1_0_264"/>
          <p:cNvSpPr txBox="1"/>
          <p:nvPr/>
        </p:nvSpPr>
        <p:spPr>
          <a:xfrm>
            <a:off x="357411" y="1155325"/>
            <a:ext cx="84291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larger &amp; more diverse datasets.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longitudinal studies for causal analysis.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Explainable AI (XAI).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additional variables: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Stress, sleep, GPA tracking.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real-time academic monitoring systems.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17" name="Google Shape;517;g3e6a6abdaa1_0_264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518" name="Google Shape;518;g3e6a6abdaa1_0_264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519" name="Google Shape;519;g3e6a6abdaa1_0_264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 sz="700"/>
            </a:p>
          </p:txBody>
        </p:sp>
      </p:grpSp>
      <p:grpSp>
        <p:nvGrpSpPr>
          <p:cNvPr id="520" name="Google Shape;520;g3e6a6abdaa1_0_264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521" name="Google Shape;521;g3e6a6abdaa1_0_264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g3e6a6abdaa1_0_264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523" name="Google Shape;523;g3e6a6abdaa1_0_264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6a6abdaa1_0_288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529" name="Google Shape;529;g3e6a6abdaa1_0_288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530" name="Google Shape;530;g3e6a6abdaa1_0_288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g3e6a6abdaa1_0_288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g3e6a6abdaa1_0_288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533" name="Google Shape;533;g3e6a6abdaa1_0_288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534" name="Google Shape;534;g3e6a6abdaa1_0_288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535" name="Google Shape;535;g3e6a6abdaa1_0_288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6" name="Google Shape;536;g3e6a6abdaa1_0_288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537" name="Google Shape;537;g3e6a6abdaa1_0_288"/>
          <p:cNvSpPr txBox="1"/>
          <p:nvPr/>
        </p:nvSpPr>
        <p:spPr>
          <a:xfrm>
            <a:off x="357411" y="471688"/>
            <a:ext cx="77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700"/>
          </a:p>
        </p:txBody>
      </p:sp>
      <p:sp>
        <p:nvSpPr>
          <p:cNvPr id="538" name="Google Shape;538;g3e6a6abdaa1_0_288"/>
          <p:cNvSpPr txBox="1"/>
          <p:nvPr/>
        </p:nvSpPr>
        <p:spPr>
          <a:xfrm>
            <a:off x="357461" y="1126863"/>
            <a:ext cx="84291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sources: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Kaplan, A.M., Haenlein, M.: Users of the world, unite! The challenges and opportunities of social media. Business Horizons 53(1), 59–68 (2010).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Junco, R.: Too much face and not enough books: The relationship between multiple indices of Facebook use and academic performance. Computers in Human Behavior 28(1), 187–198 (2012)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Kline, R.B.: Principles and practice of structural equation modeling, 4th edn. Guilford Press (2015)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Liu, Y., Zhang, X.: Machine learning approaches for predicting student performance: A review. IEEE Access 10, 12345–12360 (2022)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Cuong, T., Nguyen, K., Zaw Oo, T., Jozsa, K.: The impact of social media use motives on students’ GPA: The mediating role of daily time usage. Education Sciences 15, 317 (2025).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references available in paper bibliography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9" name="Google Shape;539;g3e6a6abdaa1_0_288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540" name="Google Shape;540;g3e6a6abdaa1_0_288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541" name="Google Shape;541;g3e6a6abdaa1_0_288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700"/>
            </a:p>
          </p:txBody>
        </p:sp>
      </p:grpSp>
      <p:grpSp>
        <p:nvGrpSpPr>
          <p:cNvPr id="542" name="Google Shape;542;g3e6a6abdaa1_0_288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543" name="Google Shape;543;g3e6a6abdaa1_0_288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g3e6a6abdaa1_0_288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pic>
        <p:nvPicPr>
          <p:cNvPr id="545" name="Google Shape;545;g3e6a6abdaa1_0_288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E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999ebccfe_2_196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555" name="Google Shape;555;g3d999ebccfe_2_196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556" name="Google Shape;556;g3d999ebccfe_2_196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g3d999ebccfe_2_196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8" name="Google Shape;558;g3d999ebccfe_2_196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559" name="Google Shape;559;g3d999ebccfe_2_196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560" name="Google Shape;560;g3d999ebccfe_2_196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561" name="Google Shape;561;g3d999ebccfe_2_196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2" name="Google Shape;562;g3d999ebccfe_2_196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563" name="Google Shape;563;g3d999ebccfe_2_196"/>
          <p:cNvSpPr txBox="1"/>
          <p:nvPr/>
        </p:nvSpPr>
        <p:spPr>
          <a:xfrm>
            <a:off x="357411" y="471688"/>
            <a:ext cx="778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64" name="Google Shape;564;g3d999ebccfe_2_196"/>
          <p:cNvSpPr txBox="1"/>
          <p:nvPr/>
        </p:nvSpPr>
        <p:spPr>
          <a:xfrm>
            <a:off x="357411" y="1155326"/>
            <a:ext cx="8429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565" name="Google Shape;565;g3d999ebccfe_2_196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566" name="Google Shape;566;g3d999ebccfe_2_196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567" name="Google Shape;567;g3d999ebccfe_2_196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  <a:endParaRPr sz="700"/>
            </a:p>
          </p:txBody>
        </p:sp>
      </p:grpSp>
      <p:grpSp>
        <p:nvGrpSpPr>
          <p:cNvPr id="568" name="Google Shape;568;g3d999ebccfe_2_196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569" name="Google Shape;569;g3d999ebccfe_2_196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g3d999ebccfe_2_196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sp>
        <p:nvSpPr>
          <p:cNvPr id="571" name="Google Shape;571;g3d999ebccfe_2_196"/>
          <p:cNvSpPr txBox="1"/>
          <p:nvPr>
            <p:ph idx="4294967295" type="title"/>
          </p:nvPr>
        </p:nvSpPr>
        <p:spPr>
          <a:xfrm>
            <a:off x="876450" y="1972450"/>
            <a:ext cx="73911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4200">
                <a:latin typeface="Times New Roman"/>
                <a:ea typeface="Times New Roman"/>
                <a:cs typeface="Times New Roman"/>
                <a:sym typeface="Times New Roman"/>
              </a:rPr>
              <a:t>Question and Answer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2" name="Google Shape;572;g3d999ebccfe_2_196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EFF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dc21de9d46_1_18"/>
          <p:cNvSpPr/>
          <p:nvPr/>
        </p:nvSpPr>
        <p:spPr>
          <a:xfrm>
            <a:off x="0" y="4427101"/>
            <a:ext cx="9144000" cy="716423"/>
          </a:xfrm>
          <a:custGeom>
            <a:rect b="b" l="l" r="r" t="t"/>
            <a:pathLst>
              <a:path extrusionOk="0" h="1910461" w="24384000">
                <a:moveTo>
                  <a:pt x="0" y="0"/>
                </a:moveTo>
                <a:lnTo>
                  <a:pt x="24384000" y="0"/>
                </a:lnTo>
                <a:lnTo>
                  <a:pt x="24384000" y="1910461"/>
                </a:lnTo>
                <a:lnTo>
                  <a:pt x="0" y="1910461"/>
                </a:lnTo>
                <a:close/>
              </a:path>
            </a:pathLst>
          </a:custGeom>
          <a:solidFill>
            <a:srgbClr val="E6DFD7"/>
          </a:solidFill>
          <a:ln>
            <a:noFill/>
          </a:ln>
        </p:spPr>
      </p:sp>
      <p:grpSp>
        <p:nvGrpSpPr>
          <p:cNvPr id="582" name="Google Shape;582;g3dc21de9d46_1_18"/>
          <p:cNvGrpSpPr/>
          <p:nvPr/>
        </p:nvGrpSpPr>
        <p:grpSpPr>
          <a:xfrm>
            <a:off x="4888049" y="4531676"/>
            <a:ext cx="3888057" cy="507111"/>
            <a:chOff x="0" y="0"/>
            <a:chExt cx="10368153" cy="1352296"/>
          </a:xfrm>
        </p:grpSpPr>
        <p:sp>
          <p:nvSpPr>
            <p:cNvPr id="583" name="Google Shape;583;g3dc21de9d46_1_18"/>
            <p:cNvSpPr/>
            <p:nvPr/>
          </p:nvSpPr>
          <p:spPr>
            <a:xfrm>
              <a:off x="12700" y="12827"/>
              <a:ext cx="10342753" cy="1326642"/>
            </a:xfrm>
            <a:custGeom>
              <a:rect b="b" l="l" r="r" t="t"/>
              <a:pathLst>
                <a:path extrusionOk="0" h="1326642" w="10342753">
                  <a:moveTo>
                    <a:pt x="127" y="221107"/>
                  </a:moveTo>
                  <a:cubicBezTo>
                    <a:pt x="127" y="98933"/>
                    <a:pt x="100838" y="0"/>
                    <a:pt x="224917" y="0"/>
                  </a:cubicBezTo>
                  <a:lnTo>
                    <a:pt x="10117836" y="0"/>
                  </a:lnTo>
                  <a:cubicBezTo>
                    <a:pt x="10242042" y="0"/>
                    <a:pt x="10342753" y="99060"/>
                    <a:pt x="10342753" y="221107"/>
                  </a:cubicBezTo>
                  <a:lnTo>
                    <a:pt x="10342753" y="1105535"/>
                  </a:lnTo>
                  <a:cubicBezTo>
                    <a:pt x="10342753" y="1227709"/>
                    <a:pt x="10242042" y="1326642"/>
                    <a:pt x="10117836" y="1326642"/>
                  </a:cubicBezTo>
                  <a:lnTo>
                    <a:pt x="224917" y="1326642"/>
                  </a:lnTo>
                  <a:cubicBezTo>
                    <a:pt x="100711" y="1326642"/>
                    <a:pt x="0" y="1227582"/>
                    <a:pt x="0" y="11055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g3dc21de9d46_1_18"/>
            <p:cNvSpPr/>
            <p:nvPr/>
          </p:nvSpPr>
          <p:spPr>
            <a:xfrm>
              <a:off x="0" y="0"/>
              <a:ext cx="10368153" cy="1352296"/>
            </a:xfrm>
            <a:custGeom>
              <a:rect b="b" l="l" r="r" t="t"/>
              <a:pathLst>
                <a:path extrusionOk="0" h="1352296" w="10368153">
                  <a:moveTo>
                    <a:pt x="0" y="233934"/>
                  </a:moveTo>
                  <a:cubicBezTo>
                    <a:pt x="0" y="104521"/>
                    <a:pt x="106553" y="0"/>
                    <a:pt x="237617" y="0"/>
                  </a:cubicBezTo>
                  <a:lnTo>
                    <a:pt x="10130536" y="0"/>
                  </a:lnTo>
                  <a:lnTo>
                    <a:pt x="10130536" y="12827"/>
                  </a:lnTo>
                  <a:lnTo>
                    <a:pt x="10130536" y="0"/>
                  </a:lnTo>
                  <a:cubicBezTo>
                    <a:pt x="10261600" y="0"/>
                    <a:pt x="10368153" y="104521"/>
                    <a:pt x="10368153" y="233934"/>
                  </a:cubicBezTo>
                  <a:lnTo>
                    <a:pt x="10355326" y="233934"/>
                  </a:lnTo>
                  <a:lnTo>
                    <a:pt x="10368153" y="233934"/>
                  </a:lnTo>
                  <a:lnTo>
                    <a:pt x="10368153" y="1118362"/>
                  </a:lnTo>
                  <a:lnTo>
                    <a:pt x="10355326" y="1118362"/>
                  </a:lnTo>
                  <a:lnTo>
                    <a:pt x="10368153" y="1118362"/>
                  </a:lnTo>
                  <a:cubicBezTo>
                    <a:pt x="10368153" y="1247775"/>
                    <a:pt x="10261600" y="1352296"/>
                    <a:pt x="10130536" y="1352296"/>
                  </a:cubicBezTo>
                  <a:lnTo>
                    <a:pt x="10130536" y="1339469"/>
                  </a:lnTo>
                  <a:lnTo>
                    <a:pt x="10130536" y="1352296"/>
                  </a:lnTo>
                  <a:lnTo>
                    <a:pt x="237617" y="1352296"/>
                  </a:lnTo>
                  <a:lnTo>
                    <a:pt x="237617" y="1339469"/>
                  </a:lnTo>
                  <a:lnTo>
                    <a:pt x="237617" y="1352296"/>
                  </a:lnTo>
                  <a:cubicBezTo>
                    <a:pt x="106553" y="1352296"/>
                    <a:pt x="0" y="1247775"/>
                    <a:pt x="0" y="1118362"/>
                  </a:cubicBezTo>
                  <a:lnTo>
                    <a:pt x="0" y="233934"/>
                  </a:lnTo>
                  <a:lnTo>
                    <a:pt x="12827" y="233934"/>
                  </a:lnTo>
                  <a:lnTo>
                    <a:pt x="0" y="233934"/>
                  </a:lnTo>
                  <a:moveTo>
                    <a:pt x="25654" y="233934"/>
                  </a:moveTo>
                  <a:lnTo>
                    <a:pt x="25654" y="1118362"/>
                  </a:lnTo>
                  <a:lnTo>
                    <a:pt x="12827" y="1118362"/>
                  </a:lnTo>
                  <a:lnTo>
                    <a:pt x="25654" y="1118362"/>
                  </a:lnTo>
                  <a:cubicBezTo>
                    <a:pt x="25654" y="1233170"/>
                    <a:pt x="120396" y="1326642"/>
                    <a:pt x="237744" y="1326642"/>
                  </a:cubicBezTo>
                  <a:lnTo>
                    <a:pt x="10130536" y="1326642"/>
                  </a:lnTo>
                  <a:cubicBezTo>
                    <a:pt x="10247884" y="1326642"/>
                    <a:pt x="10342626" y="1233170"/>
                    <a:pt x="10342626" y="1118362"/>
                  </a:cubicBezTo>
                  <a:lnTo>
                    <a:pt x="10342626" y="233934"/>
                  </a:lnTo>
                  <a:cubicBezTo>
                    <a:pt x="10342626" y="119126"/>
                    <a:pt x="10247884" y="25654"/>
                    <a:pt x="10130536" y="25654"/>
                  </a:cubicBezTo>
                  <a:lnTo>
                    <a:pt x="237617" y="25654"/>
                  </a:lnTo>
                  <a:lnTo>
                    <a:pt x="237617" y="12827"/>
                  </a:lnTo>
                  <a:lnTo>
                    <a:pt x="237617" y="25654"/>
                  </a:lnTo>
                  <a:cubicBezTo>
                    <a:pt x="120269" y="25654"/>
                    <a:pt x="25527" y="119126"/>
                    <a:pt x="25527" y="233934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5" name="Google Shape;585;g3dc21de9d46_1_18"/>
          <p:cNvSpPr/>
          <p:nvPr/>
        </p:nvSpPr>
        <p:spPr>
          <a:xfrm>
            <a:off x="4982232" y="4626826"/>
            <a:ext cx="767001" cy="316897"/>
          </a:xfrm>
          <a:custGeom>
            <a:rect b="b" l="l" r="r" t="t"/>
            <a:pathLst>
              <a:path extrusionOk="0" h="845058" w="2045335">
                <a:moveTo>
                  <a:pt x="0" y="0"/>
                </a:moveTo>
                <a:lnTo>
                  <a:pt x="2045335" y="0"/>
                </a:lnTo>
                <a:lnTo>
                  <a:pt x="2045335" y="845058"/>
                </a:lnTo>
                <a:lnTo>
                  <a:pt x="0" y="845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010" l="0" r="0" t="0"/>
            </a:stretch>
          </a:blipFill>
          <a:ln>
            <a:noFill/>
          </a:ln>
        </p:spPr>
      </p:sp>
      <p:sp>
        <p:nvSpPr>
          <p:cNvPr id="586" name="Google Shape;586;g3dc21de9d46_1_18"/>
          <p:cNvSpPr/>
          <p:nvPr/>
        </p:nvSpPr>
        <p:spPr>
          <a:xfrm>
            <a:off x="5889822" y="4643085"/>
            <a:ext cx="1963865" cy="284417"/>
          </a:xfrm>
          <a:custGeom>
            <a:rect b="b" l="l" r="r" t="t"/>
            <a:pathLst>
              <a:path extrusionOk="0" h="758444" w="5236972">
                <a:moveTo>
                  <a:pt x="0" y="0"/>
                </a:moveTo>
                <a:lnTo>
                  <a:pt x="5236972" y="0"/>
                </a:lnTo>
                <a:lnTo>
                  <a:pt x="5236972" y="758444"/>
                </a:lnTo>
                <a:lnTo>
                  <a:pt x="0" y="758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0"/>
            </a:stretch>
          </a:blipFill>
          <a:ln>
            <a:noFill/>
          </a:ln>
        </p:spPr>
      </p:sp>
      <p:sp>
        <p:nvSpPr>
          <p:cNvPr id="587" name="Google Shape;587;g3dc21de9d46_1_18"/>
          <p:cNvSpPr/>
          <p:nvPr/>
        </p:nvSpPr>
        <p:spPr>
          <a:xfrm>
            <a:off x="7994290" y="4638613"/>
            <a:ext cx="666417" cy="293370"/>
          </a:xfrm>
          <a:custGeom>
            <a:rect b="b" l="l" r="r" t="t"/>
            <a:pathLst>
              <a:path extrusionOk="0" h="782320" w="1777111">
                <a:moveTo>
                  <a:pt x="0" y="0"/>
                </a:moveTo>
                <a:lnTo>
                  <a:pt x="1777111" y="0"/>
                </a:lnTo>
                <a:lnTo>
                  <a:pt x="1777111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588" name="Google Shape;588;g3dc21de9d46_1_18"/>
          <p:cNvSpPr/>
          <p:nvPr/>
        </p:nvSpPr>
        <p:spPr>
          <a:xfrm>
            <a:off x="-495647" y="-377209"/>
            <a:ext cx="2580075" cy="2590110"/>
          </a:xfrm>
          <a:custGeom>
            <a:rect b="b" l="l" r="r" t="t"/>
            <a:pathLst>
              <a:path extrusionOk="0" h="5180219" w="5160150">
                <a:moveTo>
                  <a:pt x="0" y="0"/>
                </a:moveTo>
                <a:lnTo>
                  <a:pt x="5160149" y="0"/>
                </a:lnTo>
                <a:lnTo>
                  <a:pt x="5160149" y="5180219"/>
                </a:lnTo>
                <a:lnTo>
                  <a:pt x="0" y="5180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9" name="Google Shape;589;g3dc21de9d46_1_18"/>
          <p:cNvSpPr/>
          <p:nvPr/>
        </p:nvSpPr>
        <p:spPr>
          <a:xfrm rot="2456021">
            <a:off x="8587812" y="4073217"/>
            <a:ext cx="148123" cy="143753"/>
          </a:xfrm>
          <a:custGeom>
            <a:rect b="b" l="l" r="r" t="t"/>
            <a:pathLst>
              <a:path extrusionOk="0" h="384429" w="396113">
                <a:moveTo>
                  <a:pt x="0" y="0"/>
                </a:moveTo>
                <a:lnTo>
                  <a:pt x="396113" y="0"/>
                </a:lnTo>
                <a:lnTo>
                  <a:pt x="396113" y="384429"/>
                </a:lnTo>
                <a:lnTo>
                  <a:pt x="0" y="384429"/>
                </a:lnTo>
                <a:close/>
              </a:path>
            </a:pathLst>
          </a:custGeom>
          <a:solidFill>
            <a:srgbClr val="424953"/>
          </a:solidFill>
          <a:ln>
            <a:noFill/>
          </a:ln>
        </p:spPr>
      </p:sp>
      <p:sp>
        <p:nvSpPr>
          <p:cNvPr id="590" name="Google Shape;590;g3dc21de9d46_1_18"/>
          <p:cNvSpPr txBox="1"/>
          <p:nvPr/>
        </p:nvSpPr>
        <p:spPr>
          <a:xfrm>
            <a:off x="357411" y="471688"/>
            <a:ext cx="778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91" name="Google Shape;591;g3dc21de9d46_1_18"/>
          <p:cNvSpPr txBox="1"/>
          <p:nvPr/>
        </p:nvSpPr>
        <p:spPr>
          <a:xfrm>
            <a:off x="357411" y="1155326"/>
            <a:ext cx="8429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592" name="Google Shape;592;g3dc21de9d46_1_18"/>
          <p:cNvGrpSpPr/>
          <p:nvPr/>
        </p:nvGrpSpPr>
        <p:grpSpPr>
          <a:xfrm>
            <a:off x="8472459" y="4656072"/>
            <a:ext cx="548700" cy="400744"/>
            <a:chOff x="0" y="-19050"/>
            <a:chExt cx="1463200" cy="1068650"/>
          </a:xfrm>
        </p:grpSpPr>
        <p:sp>
          <p:nvSpPr>
            <p:cNvPr id="593" name="Google Shape;593;g3dc21de9d46_1_18"/>
            <p:cNvSpPr/>
            <p:nvPr/>
          </p:nvSpPr>
          <p:spPr>
            <a:xfrm>
              <a:off x="0" y="0"/>
              <a:ext cx="1463200" cy="1049600"/>
            </a:xfrm>
            <a:custGeom>
              <a:rect b="b" l="l" r="r" t="t"/>
              <a:pathLst>
                <a:path extrusionOk="0" h="1049600" w="14632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42040" r="-42031" t="0"/>
              </a:stretch>
            </a:blipFill>
            <a:ln>
              <a:noFill/>
            </a:ln>
          </p:spPr>
        </p:sp>
        <p:sp>
          <p:nvSpPr>
            <p:cNvPr id="594" name="Google Shape;594;g3dc21de9d46_1_18"/>
            <p:cNvSpPr txBox="1"/>
            <p:nvPr/>
          </p:nvSpPr>
          <p:spPr>
            <a:xfrm>
              <a:off x="0" y="-19050"/>
              <a:ext cx="1463100" cy="10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  <a:endParaRPr sz="700"/>
            </a:p>
          </p:txBody>
        </p:sp>
      </p:grpSp>
      <p:grpSp>
        <p:nvGrpSpPr>
          <p:cNvPr id="595" name="Google Shape;595;g3dc21de9d46_1_18"/>
          <p:cNvGrpSpPr/>
          <p:nvPr/>
        </p:nvGrpSpPr>
        <p:grpSpPr>
          <a:xfrm>
            <a:off x="264733" y="4531676"/>
            <a:ext cx="4416987" cy="497476"/>
            <a:chOff x="0" y="0"/>
            <a:chExt cx="11778632" cy="1326603"/>
          </a:xfrm>
        </p:grpSpPr>
        <p:sp>
          <p:nvSpPr>
            <p:cNvPr id="596" name="Google Shape;596;g3dc21de9d46_1_18"/>
            <p:cNvSpPr/>
            <p:nvPr/>
          </p:nvSpPr>
          <p:spPr>
            <a:xfrm>
              <a:off x="0" y="0"/>
              <a:ext cx="11741645" cy="1280541"/>
            </a:xfrm>
            <a:custGeom>
              <a:rect b="b" l="l" r="r" t="t"/>
              <a:pathLst>
                <a:path extrusionOk="0" h="1280541" w="11741645">
                  <a:moveTo>
                    <a:pt x="0" y="221869"/>
                  </a:moveTo>
                  <a:cubicBezTo>
                    <a:pt x="0" y="99187"/>
                    <a:pt x="103161" y="0"/>
                    <a:pt x="229850" y="0"/>
                  </a:cubicBezTo>
                  <a:lnTo>
                    <a:pt x="11511900" y="0"/>
                  </a:lnTo>
                  <a:lnTo>
                    <a:pt x="11511900" y="12700"/>
                  </a:lnTo>
                  <a:lnTo>
                    <a:pt x="11511900" y="0"/>
                  </a:lnTo>
                  <a:cubicBezTo>
                    <a:pt x="11638589" y="0"/>
                    <a:pt x="11741645" y="99187"/>
                    <a:pt x="11741645" y="221869"/>
                  </a:cubicBezTo>
                  <a:lnTo>
                    <a:pt x="11728823" y="221869"/>
                  </a:lnTo>
                  <a:lnTo>
                    <a:pt x="11741645" y="221869"/>
                  </a:lnTo>
                  <a:lnTo>
                    <a:pt x="11741645" y="1058672"/>
                  </a:lnTo>
                  <a:lnTo>
                    <a:pt x="11728823" y="1058672"/>
                  </a:lnTo>
                  <a:lnTo>
                    <a:pt x="11741645" y="1058672"/>
                  </a:lnTo>
                  <a:cubicBezTo>
                    <a:pt x="11741645" y="1181481"/>
                    <a:pt x="11638589" y="1280541"/>
                    <a:pt x="11511900" y="1280541"/>
                  </a:cubicBezTo>
                  <a:lnTo>
                    <a:pt x="11511900" y="1267841"/>
                  </a:lnTo>
                  <a:lnTo>
                    <a:pt x="11511900" y="1280541"/>
                  </a:lnTo>
                  <a:lnTo>
                    <a:pt x="229850" y="1280541"/>
                  </a:lnTo>
                  <a:lnTo>
                    <a:pt x="229850" y="1267841"/>
                  </a:lnTo>
                  <a:lnTo>
                    <a:pt x="229850" y="1280541"/>
                  </a:lnTo>
                  <a:cubicBezTo>
                    <a:pt x="103161" y="1280541"/>
                    <a:pt x="0" y="1181481"/>
                    <a:pt x="0" y="1058672"/>
                  </a:cubicBezTo>
                  <a:lnTo>
                    <a:pt x="0" y="221869"/>
                  </a:lnTo>
                  <a:lnTo>
                    <a:pt x="12927" y="221869"/>
                  </a:lnTo>
                  <a:lnTo>
                    <a:pt x="0" y="221869"/>
                  </a:lnTo>
                  <a:moveTo>
                    <a:pt x="25855" y="221869"/>
                  </a:moveTo>
                  <a:lnTo>
                    <a:pt x="25855" y="1058672"/>
                  </a:lnTo>
                  <a:lnTo>
                    <a:pt x="12927" y="1058672"/>
                  </a:lnTo>
                  <a:lnTo>
                    <a:pt x="25855" y="1058672"/>
                  </a:lnTo>
                  <a:cubicBezTo>
                    <a:pt x="25855" y="1167003"/>
                    <a:pt x="116993" y="1255141"/>
                    <a:pt x="229850" y="1255141"/>
                  </a:cubicBezTo>
                  <a:lnTo>
                    <a:pt x="11511900" y="1255141"/>
                  </a:lnTo>
                  <a:cubicBezTo>
                    <a:pt x="11624756" y="1255141"/>
                    <a:pt x="11715896" y="1167003"/>
                    <a:pt x="11715896" y="1058672"/>
                  </a:cubicBezTo>
                  <a:lnTo>
                    <a:pt x="11715896" y="221869"/>
                  </a:lnTo>
                  <a:cubicBezTo>
                    <a:pt x="11715896" y="113538"/>
                    <a:pt x="11624756" y="25400"/>
                    <a:pt x="11511900" y="25400"/>
                  </a:cubicBezTo>
                  <a:lnTo>
                    <a:pt x="229850" y="25400"/>
                  </a:lnTo>
                  <a:lnTo>
                    <a:pt x="229850" y="12700"/>
                  </a:lnTo>
                  <a:lnTo>
                    <a:pt x="229850" y="25400"/>
                  </a:lnTo>
                  <a:cubicBezTo>
                    <a:pt x="116993" y="25400"/>
                    <a:pt x="25855" y="113538"/>
                    <a:pt x="25855" y="221869"/>
                  </a:cubicBezTo>
                  <a:close/>
                </a:path>
              </a:pathLst>
            </a:custGeom>
            <a:solidFill>
              <a:srgbClr val="A2958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g3dc21de9d46_1_18"/>
            <p:cNvSpPr txBox="1"/>
            <p:nvPr/>
          </p:nvSpPr>
          <p:spPr>
            <a:xfrm>
              <a:off x="239432" y="62403"/>
              <a:ext cx="11539200" cy="12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424953"/>
                  </a:solidFill>
                  <a:latin typeface="Times"/>
                  <a:ea typeface="Times"/>
                  <a:cs typeface="Times"/>
                  <a:sym typeface="Times"/>
                </a:rPr>
                <a:t>International Conference on Electrical, Computer and Communication Technologies (ECCT 2026)</a:t>
              </a:r>
              <a:endParaRPr sz="700"/>
            </a:p>
          </p:txBody>
        </p:sp>
      </p:grpSp>
      <p:sp>
        <p:nvSpPr>
          <p:cNvPr id="598" name="Google Shape;598;g3dc21de9d46_1_18"/>
          <p:cNvSpPr txBox="1"/>
          <p:nvPr>
            <p:ph idx="4294967295" type="title"/>
          </p:nvPr>
        </p:nvSpPr>
        <p:spPr>
          <a:xfrm>
            <a:off x="876450" y="1972450"/>
            <a:ext cx="73911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42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9" name="Google Shape;599;g3dc21de9d46_1_18" title="ECCT 26 logo.png"/>
          <p:cNvPicPr preferRelativeResize="0"/>
          <p:nvPr/>
        </p:nvPicPr>
        <p:blipFill rotWithShape="1">
          <a:blip r:embed="rId8">
            <a:alphaModFix/>
          </a:blip>
          <a:srcRect b="22650" l="0" r="0" t="22601"/>
          <a:stretch/>
        </p:blipFill>
        <p:spPr>
          <a:xfrm>
            <a:off x="7900875" y="435025"/>
            <a:ext cx="1301098" cy="5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