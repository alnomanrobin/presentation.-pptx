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4630400" cy="8229600"/>
  <p:notesSz cx="8229600" cy="14630400"/>
  <p:embeddedFontLst>
    <p:embeddedFont>
      <p:font typeface="Bahnschrift Light" panose="020B0502040204020203" pitchFamily="34" charset="0"/>
      <p:regular r:id="rId14"/>
    </p:embeddedFont>
    <p:embeddedFont>
      <p:font typeface="Baskerville Old Face" panose="02020602080505020303" pitchFamily="18" charset="0"/>
      <p:regular r:id="rId15"/>
    </p:embeddedFont>
    <p:embeddedFont>
      <p:font typeface="Bell MT" panose="02020503060305020303" pitchFamily="18" charset="0"/>
      <p:regular r:id="rId16"/>
      <p:bold r:id="rId17"/>
      <p: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elasio" pitchFamily="2" charset="0"/>
      <p:regular r:id="rId23"/>
    </p:embeddedFont>
    <p:embeddedFont>
      <p:font typeface="Gelasio Semi Bold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CD0"/>
    <a:srgbClr val="FEF6E6"/>
    <a:srgbClr val="FCFEE6"/>
    <a:srgbClr val="FCF0C4"/>
    <a:srgbClr val="F2F3CD"/>
    <a:srgbClr val="EDF2BC"/>
    <a:srgbClr val="C2FA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18" Type="http://schemas.openxmlformats.org/officeDocument/2006/relationships/font" Target="fonts/font5.fntdata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8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4.fntdata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3.fntdata" /><Relationship Id="rId20" Type="http://schemas.openxmlformats.org/officeDocument/2006/relationships/font" Target="fonts/font7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1.fntdata" /><Relationship Id="rId5" Type="http://schemas.openxmlformats.org/officeDocument/2006/relationships/slide" Target="slides/slide4.xml" /><Relationship Id="rId15" Type="http://schemas.openxmlformats.org/officeDocument/2006/relationships/font" Target="fonts/font2.fntdata" /><Relationship Id="rId23" Type="http://schemas.openxmlformats.org/officeDocument/2006/relationships/font" Target="fonts/font10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font" Target="fonts/font6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1.fntdata" /><Relationship Id="rId22" Type="http://schemas.openxmlformats.org/officeDocument/2006/relationships/font" Target="fonts/font9.fntdata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756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04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8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9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69392" y="1785138"/>
            <a:ext cx="80606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Gelasio" panose="020B0604020202020204" charset="0"/>
                <a:cs typeface="Gelasio" panose="020B0604020202020204" charset="0"/>
              </a:rPr>
              <a:t>Dhaka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8915" y="2582731"/>
            <a:ext cx="7285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Course Name : Software Development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2155" y="3831412"/>
            <a:ext cx="8962610" cy="33545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804442" y="4356848"/>
            <a:ext cx="4403045" cy="9144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2681" y="4392208"/>
            <a:ext cx="3866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Gelasio" panose="020B0604020202020204" charset="0"/>
                <a:cs typeface="Gelasio" panose="020B0604020202020204" charset="0"/>
              </a:rPr>
              <a:t>Turbo Gear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0912" y="6459066"/>
            <a:ext cx="328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MD. </a:t>
            </a:r>
            <a:r>
              <a:rPr lang="en-US" sz="2000" dirty="0" err="1">
                <a:latin typeface="Baskerville Old Face" panose="02020602080505020303" pitchFamily="18" charset="0"/>
              </a:rPr>
              <a:t>Johir</a:t>
            </a:r>
            <a:r>
              <a:rPr lang="en-US" sz="2000" dirty="0">
                <a:latin typeface="Baskerville Old Face" panose="02020602080505020303" pitchFamily="18" charset="0"/>
              </a:rPr>
              <a:t> Khan </a:t>
            </a:r>
            <a:r>
              <a:rPr lang="en-US" sz="2000" dirty="0" err="1">
                <a:latin typeface="Baskerville Old Face" panose="02020602080505020303" pitchFamily="18" charset="0"/>
              </a:rPr>
              <a:t>Tonmoy</a:t>
            </a:r>
            <a:r>
              <a:rPr lang="en-US" sz="2000" dirty="0">
                <a:latin typeface="Baskerville Old Face" panose="02020602080505020303" pitchFamily="18" charset="0"/>
              </a:rPr>
              <a:t>(36)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0913" y="5504189"/>
            <a:ext cx="328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Baskerville Old Face" panose="02020602080505020303" pitchFamily="18" charset="0"/>
              </a:rPr>
              <a:t>Sumaiya</a:t>
            </a:r>
            <a:r>
              <a:rPr lang="en-US" sz="2000" dirty="0">
                <a:latin typeface="Baskerville Old Face" panose="02020602080505020303" pitchFamily="18" charset="0"/>
              </a:rPr>
              <a:t> Rahman Ava (03)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1" y="5979994"/>
            <a:ext cx="2782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skerville Old Face" panose="02020602080505020303" pitchFamily="18" charset="0"/>
              </a:rPr>
              <a:t>AL </a:t>
            </a:r>
            <a:r>
              <a:rPr lang="en-US" sz="2000" dirty="0" err="1">
                <a:latin typeface="Baskerville Old Face" panose="02020602080505020303" pitchFamily="18" charset="0"/>
              </a:rPr>
              <a:t>Noman</a:t>
            </a:r>
            <a:r>
              <a:rPr lang="en-US" sz="2000" dirty="0">
                <a:latin typeface="Baskerville Old Face" panose="02020602080505020303" pitchFamily="18" charset="0"/>
              </a:rPr>
              <a:t> Robin (19)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3940" y="7455020"/>
            <a:ext cx="2395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DATE : 18/04/2026</a:t>
            </a:r>
          </a:p>
        </p:txBody>
      </p:sp>
      <p:pic>
        <p:nvPicPr>
          <p:cNvPr id="3074" name="Picture 2" descr="DIU - Students - Apps on Google Pl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106" y="311989"/>
            <a:ext cx="1393499" cy="139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56184" y="3957867"/>
            <a:ext cx="1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Presented 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726" y="3072548"/>
            <a:ext cx="593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Name : Data Drift</a:t>
            </a:r>
          </a:p>
        </p:txBody>
      </p:sp>
    </p:spTree>
    <p:extLst>
      <p:ext uri="{BB962C8B-B14F-4D97-AF65-F5344CB8AC3E}">
        <p14:creationId xmlns:p14="http://schemas.microsoft.com/office/powerpoint/2010/main" val="319552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904459" y="437322"/>
            <a:ext cx="12543183" cy="728538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935895" y="864706"/>
            <a:ext cx="6480312" cy="13020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Session Outline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1557" y="3347781"/>
            <a:ext cx="8696739" cy="38365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Introduction</a:t>
            </a:r>
            <a:b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Literature Review</a:t>
            </a:r>
            <a:b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Problem Statement &amp; Motivation </a:t>
            </a:r>
            <a:b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‌Objective &amp; Possible outcome</a:t>
            </a:r>
          </a:p>
          <a:p>
            <a:pPr lvl="2"/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Proposed Methodology </a:t>
            </a:r>
            <a:b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3200" dirty="0">
                <a:solidFill>
                  <a:schemeClr val="tx1"/>
                </a:solidFill>
                <a:latin typeface="Bell MT" panose="02020503060305020303" pitchFamily="18" charset="0"/>
              </a:rPr>
              <a:t>‌References</a:t>
            </a:r>
          </a:p>
        </p:txBody>
      </p:sp>
      <p:sp>
        <p:nvSpPr>
          <p:cNvPr id="20" name="Text 0"/>
          <p:cNvSpPr/>
          <p:nvPr/>
        </p:nvSpPr>
        <p:spPr>
          <a:xfrm>
            <a:off x="6459867" y="2483438"/>
            <a:ext cx="1800117" cy="86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TAR-3  </a:t>
            </a:r>
            <a:endParaRPr lang="en-US" sz="4450" b="1" dirty="0"/>
          </a:p>
        </p:txBody>
      </p:sp>
    </p:spTree>
    <p:extLst>
      <p:ext uri="{BB962C8B-B14F-4D97-AF65-F5344CB8AC3E}">
        <p14:creationId xmlns:p14="http://schemas.microsoft.com/office/powerpoint/2010/main" val="244168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503" y="1902155"/>
            <a:ext cx="7942706" cy="1190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Training Assessment Report(TAR) Platform</a:t>
            </a:r>
            <a:endParaRPr lang="en-US" sz="2800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955165" y="3418081"/>
            <a:ext cx="80130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secure, data-driven platform that evaluates performance, ranks people, and assigns tasks automatically—all in one centralized system for efficient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76244" y="7702826"/>
            <a:ext cx="954156" cy="526774"/>
          </a:xfrm>
          <a:prstGeom prst="roundRect">
            <a:avLst/>
          </a:prstGeom>
          <a:solidFill>
            <a:srgbClr val="FEF6E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Shape 0"/>
          <p:cNvSpPr/>
          <p:nvPr/>
        </p:nvSpPr>
        <p:spPr>
          <a:xfrm>
            <a:off x="1201460" y="471591"/>
            <a:ext cx="2446202" cy="408131"/>
          </a:xfrm>
          <a:prstGeom prst="roundRect">
            <a:avLst>
              <a:gd name="adj" fmla="val 6899"/>
            </a:avLst>
          </a:prstGeom>
          <a:solidFill>
            <a:srgbClr val="FCECD0"/>
          </a:solidFill>
          <a:ln/>
        </p:spPr>
      </p:sp>
      <p:sp>
        <p:nvSpPr>
          <p:cNvPr id="11" name="TextBox 10"/>
          <p:cNvSpPr txBox="1"/>
          <p:nvPr/>
        </p:nvSpPr>
        <p:spPr>
          <a:xfrm>
            <a:off x="1582886" y="453023"/>
            <a:ext cx="2064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ahnschrift Light" panose="020B0502040204020203" pitchFamily="34" charset="0"/>
              </a:rPr>
              <a:t>Introduction</a:t>
            </a:r>
            <a:endParaRPr lang="en-US" b="1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59" y="397565"/>
            <a:ext cx="2674801" cy="408131"/>
          </a:xfrm>
          <a:prstGeom prst="roundRect">
            <a:avLst>
              <a:gd name="adj" fmla="val 6899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07783" y="529647"/>
            <a:ext cx="1584504" cy="222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LITERATURE REVIEW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01460" y="861060"/>
            <a:ext cx="7828836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Evolution of Personnel Systems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785191" y="1622464"/>
            <a:ext cx="6537510" cy="6109693"/>
          </a:xfrm>
          <a:prstGeom prst="roundRect">
            <a:avLst>
              <a:gd name="adj" fmla="val 43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1201460" y="4552122"/>
            <a:ext cx="5798225" cy="2087217"/>
          </a:xfrm>
          <a:prstGeom prst="roundRect">
            <a:avLst>
              <a:gd name="adj" fmla="val 2952"/>
            </a:avLst>
          </a:prstGeom>
          <a:solidFill>
            <a:srgbClr val="E2D9C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59" y="4829158"/>
            <a:ext cx="221456" cy="177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9806" y="4766641"/>
            <a:ext cx="4961531" cy="1803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Gap</a:t>
            </a:r>
            <a:r>
              <a:rPr lang="en-US" sz="13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</a:t>
            </a:r>
            <a:br>
              <a:rPr lang="en-US" sz="135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2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unified system combining performance evaluation + personnel classification + smart task assignment.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412388" y="1450306"/>
            <a:ext cx="6152555" cy="6109692"/>
          </a:xfrm>
          <a:prstGeom prst="roundRect">
            <a:avLst>
              <a:gd name="adj" fmla="val 435"/>
            </a:avLst>
          </a:prstGeom>
          <a:solidFill>
            <a:srgbClr val="99551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448" y="1778198"/>
            <a:ext cx="5798225" cy="5798225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448" y="1778198"/>
            <a:ext cx="5798225" cy="5953959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1111772" y="2683392"/>
            <a:ext cx="58843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lasio" panose="020B0604020202020204" charset="0"/>
                <a:cs typeface="Gelasio" panose="020B0604020202020204" charset="0"/>
              </a:rPr>
              <a:t>Personnel systems improved over time, but none combine evaluation, classification, and task assignment in one platform.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12660" y="7659210"/>
            <a:ext cx="1879520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461028"/>
            <a:ext cx="2506001" cy="426244"/>
          </a:xfrm>
          <a:prstGeom prst="roundRect">
            <a:avLst>
              <a:gd name="adj" fmla="val 6386"/>
            </a:avLst>
          </a:prstGeom>
          <a:solidFill>
            <a:srgbClr val="FAA1A1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3529013"/>
            <a:ext cx="20352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3790" y="3977997"/>
            <a:ext cx="10722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Why the Current Approach Falls Short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30436" y="5026938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FAA1A1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5253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5834896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processes lead to slow, inconsistent decisions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Human bias and data-entry errors skew evaluations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Poor skill-to-task matching wastes personnel potential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centralized data repository for cross-unit visibility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36168" y="5026938"/>
            <a:ext cx="6571417" cy="2576751"/>
          </a:xfrm>
          <a:prstGeom prst="roundRect">
            <a:avLst>
              <a:gd name="adj" fmla="val 1320"/>
            </a:avLst>
          </a:prstGeom>
          <a:solidFill>
            <a:srgbClr val="AFCBF8"/>
          </a:solidFill>
          <a:ln/>
        </p:spPr>
      </p:sp>
      <p:sp>
        <p:nvSpPr>
          <p:cNvPr id="10" name="Text 7"/>
          <p:cNvSpPr/>
          <p:nvPr/>
        </p:nvSpPr>
        <p:spPr>
          <a:xfrm>
            <a:off x="7662982" y="5253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The Motivation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62982" y="5834896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 repetitive evaluation workflows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 data-driven, objective decision-making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operational efficiency and accuracy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 real-time insights to commanders</a:t>
            </a:r>
            <a:endParaRPr lang="en-US" sz="1750" dirty="0"/>
          </a:p>
        </p:txBody>
      </p:sp>
      <p:sp>
        <p:nvSpPr>
          <p:cNvPr id="12" name="Rounded Rectangle 11"/>
          <p:cNvSpPr/>
          <p:nvPr/>
        </p:nvSpPr>
        <p:spPr>
          <a:xfrm>
            <a:off x="12712660" y="7659210"/>
            <a:ext cx="1879520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1" y="844826"/>
            <a:ext cx="2910897" cy="509153"/>
          </a:xfrm>
          <a:prstGeom prst="roundRect">
            <a:avLst>
              <a:gd name="adj" fmla="val 6489"/>
            </a:avLst>
          </a:prstGeom>
          <a:solidFill>
            <a:srgbClr val="AEE4BD"/>
          </a:solidFill>
          <a:ln/>
        </p:spPr>
      </p:sp>
      <p:sp>
        <p:nvSpPr>
          <p:cNvPr id="3" name="Text 1"/>
          <p:cNvSpPr/>
          <p:nvPr/>
        </p:nvSpPr>
        <p:spPr>
          <a:xfrm>
            <a:off x="956928" y="1005761"/>
            <a:ext cx="271061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 &amp; OUTCOMES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6642" y="1436370"/>
            <a:ext cx="13064490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What We Set Out to Build — and What It Delivers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62711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Objectives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59111" y="3196709"/>
            <a:ext cx="382655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Performance-Based Ranking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459111" y="3740468"/>
            <a:ext cx="627459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 scores from training, fitness, and discipline data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59111" y="4490323"/>
            <a:ext cx="31539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Smart Task Assignment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459111" y="5034082"/>
            <a:ext cx="627459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Algorithm-driven matching of skills to mission requirements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59111" y="5783937"/>
            <a:ext cx="403955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Centralized Data Management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459111" y="6327696"/>
            <a:ext cx="627459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source of truth across all units and roles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113038" y="2421136"/>
            <a:ext cx="5924074" cy="4854178"/>
          </a:xfrm>
          <a:prstGeom prst="roundRect">
            <a:avLst>
              <a:gd name="adj" fmla="val 668"/>
            </a:avLst>
          </a:prstGeom>
          <a:solidFill>
            <a:srgbClr val="FFD1A7"/>
          </a:solidFill>
          <a:ln/>
        </p:spPr>
      </p:sp>
      <p:sp>
        <p:nvSpPr>
          <p:cNvPr id="16" name="Text 11"/>
          <p:cNvSpPr/>
          <p:nvPr/>
        </p:nvSpPr>
        <p:spPr>
          <a:xfrm>
            <a:off x="8329136" y="262711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Expected Outcomes</a:t>
            </a:r>
            <a:endParaRPr lang="en-US" sz="2100" dirty="0"/>
          </a:p>
        </p:txBody>
      </p:sp>
      <p:sp>
        <p:nvSpPr>
          <p:cNvPr id="17" name="Shape 12"/>
          <p:cNvSpPr/>
          <p:nvPr/>
        </p:nvSpPr>
        <p:spPr>
          <a:xfrm>
            <a:off x="8329136" y="3196709"/>
            <a:ext cx="2642949" cy="1651516"/>
          </a:xfrm>
          <a:prstGeom prst="roundRect">
            <a:avLst>
              <a:gd name="adj" fmla="val 1964"/>
            </a:avLst>
          </a:prstGeom>
          <a:solidFill>
            <a:srgbClr val="EEE8DD"/>
          </a:solidFill>
          <a:ln/>
        </p:spPr>
      </p:sp>
      <p:sp>
        <p:nvSpPr>
          <p:cNvPr id="18" name="Text 13"/>
          <p:cNvSpPr/>
          <p:nvPr/>
        </p:nvSpPr>
        <p:spPr>
          <a:xfrm>
            <a:off x="8545235" y="3412807"/>
            <a:ext cx="221075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40–50% Faster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545235" y="3956566"/>
            <a:ext cx="221075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Task assignment speed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11178064" y="3196709"/>
            <a:ext cx="2642949" cy="1651516"/>
          </a:xfrm>
          <a:prstGeom prst="roundRect">
            <a:avLst>
              <a:gd name="adj" fmla="val 1964"/>
            </a:avLst>
          </a:prstGeom>
          <a:solidFill>
            <a:srgbClr val="EEE8DD"/>
          </a:solidFill>
          <a:ln/>
        </p:spPr>
      </p:sp>
      <p:sp>
        <p:nvSpPr>
          <p:cNvPr id="21" name="Text 16"/>
          <p:cNvSpPr/>
          <p:nvPr/>
        </p:nvSpPr>
        <p:spPr>
          <a:xfrm>
            <a:off x="11394162" y="3412807"/>
            <a:ext cx="221075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Higher Accuracy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11394162" y="4294346"/>
            <a:ext cx="221075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Reduced human error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329136" y="5054203"/>
            <a:ext cx="2642949" cy="1989296"/>
          </a:xfrm>
          <a:prstGeom prst="roundRect">
            <a:avLst>
              <a:gd name="adj" fmla="val 1630"/>
            </a:avLst>
          </a:prstGeom>
          <a:solidFill>
            <a:srgbClr val="EEE8DD"/>
          </a:solidFill>
          <a:ln/>
        </p:spPr>
      </p:sp>
      <p:sp>
        <p:nvSpPr>
          <p:cNvPr id="24" name="Text 19"/>
          <p:cNvSpPr/>
          <p:nvPr/>
        </p:nvSpPr>
        <p:spPr>
          <a:xfrm>
            <a:off x="8545235" y="5270302"/>
            <a:ext cx="221075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Better Utilization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45235" y="6151840"/>
            <a:ext cx="221075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Optimal resource matching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11178064" y="5054203"/>
            <a:ext cx="2642949" cy="1989296"/>
          </a:xfrm>
          <a:prstGeom prst="roundRect">
            <a:avLst>
              <a:gd name="adj" fmla="val 1630"/>
            </a:avLst>
          </a:prstGeom>
          <a:solidFill>
            <a:srgbClr val="EEE8DD"/>
          </a:solidFill>
          <a:ln/>
        </p:spPr>
      </p:sp>
      <p:sp>
        <p:nvSpPr>
          <p:cNvPr id="27" name="Text 22"/>
          <p:cNvSpPr/>
          <p:nvPr/>
        </p:nvSpPr>
        <p:spPr>
          <a:xfrm>
            <a:off x="11394162" y="5270302"/>
            <a:ext cx="221075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Real-Time Insights</a:t>
            </a:r>
            <a:endParaRPr lang="en-US" sz="2100" dirty="0"/>
          </a:p>
        </p:txBody>
      </p:sp>
      <p:sp>
        <p:nvSpPr>
          <p:cNvPr id="28" name="Text 23"/>
          <p:cNvSpPr/>
          <p:nvPr/>
        </p:nvSpPr>
        <p:spPr>
          <a:xfrm>
            <a:off x="11394162" y="6151840"/>
            <a:ext cx="221075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analytics dashboard</a:t>
            </a:r>
            <a:endParaRPr lang="en-US" sz="17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99" y="3260367"/>
            <a:ext cx="323516" cy="32351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42" y="4544404"/>
            <a:ext cx="400573" cy="40057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80" y="5776261"/>
            <a:ext cx="456330" cy="45633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712660" y="7659210"/>
            <a:ext cx="1879520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2059" y="405917"/>
            <a:ext cx="2421422" cy="443268"/>
          </a:xfrm>
          <a:prstGeom prst="roundRect">
            <a:avLst>
              <a:gd name="adj" fmla="val 7559"/>
            </a:avLst>
          </a:prstGeom>
          <a:solidFill>
            <a:srgbClr val="FCEC99"/>
          </a:solidFill>
          <a:ln/>
        </p:spPr>
      </p:sp>
      <p:sp>
        <p:nvSpPr>
          <p:cNvPr id="3" name="Text 1"/>
          <p:cNvSpPr/>
          <p:nvPr/>
        </p:nvSpPr>
        <p:spPr>
          <a:xfrm>
            <a:off x="1434505" y="619209"/>
            <a:ext cx="2036530" cy="27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831496" y="480484"/>
            <a:ext cx="3587118" cy="67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Architecture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995" y="902367"/>
            <a:ext cx="8559165" cy="3917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96606" y="1433408"/>
            <a:ext cx="1463675" cy="244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API &amp; Frontend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596606" y="1745813"/>
            <a:ext cx="2086907" cy="29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logic, scoring engine, React UI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30221" y="2720896"/>
            <a:ext cx="1017815" cy="244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Layer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29427" y="3033301"/>
            <a:ext cx="1918608" cy="29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records and performance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596606" y="3385677"/>
            <a:ext cx="1347970" cy="244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Analytics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1596606" y="3698082"/>
            <a:ext cx="2086907" cy="29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 classification and task matching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99768" y="1822600"/>
            <a:ext cx="4229659" cy="216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TAR System follows a modular, scalable architecture. Each layer is independently maintainable, enabling rapid iteration and deployment across diverse operational environments.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434505" y="4842573"/>
            <a:ext cx="5671130" cy="1426766"/>
          </a:xfrm>
          <a:prstGeom prst="roundRect">
            <a:avLst>
              <a:gd name="adj" fmla="val 1730"/>
            </a:avLst>
          </a:prstGeom>
          <a:solidFill>
            <a:srgbClr val="EEE8DD"/>
          </a:solidFill>
          <a:ln/>
        </p:spPr>
      </p:sp>
      <p:sp>
        <p:nvSpPr>
          <p:cNvPr id="14" name="Shape 11"/>
          <p:cNvSpPr/>
          <p:nvPr/>
        </p:nvSpPr>
        <p:spPr>
          <a:xfrm>
            <a:off x="1967444" y="5260778"/>
            <a:ext cx="843381" cy="773212"/>
          </a:xfrm>
          <a:prstGeom prst="roundRect">
            <a:avLst>
              <a:gd name="adj" fmla="val 24573563"/>
            </a:avLst>
          </a:prstGeom>
          <a:solidFill>
            <a:srgbClr val="D3C5B6"/>
          </a:solidFill>
          <a:ln/>
        </p:spPr>
      </p:sp>
      <p:sp>
        <p:nvSpPr>
          <p:cNvPr id="16" name="Text 12"/>
          <p:cNvSpPr/>
          <p:nvPr/>
        </p:nvSpPr>
        <p:spPr>
          <a:xfrm>
            <a:off x="4002337" y="5387432"/>
            <a:ext cx="1550551" cy="18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3987124" y="5755895"/>
            <a:ext cx="1942212" cy="221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system control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173381" y="4844303"/>
            <a:ext cx="6138386" cy="1425146"/>
          </a:xfrm>
          <a:prstGeom prst="roundRect">
            <a:avLst>
              <a:gd name="adj" fmla="val 1730"/>
            </a:avLst>
          </a:prstGeom>
          <a:solidFill>
            <a:srgbClr val="EEE8DD"/>
          </a:solidFill>
          <a:ln/>
        </p:spPr>
      </p:sp>
      <p:sp>
        <p:nvSpPr>
          <p:cNvPr id="21" name="Text 16"/>
          <p:cNvSpPr/>
          <p:nvPr/>
        </p:nvSpPr>
        <p:spPr>
          <a:xfrm>
            <a:off x="9356391" y="5461736"/>
            <a:ext cx="1772366" cy="349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1F713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Trainer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9356391" y="5849273"/>
            <a:ext cx="3997881" cy="143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Input &amp; scoring</a:t>
            </a: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1434505" y="6524012"/>
            <a:ext cx="5671130" cy="1233229"/>
          </a:xfrm>
          <a:prstGeom prst="roundRect">
            <a:avLst>
              <a:gd name="adj" fmla="val 1730"/>
            </a:avLst>
          </a:prstGeom>
          <a:solidFill>
            <a:srgbClr val="EEE8DD"/>
          </a:solidFill>
          <a:ln/>
        </p:spPr>
      </p:sp>
      <p:sp>
        <p:nvSpPr>
          <p:cNvPr id="26" name="Text 20"/>
          <p:cNvSpPr/>
          <p:nvPr/>
        </p:nvSpPr>
        <p:spPr>
          <a:xfrm>
            <a:off x="3794667" y="6985946"/>
            <a:ext cx="1550551" cy="18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910D0D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Commander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3837982" y="7413511"/>
            <a:ext cx="1974256" cy="28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Task requests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7173381" y="6524012"/>
            <a:ext cx="6138386" cy="1233229"/>
          </a:xfrm>
          <a:prstGeom prst="roundRect">
            <a:avLst>
              <a:gd name="adj" fmla="val 1730"/>
            </a:avLst>
          </a:prstGeom>
          <a:solidFill>
            <a:srgbClr val="EEE8DD"/>
          </a:solidFill>
          <a:ln/>
        </p:spPr>
      </p:sp>
      <p:sp>
        <p:nvSpPr>
          <p:cNvPr id="31" name="Text 24"/>
          <p:cNvSpPr/>
          <p:nvPr/>
        </p:nvSpPr>
        <p:spPr>
          <a:xfrm>
            <a:off x="9430945" y="6990431"/>
            <a:ext cx="1550551" cy="181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204C8E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Viewer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9430945" y="7341343"/>
            <a:ext cx="3997881" cy="143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Read-only access</a:t>
            </a:r>
            <a:endParaRPr lang="en-US" sz="95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156" y="5325481"/>
            <a:ext cx="559956" cy="524146"/>
          </a:xfrm>
          <a:prstGeom prst="rect">
            <a:avLst/>
          </a:prstGeom>
        </p:spPr>
      </p:pic>
      <p:sp>
        <p:nvSpPr>
          <p:cNvPr id="36" name="Shape 11"/>
          <p:cNvSpPr/>
          <p:nvPr/>
        </p:nvSpPr>
        <p:spPr>
          <a:xfrm>
            <a:off x="7399600" y="5260778"/>
            <a:ext cx="843381" cy="773212"/>
          </a:xfrm>
          <a:prstGeom prst="roundRect">
            <a:avLst>
              <a:gd name="adj" fmla="val 24573563"/>
            </a:avLst>
          </a:prstGeom>
          <a:solidFill>
            <a:srgbClr val="D3C5B6"/>
          </a:solidFill>
          <a:ln/>
        </p:spPr>
      </p:sp>
      <p:sp>
        <p:nvSpPr>
          <p:cNvPr id="37" name="Shape 11"/>
          <p:cNvSpPr/>
          <p:nvPr/>
        </p:nvSpPr>
        <p:spPr>
          <a:xfrm>
            <a:off x="1967445" y="6758974"/>
            <a:ext cx="843381" cy="773212"/>
          </a:xfrm>
          <a:prstGeom prst="roundRect">
            <a:avLst>
              <a:gd name="adj" fmla="val 24573563"/>
            </a:avLst>
          </a:prstGeom>
          <a:solidFill>
            <a:srgbClr val="D3C5B6"/>
          </a:solidFill>
          <a:ln/>
        </p:spPr>
      </p:sp>
      <p:sp>
        <p:nvSpPr>
          <p:cNvPr id="38" name="Shape 11"/>
          <p:cNvSpPr/>
          <p:nvPr/>
        </p:nvSpPr>
        <p:spPr>
          <a:xfrm>
            <a:off x="7399600" y="6758974"/>
            <a:ext cx="843381" cy="773212"/>
          </a:xfrm>
          <a:prstGeom prst="roundRect">
            <a:avLst>
              <a:gd name="adj" fmla="val 24573563"/>
            </a:avLst>
          </a:prstGeom>
          <a:solidFill>
            <a:srgbClr val="D3C5B6"/>
          </a:solidFill>
          <a:ln/>
        </p:spPr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283" y="5327099"/>
            <a:ext cx="695055" cy="65060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49" y="6801704"/>
            <a:ext cx="664636" cy="62213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835" y="6750186"/>
            <a:ext cx="773212" cy="77321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2861235" y="7659210"/>
            <a:ext cx="1659835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182" y="357809"/>
            <a:ext cx="1823043" cy="504918"/>
          </a:xfrm>
          <a:prstGeom prst="roundRect">
            <a:avLst>
              <a:gd name="adj" fmla="val 6859"/>
            </a:avLst>
          </a:prstGeom>
          <a:solidFill>
            <a:srgbClr val="D8AFF8"/>
          </a:solidFill>
          <a:ln/>
        </p:spPr>
      </p:sp>
      <p:sp>
        <p:nvSpPr>
          <p:cNvPr id="3" name="Text 1"/>
          <p:cNvSpPr/>
          <p:nvPr/>
        </p:nvSpPr>
        <p:spPr>
          <a:xfrm>
            <a:off x="1187529" y="542329"/>
            <a:ext cx="1287314" cy="26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LOGIC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0618" y="808554"/>
            <a:ext cx="622387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How the TAR Engine Works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2" y="1710511"/>
            <a:ext cx="7952303" cy="45062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0714" y="1548586"/>
            <a:ext cx="4338757" cy="4830128"/>
          </a:xfrm>
          <a:prstGeom prst="roundRect">
            <a:avLst>
              <a:gd name="adj" fmla="val 625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9530714" y="1928514"/>
            <a:ext cx="2713077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 </a:t>
            </a: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Evaluation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530714" y="2354877"/>
            <a:ext cx="397728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Scores are computed across three weighted dimensions: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30714" y="3004006"/>
            <a:ext cx="4234981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proficiency</a:t>
            </a: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course completion and skill assessments</a:t>
            </a:r>
            <a:endParaRPr lang="en-US" sz="16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fitness</a:t>
            </a: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standardized test results</a:t>
            </a:r>
            <a:endParaRPr lang="en-US" sz="16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Discipline record</a:t>
            </a: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conduct and compliance history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30714" y="4547651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 Classification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530714" y="4974014"/>
            <a:ext cx="4234981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Smart Assignment: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system ingests personnel skills and task requirements, then outputs the best-fit candidate suggestion automatically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56120" y="6569570"/>
            <a:ext cx="12471916" cy="990005"/>
          </a:xfrm>
          <a:prstGeom prst="roundRect">
            <a:avLst>
              <a:gd name="adj" fmla="val 2739"/>
            </a:avLst>
          </a:prstGeom>
          <a:solidFill>
            <a:srgbClr val="EEE8D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9183" y="6583501"/>
            <a:ext cx="4157305" cy="990005"/>
          </a:xfrm>
          <a:prstGeom prst="roundRect">
            <a:avLst>
              <a:gd name="adj" fmla="val 2739"/>
            </a:avLst>
          </a:prstGeom>
          <a:solidFill>
            <a:srgbClr val="AFCBF8"/>
          </a:solidFill>
          <a:ln/>
        </p:spPr>
      </p:sp>
      <p:sp>
        <p:nvSpPr>
          <p:cNvPr id="14" name="Text 11"/>
          <p:cNvSpPr/>
          <p:nvPr/>
        </p:nvSpPr>
        <p:spPr>
          <a:xfrm>
            <a:off x="1259919" y="676423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TAR-1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259919" y="7132975"/>
            <a:ext cx="379583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Performer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36488" y="6583501"/>
            <a:ext cx="4157305" cy="990005"/>
          </a:xfrm>
          <a:prstGeom prst="rect">
            <a:avLst/>
          </a:prstGeom>
          <a:solidFill>
            <a:srgbClr val="AFCB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226962" y="6583650"/>
            <a:ext cx="22860" cy="990005"/>
          </a:xfrm>
          <a:prstGeom prst="roundRect">
            <a:avLst>
              <a:gd name="adj" fmla="val 118605"/>
            </a:avLst>
          </a:prstGeom>
          <a:solidFill>
            <a:srgbClr val="95B1DE"/>
          </a:solidFill>
          <a:ln/>
        </p:spPr>
      </p:sp>
      <p:sp>
        <p:nvSpPr>
          <p:cNvPr id="18" name="Text 15"/>
          <p:cNvSpPr/>
          <p:nvPr/>
        </p:nvSpPr>
        <p:spPr>
          <a:xfrm>
            <a:off x="5417225" y="676423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TAR-2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417225" y="7132975"/>
            <a:ext cx="379583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Medium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393793" y="6583501"/>
            <a:ext cx="4157305" cy="990005"/>
          </a:xfrm>
          <a:prstGeom prst="rect">
            <a:avLst/>
          </a:prstGeom>
          <a:solidFill>
            <a:srgbClr val="AFCBF8"/>
          </a:solidFill>
          <a:ln/>
        </p:spPr>
      </p:sp>
      <p:sp>
        <p:nvSpPr>
          <p:cNvPr id="21" name="Shape 18"/>
          <p:cNvSpPr/>
          <p:nvPr/>
        </p:nvSpPr>
        <p:spPr>
          <a:xfrm>
            <a:off x="9393793" y="6577648"/>
            <a:ext cx="22860" cy="990005"/>
          </a:xfrm>
          <a:prstGeom prst="roundRect">
            <a:avLst>
              <a:gd name="adj" fmla="val 118605"/>
            </a:avLst>
          </a:prstGeom>
          <a:solidFill>
            <a:srgbClr val="95B1DE"/>
          </a:solidFill>
          <a:ln/>
        </p:spPr>
      </p:sp>
      <p:sp>
        <p:nvSpPr>
          <p:cNvPr id="22" name="Text 19"/>
          <p:cNvSpPr/>
          <p:nvPr/>
        </p:nvSpPr>
        <p:spPr>
          <a:xfrm>
            <a:off x="9574530" y="676423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TAR-3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9574530" y="7132975"/>
            <a:ext cx="3795832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Basic</a:t>
            </a:r>
            <a:endParaRPr lang="en-US"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12801600" y="7682984"/>
            <a:ext cx="1790580" cy="4664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181" y="379572"/>
            <a:ext cx="3184705" cy="473154"/>
          </a:xfrm>
          <a:prstGeom prst="roundRect">
            <a:avLst>
              <a:gd name="adj" fmla="val 6859"/>
            </a:avLst>
          </a:prstGeom>
          <a:solidFill>
            <a:srgbClr val="FFA44F"/>
          </a:solidFill>
          <a:ln/>
        </p:spPr>
      </p:sp>
      <p:sp>
        <p:nvSpPr>
          <p:cNvPr id="3" name="Text 1"/>
          <p:cNvSpPr/>
          <p:nvPr/>
        </p:nvSpPr>
        <p:spPr>
          <a:xfrm>
            <a:off x="1187529" y="590669"/>
            <a:ext cx="1891784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FLOW &amp; STRENGTHS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43809" y="950308"/>
            <a:ext cx="839581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From Input to Assignment in Seconds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229" y="1343560"/>
            <a:ext cx="12072461" cy="45300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7640" y="4252978"/>
            <a:ext cx="1409301" cy="71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Suggest Candidate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333785" y="4252978"/>
            <a:ext cx="1132975" cy="71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Submit Request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730511" y="4428362"/>
            <a:ext cx="1591895" cy="36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Assign TAR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4552388" y="4268921"/>
            <a:ext cx="1326676" cy="71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Compute Score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2155874" y="4428672"/>
            <a:ext cx="1493680" cy="361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Input Data</a:t>
            </a:r>
            <a:endParaRPr lang="en-US" sz="2200" dirty="0"/>
          </a:p>
        </p:txBody>
      </p:sp>
      <p:sp>
        <p:nvSpPr>
          <p:cNvPr id="17" name="Shape 9"/>
          <p:cNvSpPr/>
          <p:nvPr/>
        </p:nvSpPr>
        <p:spPr>
          <a:xfrm>
            <a:off x="1056323" y="6736318"/>
            <a:ext cx="45720" cy="674251"/>
          </a:xfrm>
          <a:prstGeom prst="rect">
            <a:avLst/>
          </a:prstGeom>
          <a:solidFill>
            <a:srgbClr val="D8AFF8"/>
          </a:solidFill>
          <a:ln/>
        </p:spPr>
      </p:sp>
      <p:sp>
        <p:nvSpPr>
          <p:cNvPr id="18" name="Text 10"/>
          <p:cNvSpPr/>
          <p:nvPr/>
        </p:nvSpPr>
        <p:spPr>
          <a:xfrm>
            <a:off x="2081332" y="67591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Response Time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1305639" y="7127915"/>
            <a:ext cx="381083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processing speed</a:t>
            </a:r>
            <a:endParaRPr lang="en-US" dirty="0"/>
          </a:p>
        </p:txBody>
      </p:sp>
      <p:sp>
        <p:nvSpPr>
          <p:cNvPr id="20" name="Shape 12"/>
          <p:cNvSpPr/>
          <p:nvPr/>
        </p:nvSpPr>
        <p:spPr>
          <a:xfrm>
            <a:off x="5273635" y="6736318"/>
            <a:ext cx="45720" cy="674251"/>
          </a:xfrm>
          <a:prstGeom prst="rect">
            <a:avLst/>
          </a:prstGeom>
          <a:solidFill>
            <a:srgbClr val="F44444"/>
          </a:solidFill>
          <a:ln/>
        </p:spPr>
      </p:sp>
      <p:sp>
        <p:nvSpPr>
          <p:cNvPr id="21" name="Text 13"/>
          <p:cNvSpPr/>
          <p:nvPr/>
        </p:nvSpPr>
        <p:spPr>
          <a:xfrm>
            <a:off x="6298644" y="67591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Uptime</a:t>
            </a:r>
            <a:endParaRPr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5522952" y="7127915"/>
            <a:ext cx="381083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Reliable, always-on availability</a:t>
            </a:r>
            <a:endParaRPr lang="en-US" dirty="0"/>
          </a:p>
        </p:txBody>
      </p:sp>
      <p:sp>
        <p:nvSpPr>
          <p:cNvPr id="23" name="Shape 15"/>
          <p:cNvSpPr/>
          <p:nvPr/>
        </p:nvSpPr>
        <p:spPr>
          <a:xfrm>
            <a:off x="9490948" y="6736318"/>
            <a:ext cx="45720" cy="674251"/>
          </a:xfrm>
          <a:prstGeom prst="rect">
            <a:avLst/>
          </a:prstGeom>
          <a:solidFill>
            <a:srgbClr val="F9D933"/>
          </a:solidFill>
          <a:ln/>
        </p:spPr>
      </p:sp>
      <p:sp>
        <p:nvSpPr>
          <p:cNvPr id="24" name="Text 16"/>
          <p:cNvSpPr/>
          <p:nvPr/>
        </p:nvSpPr>
        <p:spPr>
          <a:xfrm>
            <a:off x="10515957" y="675917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Role Types</a:t>
            </a:r>
            <a:endParaRPr lang="en-US" sz="1750" dirty="0"/>
          </a:p>
        </p:txBody>
      </p:sp>
      <p:sp>
        <p:nvSpPr>
          <p:cNvPr id="25" name="Text 17"/>
          <p:cNvSpPr/>
          <p:nvPr/>
        </p:nvSpPr>
        <p:spPr>
          <a:xfrm>
            <a:off x="9740265" y="7127915"/>
            <a:ext cx="381083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Granular, secure access control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305639" y="5352061"/>
            <a:ext cx="3655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end-to-end workflow completes in under two seconds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995115" y="5397745"/>
            <a:ext cx="3655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from data entry to actionable assignment recommendation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188121" y="5433652"/>
            <a:ext cx="3655420" cy="61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with full audit logging at every step</a:t>
            </a:r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819912" y="5673638"/>
            <a:ext cx="894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9184048" y="5611534"/>
            <a:ext cx="9329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712660" y="7659210"/>
            <a:ext cx="1879520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1" y="576739"/>
            <a:ext cx="1748020" cy="432673"/>
          </a:xfrm>
          <a:prstGeom prst="roundRect">
            <a:avLst>
              <a:gd name="adj" fmla="val 6489"/>
            </a:avLst>
          </a:prstGeom>
          <a:solidFill>
            <a:srgbClr val="5CC97B"/>
          </a:solidFill>
          <a:ln/>
        </p:spPr>
      </p:sp>
      <p:sp>
        <p:nvSpPr>
          <p:cNvPr id="3" name="Text 1"/>
          <p:cNvSpPr/>
          <p:nvPr/>
        </p:nvSpPr>
        <p:spPr>
          <a:xfrm>
            <a:off x="886301" y="674370"/>
            <a:ext cx="1459334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6642" y="1091803"/>
            <a:ext cx="909232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Takeaways &amp; The Road Ahead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28254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What TAR Delivers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56642" y="2852142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F9F6F0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162" y="2852142"/>
            <a:ext cx="121920" cy="1374696"/>
          </a:xfrm>
          <a:prstGeom prst="roundRect">
            <a:avLst>
              <a:gd name="adj" fmla="val 26599"/>
            </a:avLst>
          </a:prstGeom>
          <a:solidFill>
            <a:srgbClr val="5E208E"/>
          </a:solidFill>
          <a:ln/>
        </p:spPr>
      </p:sp>
      <p:sp>
        <p:nvSpPr>
          <p:cNvPr id="8" name="Text 6"/>
          <p:cNvSpPr/>
          <p:nvPr/>
        </p:nvSpPr>
        <p:spPr>
          <a:xfrm>
            <a:off x="1094661" y="3098721"/>
            <a:ext cx="321159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Automated &amp; Intelligent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94661" y="3642479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Eliminates manual bias and delays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6642" y="4432816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F9F6F0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162" y="4432816"/>
            <a:ext cx="121920" cy="1374696"/>
          </a:xfrm>
          <a:prstGeom prst="roundRect">
            <a:avLst>
              <a:gd name="adj" fmla="val 26599"/>
            </a:avLst>
          </a:prstGeom>
          <a:solidFill>
            <a:srgbClr val="5E208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4661" y="467939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Accurate &amp; Efficient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94661" y="5223153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40–50% faster task assignment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56642" y="6013490"/>
            <a:ext cx="6294834" cy="1374696"/>
          </a:xfrm>
          <a:prstGeom prst="roundRect">
            <a:avLst>
              <a:gd name="adj" fmla="val 10643"/>
            </a:avLst>
          </a:prstGeom>
          <a:solidFill>
            <a:srgbClr val="F9F6F0"/>
          </a:solidFill>
          <a:ln w="30480">
            <a:solidFill>
              <a:srgbClr val="5E20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162" y="6013490"/>
            <a:ext cx="121920" cy="1374696"/>
          </a:xfrm>
          <a:prstGeom prst="roundRect">
            <a:avLst>
              <a:gd name="adj" fmla="val 26599"/>
            </a:avLst>
          </a:prstGeom>
          <a:solidFill>
            <a:srgbClr val="5E208E"/>
          </a:solidFill>
          <a:ln/>
        </p:spPr>
      </p:sp>
      <p:sp>
        <p:nvSpPr>
          <p:cNvPr id="16" name="Text 14"/>
          <p:cNvSpPr/>
          <p:nvPr/>
        </p:nvSpPr>
        <p:spPr>
          <a:xfrm>
            <a:off x="1094661" y="626006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Real-World Ready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94661" y="6803827"/>
            <a:ext cx="57102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 architecture for operational deployment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30810" y="2076569"/>
            <a:ext cx="6606302" cy="5543431"/>
          </a:xfrm>
          <a:prstGeom prst="roundRect">
            <a:avLst>
              <a:gd name="adj" fmla="val 585"/>
            </a:avLst>
          </a:prstGeom>
          <a:solidFill>
            <a:srgbClr val="AEE4BD"/>
          </a:solidFill>
          <a:ln/>
        </p:spPr>
      </p:sp>
      <p:sp>
        <p:nvSpPr>
          <p:cNvPr id="19" name="Text 17"/>
          <p:cNvSpPr/>
          <p:nvPr/>
        </p:nvSpPr>
        <p:spPr>
          <a:xfrm>
            <a:off x="7646908" y="228254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Scope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46908" y="2826306"/>
            <a:ext cx="6174105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AI-based personalized recommendation engine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Predictive analytics for readiness forecasting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mobile tracking and notifications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646908" y="4269462"/>
            <a:ext cx="6174105" cy="16193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46908" y="457140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646908" y="5115163"/>
            <a:ext cx="6174105" cy="1157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 System Product Requirements Document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Decision Support Systems — Academic Research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Personnel Evaluation Frameworks</a:t>
            </a:r>
            <a:endParaRPr lang="en-US" sz="1700" dirty="0"/>
          </a:p>
        </p:txBody>
      </p:sp>
      <p:sp>
        <p:nvSpPr>
          <p:cNvPr id="24" name="Rounded Rectangle 23"/>
          <p:cNvSpPr/>
          <p:nvPr/>
        </p:nvSpPr>
        <p:spPr>
          <a:xfrm>
            <a:off x="12712660" y="7659210"/>
            <a:ext cx="1879520" cy="4902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  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his may contain: a cat sitting on top of a table next to a pain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468" y="0"/>
            <a:ext cx="5222304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ular Callout 3"/>
          <p:cNvSpPr/>
          <p:nvPr/>
        </p:nvSpPr>
        <p:spPr>
          <a:xfrm rot="16200000">
            <a:off x="1054556" y="284387"/>
            <a:ext cx="6661107" cy="7224446"/>
          </a:xfrm>
          <a:prstGeom prst="wedgeRoundRectCallou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298371" y="2743200"/>
            <a:ext cx="3995058" cy="7511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53886" y="5236028"/>
            <a:ext cx="6466114" cy="71845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53886" y="1111499"/>
            <a:ext cx="684344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dirty="0">
                <a:latin typeface="Gelasio" panose="020B0604020202020204" charset="0"/>
                <a:cs typeface="Gelasio" panose="020B0604020202020204" charset="0"/>
              </a:rPr>
              <a:t>Any questions? If yes, Please submit them directly to your inner overthinking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447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534</Words>
  <Application>Microsoft Office PowerPoint</Application>
  <PresentationFormat>Custom</PresentationFormat>
  <Paragraphs>133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Alnoman Robin</cp:lastModifiedBy>
  <cp:revision>20</cp:revision>
  <dcterms:created xsi:type="dcterms:W3CDTF">2026-04-17T03:49:52Z</dcterms:created>
  <dcterms:modified xsi:type="dcterms:W3CDTF">2026-04-18T08:42:42Z</dcterms:modified>
</cp:coreProperties>
</file>