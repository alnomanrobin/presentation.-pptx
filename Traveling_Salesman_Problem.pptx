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7" r:id="rId10"/>
    <p:sldId id="277" r:id="rId11"/>
    <p:sldId id="269" r:id="rId12"/>
    <p:sldId id="275" r:id="rId13"/>
    <p:sldId id="276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-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202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61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01224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449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8275320"/>
            <a:ext cx="1298448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17320" y="8577072"/>
            <a:ext cx="323697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1417320" y="8988552"/>
            <a:ext cx="3236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endParaRPr lang="en-US" sz="1390" dirty="0"/>
          </a:p>
        </p:txBody>
      </p:sp>
      <p:sp>
        <p:nvSpPr>
          <p:cNvPr id="8" name="Text 2"/>
          <p:cNvSpPr/>
          <p:nvPr/>
        </p:nvSpPr>
        <p:spPr>
          <a:xfrm>
            <a:off x="832104" y="3456432"/>
            <a:ext cx="12984480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70"/>
              </a:lnSpc>
              <a:buNone/>
            </a:pPr>
            <a:r>
              <a:rPr lang="en-US" sz="641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Traveling Salesman Problem: Greedy, Dynamic Programming, Backtracking &amp; Pruning</a:t>
            </a:r>
            <a:endParaRPr lang="en-US" sz="64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41248" y="3554865"/>
            <a:ext cx="7397496" cy="1247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</a:rPr>
              <a:t>Presented By: Team TSP Troopers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dk1"/>
                </a:solidFill>
              </a:rPr>
              <a:t>Members are: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</a:rPr>
              <a:t>Ava-03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Mizan-15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</a:rPr>
              <a:t>Robin-19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</a:rPr>
              <a:t>Tonmoy-36</a:t>
            </a:r>
          </a:p>
        </p:txBody>
      </p:sp>
      <p:sp>
        <p:nvSpPr>
          <p:cNvPr id="6" name="Text 1"/>
          <p:cNvSpPr/>
          <p:nvPr/>
        </p:nvSpPr>
        <p:spPr>
          <a:xfrm>
            <a:off x="841248" y="2825496"/>
            <a:ext cx="739749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69417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431596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92861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55040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180576" y="932688"/>
            <a:ext cx="46177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70D04-3840-4354-AD3A-3EB93F1E60D7}"/>
              </a:ext>
            </a:extLst>
          </p:cNvPr>
          <p:cNvSpPr txBox="1"/>
          <p:nvPr/>
        </p:nvSpPr>
        <p:spPr>
          <a:xfrm>
            <a:off x="10458450" y="6953250"/>
            <a:ext cx="371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dk1"/>
                </a:solidFill>
              </a:rPr>
              <a:t>Date:</a:t>
            </a:r>
            <a:r>
              <a:rPr lang="en-US" sz="3600" dirty="0">
                <a:solidFill>
                  <a:schemeClr val="dk1"/>
                </a:solidFill>
              </a:rPr>
              <a:t>14-08-2025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81" y="133936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39" y="1791315"/>
            <a:ext cx="12875361" cy="389197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" y="6934962"/>
            <a:ext cx="12678613" cy="10058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02539" y="665868"/>
            <a:ext cx="8760159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" sz="5400" b="1" dirty="0"/>
              <a:t>What is TSP?</a:t>
            </a:r>
            <a:endParaRPr lang="en-US" sz="5400" dirty="0"/>
          </a:p>
        </p:txBody>
      </p:sp>
      <p:sp>
        <p:nvSpPr>
          <p:cNvPr id="9" name="Text 1"/>
          <p:cNvSpPr/>
          <p:nvPr/>
        </p:nvSpPr>
        <p:spPr>
          <a:xfrm>
            <a:off x="802539" y="1798501"/>
            <a:ext cx="12875361" cy="3891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The Traveling Salesman Problem is a classic optimization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problem.</a:t>
            </a:r>
          </a:p>
          <a:p>
            <a:pPr marL="457200" lvl="0" indent="-3290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82"/>
              <a:buChar char="●"/>
            </a:pPr>
            <a:r>
              <a:rPr lang="en-US" sz="4400" dirty="0">
                <a:solidFill>
                  <a:schemeClr val="dk1"/>
                </a:solidFill>
              </a:rPr>
              <a:t>Given a list of cities and distances between them,</a:t>
            </a:r>
          </a:p>
          <a:p>
            <a:pPr marL="457200" lvl="0" indent="-3290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2"/>
              <a:buChar char="●"/>
            </a:pPr>
            <a:r>
              <a:rPr lang="en-US" sz="4400" dirty="0">
                <a:solidFill>
                  <a:schemeClr val="dk1"/>
                </a:solidFill>
              </a:rPr>
              <a:t>Find the shortest possible route that visits each city</a:t>
            </a:r>
          </a:p>
          <a:p>
            <a:pPr marL="128145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2"/>
            </a:pPr>
            <a:r>
              <a:rPr lang="en-US" sz="4400" dirty="0">
                <a:solidFill>
                  <a:schemeClr val="dk1"/>
                </a:solidFill>
              </a:rPr>
              <a:t>   exactly once and returns to the starting city</a:t>
            </a:r>
            <a:r>
              <a:rPr lang="en-US" sz="2400" dirty="0">
                <a:solidFill>
                  <a:schemeClr val="dk1"/>
                </a:solidFill>
              </a:rPr>
              <a:t>.</a:t>
            </a:r>
          </a:p>
          <a:p>
            <a:pPr marL="0" indent="0" algn="l">
              <a:lnSpc>
                <a:spcPts val="2780"/>
              </a:lnSpc>
              <a:buNone/>
            </a:pPr>
            <a:endParaRPr lang="en-US" sz="1850" b="1" dirty="0"/>
          </a:p>
        </p:txBody>
      </p:sp>
      <p:sp>
        <p:nvSpPr>
          <p:cNvPr id="10" name="Text 2"/>
          <p:cNvSpPr/>
          <p:nvPr/>
        </p:nvSpPr>
        <p:spPr>
          <a:xfrm>
            <a:off x="1728216" y="2944368"/>
            <a:ext cx="335584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endParaRPr lang="en-US" sz="2320" dirty="0"/>
          </a:p>
        </p:txBody>
      </p:sp>
      <p:sp>
        <p:nvSpPr>
          <p:cNvPr id="12" name="Text 4"/>
          <p:cNvSpPr/>
          <p:nvPr/>
        </p:nvSpPr>
        <p:spPr>
          <a:xfrm>
            <a:off x="863651" y="6261671"/>
            <a:ext cx="8010144" cy="601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571500" indent="-571500">
              <a:lnSpc>
                <a:spcPts val="2780"/>
              </a:lnSpc>
              <a:buFont typeface="Wingdings" panose="05000000000000000000" pitchFamily="2" charset="2"/>
              <a:buChar char="q"/>
            </a:pPr>
            <a:r>
              <a:rPr lang="en-US" sz="4000" b="1" dirty="0">
                <a:solidFill>
                  <a:srgbClr val="03141C"/>
                </a:solidFill>
                <a:latin typeface="Arial-Regular" pitchFamily="34" charset="0"/>
                <a:ea typeface="Arial-Regular" pitchFamily="34" charset="-122"/>
              </a:rPr>
              <a:t> Why is it important</a:t>
            </a:r>
            <a:r>
              <a:rPr lang="en-US" sz="4000" b="1" dirty="0">
                <a:solidFill>
                  <a:schemeClr val="dk1"/>
                </a:solidFill>
                <a:latin typeface="Arial-Regular" pitchFamily="34" charset="0"/>
                <a:ea typeface="Arial-Regular" pitchFamily="34" charset="-122"/>
              </a:rPr>
              <a:t>?</a:t>
            </a:r>
            <a:endParaRPr lang="en-US" b="1" dirty="0">
              <a:solidFill>
                <a:schemeClr val="dk1"/>
              </a:solidFill>
            </a:endParaRPr>
          </a:p>
          <a:p>
            <a:pPr marL="0" indent="0" algn="l">
              <a:lnSpc>
                <a:spcPts val="2780"/>
              </a:lnSpc>
              <a:buNone/>
            </a:pPr>
            <a:r>
              <a:rPr lang="en-US" sz="1850" dirty="0">
                <a:solidFill>
                  <a:srgbClr val="03141C"/>
                </a:solidFill>
                <a:latin typeface="Arial-Regular" pitchFamily="34" charset="0"/>
                <a:ea typeface="Arial-Regular" pitchFamily="34" charset="-122"/>
                <a:cs typeface="Arial-Regular" pitchFamily="34" charset="-120"/>
              </a:rPr>
              <a:t>: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10186416" y="3648456"/>
            <a:ext cx="33558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1088137" y="7256305"/>
            <a:ext cx="335584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000" dirty="0">
                <a:solidFill>
                  <a:schemeClr val="dk1"/>
                </a:solidFill>
              </a:rPr>
              <a:t>Used in logistics, planning, manufacturing, and more.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777BF-CA79-4D37-A154-D433A296CDB3}"/>
              </a:ext>
            </a:extLst>
          </p:cNvPr>
          <p:cNvSpPr txBox="1"/>
          <p:nvPr/>
        </p:nvSpPr>
        <p:spPr>
          <a:xfrm>
            <a:off x="12975336" y="-258884"/>
            <a:ext cx="1127939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01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2825496"/>
            <a:ext cx="739749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69417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431596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92861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55040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180576" y="932688"/>
            <a:ext cx="46177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D14D2-6407-45E5-8A46-C371B068194F}"/>
              </a:ext>
            </a:extLst>
          </p:cNvPr>
          <p:cNvSpPr txBox="1"/>
          <p:nvPr/>
        </p:nvSpPr>
        <p:spPr>
          <a:xfrm>
            <a:off x="990600" y="651938"/>
            <a:ext cx="1150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5400" dirty="0"/>
              <a:t>TSP Problem Example</a:t>
            </a:r>
            <a:endParaRPr lang="en-US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2F3AFC-7569-4068-A307-753AB51BEE1B}"/>
              </a:ext>
            </a:extLst>
          </p:cNvPr>
          <p:cNvSpPr txBox="1"/>
          <p:nvPr/>
        </p:nvSpPr>
        <p:spPr>
          <a:xfrm>
            <a:off x="990600" y="1805559"/>
            <a:ext cx="1247775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15791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88695"/>
              <a:buChar char="●"/>
            </a:pPr>
            <a:r>
              <a:rPr lang="en-US" sz="3000" dirty="0">
                <a:solidFill>
                  <a:srgbClr val="000000"/>
                </a:solidFill>
              </a:rPr>
              <a:t>Suppose there are 4 cities: A, B, C, D</a:t>
            </a:r>
            <a:br>
              <a:rPr lang="en-US" sz="3000" dirty="0">
                <a:solidFill>
                  <a:srgbClr val="000000"/>
                </a:solidFill>
              </a:rPr>
            </a:br>
            <a:endParaRPr lang="en-US" sz="3000" dirty="0">
              <a:solidFill>
                <a:srgbClr val="000000"/>
              </a:solidFill>
            </a:endParaRPr>
          </a:p>
          <a:p>
            <a:pPr marL="457200" lvl="0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695"/>
              <a:buChar char="●"/>
            </a:pPr>
            <a:r>
              <a:rPr lang="en-US" sz="2800" dirty="0">
                <a:solidFill>
                  <a:srgbClr val="000000"/>
                </a:solidFill>
              </a:rPr>
              <a:t>Distances: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A → B = 10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A → C = 15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A → D = 20</a:t>
            </a:r>
          </a:p>
          <a:p>
            <a:pPr marL="598609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</a:pP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457200" lvl="0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8695"/>
              <a:buChar char="●"/>
            </a:pPr>
            <a:r>
              <a:rPr lang="en-US" sz="2800" dirty="0">
                <a:solidFill>
                  <a:srgbClr val="000000"/>
                </a:solidFill>
              </a:rPr>
              <a:t>Find the shortest route visiting all cities once and return to A.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42E5A-5AAA-4F49-BF03-2FE8F33FA08E}"/>
              </a:ext>
            </a:extLst>
          </p:cNvPr>
          <p:cNvSpPr txBox="1"/>
          <p:nvPr/>
        </p:nvSpPr>
        <p:spPr>
          <a:xfrm>
            <a:off x="5968879" y="3481947"/>
            <a:ext cx="43676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B → C = 35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B → D = 25</a:t>
            </a:r>
            <a:br>
              <a:rPr lang="en-US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  <a:p>
            <a:pPr marL="914400" lvl="1" indent="-31579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820"/>
              <a:buChar char="○"/>
            </a:pPr>
            <a:r>
              <a:rPr lang="en-US" sz="2800" dirty="0">
                <a:solidFill>
                  <a:srgbClr val="000000"/>
                </a:solidFill>
              </a:rPr>
              <a:t>C → D = 30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09625A-4582-4148-ACA3-8235E852295F}"/>
              </a:ext>
            </a:extLst>
          </p:cNvPr>
          <p:cNvSpPr txBox="1"/>
          <p:nvPr/>
        </p:nvSpPr>
        <p:spPr>
          <a:xfrm>
            <a:off x="12975336" y="-258884"/>
            <a:ext cx="1117182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02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8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356" y="2859024"/>
            <a:ext cx="11721084" cy="6583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356" y="3629787"/>
            <a:ext cx="4325874" cy="65836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85316" y="406908"/>
            <a:ext cx="951128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400" b="1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Greedy Approaches (Heuristics)</a:t>
            </a:r>
            <a:endParaRPr lang="en-US" sz="5400" b="1" dirty="0"/>
          </a:p>
        </p:txBody>
      </p:sp>
      <p:sp>
        <p:nvSpPr>
          <p:cNvPr id="9" name="Text 1"/>
          <p:cNvSpPr/>
          <p:nvPr/>
        </p:nvSpPr>
        <p:spPr>
          <a:xfrm>
            <a:off x="1385316" y="1805940"/>
            <a:ext cx="12422124" cy="2594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</a:rPr>
              <a:t>Working Principle:</a:t>
            </a: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3600" dirty="0">
                <a:solidFill>
                  <a:schemeClr val="dk1"/>
                </a:solidFill>
              </a:rPr>
              <a:t>Start from a city, visit the nearest unvisited city until all are </a:t>
            </a:r>
          </a:p>
          <a:p>
            <a:pPr marL="12065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3600" dirty="0">
                <a:solidFill>
                  <a:schemeClr val="dk1"/>
                </a:solidFill>
              </a:rPr>
              <a:t>   visited, then return</a:t>
            </a:r>
            <a:r>
              <a:rPr lang="en-US" sz="2000" dirty="0">
                <a:solidFill>
                  <a:schemeClr val="dk1"/>
                </a:solidFill>
              </a:rPr>
              <a:t>.</a:t>
            </a:r>
            <a:endParaRPr lang="en-US" sz="1200" dirty="0">
              <a:solidFill>
                <a:schemeClr val="dk1"/>
              </a:solidFill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020E5BAC-99CD-46D3-88A0-AE95BE3199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694" y="5453634"/>
            <a:ext cx="11981688" cy="1226478"/>
          </a:xfrm>
          <a:prstGeom prst="rect">
            <a:avLst/>
          </a:prstGeom>
        </p:spPr>
      </p:pic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B41C46C-B642-409E-B1D1-1EE46DBDA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5316" y="4317873"/>
            <a:ext cx="2001012" cy="12264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30D95BA-3C37-4963-BB7C-7D9FC6915817}"/>
              </a:ext>
            </a:extLst>
          </p:cNvPr>
          <p:cNvSpPr txBox="1"/>
          <p:nvPr/>
        </p:nvSpPr>
        <p:spPr>
          <a:xfrm>
            <a:off x="1361694" y="4468178"/>
            <a:ext cx="11721084" cy="243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</a:rPr>
              <a:t>Example</a:t>
            </a:r>
            <a:r>
              <a:rPr lang="en-US" sz="1800" b="1" dirty="0">
                <a:solidFill>
                  <a:schemeClr val="dk1"/>
                </a:solidFill>
              </a:rPr>
              <a:t>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3600" dirty="0">
                <a:solidFill>
                  <a:schemeClr val="dk1"/>
                </a:solidFill>
              </a:rPr>
              <a:t>From city A, nearest is B (10), then from B → D (25), then D → C (30), back to A (15).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3A349F-6741-4C2F-8E62-53B2B9C71254}"/>
              </a:ext>
            </a:extLst>
          </p:cNvPr>
          <p:cNvSpPr txBox="1"/>
          <p:nvPr/>
        </p:nvSpPr>
        <p:spPr>
          <a:xfrm>
            <a:off x="1287018" y="6902691"/>
            <a:ext cx="106382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</a:rPr>
              <a:t>Time Complexity:</a:t>
            </a:r>
            <a:r>
              <a:rPr lang="en-US" sz="4400" b="1" dirty="0">
                <a:solidFill>
                  <a:schemeClr val="dk1"/>
                </a:solidFill>
              </a:rPr>
              <a:t> </a:t>
            </a:r>
            <a:r>
              <a:rPr lang="en-US" sz="3200" dirty="0">
                <a:solidFill>
                  <a:schemeClr val="dk1"/>
                </a:solidFill>
              </a:rPr>
              <a:t>O(n²) </a:t>
            </a:r>
            <a:r>
              <a:rPr lang="en" sz="3600" dirty="0">
                <a:solidFill>
                  <a:schemeClr val="dk1"/>
                </a:solidFill>
              </a:rPr>
              <a:t>— fast but not always optimal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CA7E9-DAB7-43DC-8FFA-DCF8B8ED1116}"/>
              </a:ext>
            </a:extLst>
          </p:cNvPr>
          <p:cNvSpPr txBox="1"/>
          <p:nvPr/>
        </p:nvSpPr>
        <p:spPr>
          <a:xfrm>
            <a:off x="12975336" y="-258884"/>
            <a:ext cx="998848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03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" y="-44958"/>
            <a:ext cx="14630400" cy="8238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50876"/>
            <a:ext cx="7397496" cy="1655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</a:rPr>
              <a:t>Pseudo Code:</a:t>
            </a:r>
          </a:p>
        </p:txBody>
      </p:sp>
      <p:sp>
        <p:nvSpPr>
          <p:cNvPr id="6" name="Text 1"/>
          <p:cNvSpPr/>
          <p:nvPr/>
        </p:nvSpPr>
        <p:spPr>
          <a:xfrm>
            <a:off x="841248" y="2825496"/>
            <a:ext cx="7397496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369417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32104" y="431596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928616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550408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13816" y="4114800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 err="1">
                <a:solidFill>
                  <a:schemeClr val="dk1"/>
                </a:solidFill>
              </a:rPr>
              <a:t>start_city</a:t>
            </a:r>
            <a:r>
              <a:rPr lang="en-US" sz="4000" dirty="0">
                <a:solidFill>
                  <a:schemeClr val="dk1"/>
                </a:solidFill>
              </a:rPr>
              <a:t> = A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 err="1">
                <a:solidFill>
                  <a:schemeClr val="dk1"/>
                </a:solidFill>
              </a:rPr>
              <a:t>current_city</a:t>
            </a:r>
            <a:r>
              <a:rPr lang="en-US" sz="4000" dirty="0">
                <a:solidFill>
                  <a:schemeClr val="dk1"/>
                </a:solidFill>
              </a:rPr>
              <a:t> = </a:t>
            </a:r>
            <a:r>
              <a:rPr lang="en-US" sz="4000" dirty="0" err="1">
                <a:solidFill>
                  <a:schemeClr val="dk1"/>
                </a:solidFill>
              </a:rPr>
              <a:t>start_city</a:t>
            </a:r>
            <a:r>
              <a:rPr lang="en-US" sz="4000" dirty="0">
                <a:solidFill>
                  <a:schemeClr val="dk1"/>
                </a:solidFill>
              </a:rPr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visited = {</a:t>
            </a:r>
            <a:r>
              <a:rPr lang="en-US" sz="4000" dirty="0" err="1">
                <a:solidFill>
                  <a:schemeClr val="dk1"/>
                </a:solidFill>
              </a:rPr>
              <a:t>start_city</a:t>
            </a:r>
            <a:r>
              <a:rPr lang="en-US" sz="4000" dirty="0">
                <a:solidFill>
                  <a:schemeClr val="dk1"/>
                </a:solidFill>
              </a:rPr>
              <a:t>}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while </a:t>
            </a:r>
            <a:r>
              <a:rPr lang="en-US" sz="4000" dirty="0" err="1">
                <a:solidFill>
                  <a:schemeClr val="dk1"/>
                </a:solidFill>
              </a:rPr>
              <a:t>visited.size</a:t>
            </a:r>
            <a:r>
              <a:rPr lang="en-US" sz="4000" dirty="0">
                <a:solidFill>
                  <a:schemeClr val="dk1"/>
                </a:solidFill>
              </a:rPr>
              <a:t> &lt; </a:t>
            </a:r>
            <a:r>
              <a:rPr lang="en-US" sz="4000" dirty="0" err="1">
                <a:solidFill>
                  <a:schemeClr val="dk1"/>
                </a:solidFill>
              </a:rPr>
              <a:t>total_cities</a:t>
            </a:r>
            <a:r>
              <a:rPr lang="en-US" sz="4000" dirty="0">
                <a:solidFill>
                  <a:schemeClr val="dk1"/>
                </a:solidFill>
              </a:rPr>
              <a:t>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    </a:t>
            </a:r>
            <a:r>
              <a:rPr lang="en-US" sz="4000" dirty="0" err="1">
                <a:solidFill>
                  <a:schemeClr val="dk1"/>
                </a:solidFill>
              </a:rPr>
              <a:t>next_city</a:t>
            </a:r>
            <a:r>
              <a:rPr lang="en-US" sz="4000" dirty="0">
                <a:solidFill>
                  <a:schemeClr val="dk1"/>
                </a:solidFill>
              </a:rPr>
              <a:t> = </a:t>
            </a:r>
            <a:r>
              <a:rPr lang="en-US" sz="4000" dirty="0" err="1">
                <a:solidFill>
                  <a:schemeClr val="dk1"/>
                </a:solidFill>
              </a:rPr>
              <a:t>find_nearest_unvisited</a:t>
            </a:r>
            <a:r>
              <a:rPr lang="en-US" sz="4000" dirty="0">
                <a:solidFill>
                  <a:schemeClr val="dk1"/>
                </a:solidFill>
              </a:rPr>
              <a:t>(</a:t>
            </a:r>
            <a:r>
              <a:rPr lang="en-US" sz="4000" dirty="0" err="1">
                <a:solidFill>
                  <a:schemeClr val="dk1"/>
                </a:solidFill>
              </a:rPr>
              <a:t>current_city</a:t>
            </a:r>
            <a:r>
              <a:rPr lang="en-US" sz="4000" dirty="0">
                <a:solidFill>
                  <a:schemeClr val="dk1"/>
                </a:solidFill>
              </a:rPr>
              <a:t>)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    </a:t>
            </a:r>
            <a:r>
              <a:rPr lang="en-US" sz="4000" dirty="0" err="1">
                <a:solidFill>
                  <a:schemeClr val="dk1"/>
                </a:solidFill>
              </a:rPr>
              <a:t>visited.add</a:t>
            </a:r>
            <a:r>
              <a:rPr lang="en-US" sz="4000" dirty="0">
                <a:solidFill>
                  <a:schemeClr val="dk1"/>
                </a:solidFill>
              </a:rPr>
              <a:t>(</a:t>
            </a:r>
            <a:r>
              <a:rPr lang="en-US" sz="4000" dirty="0" err="1">
                <a:solidFill>
                  <a:schemeClr val="dk1"/>
                </a:solidFill>
              </a:rPr>
              <a:t>next_city</a:t>
            </a:r>
            <a:r>
              <a:rPr lang="en-US" sz="4000" dirty="0">
                <a:solidFill>
                  <a:schemeClr val="dk1"/>
                </a:solidFill>
              </a:rPr>
              <a:t>)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    </a:t>
            </a:r>
            <a:r>
              <a:rPr lang="en-US" sz="4000" dirty="0" err="1">
                <a:solidFill>
                  <a:schemeClr val="dk1"/>
                </a:solidFill>
              </a:rPr>
              <a:t>current_city</a:t>
            </a:r>
            <a:r>
              <a:rPr lang="en-US" sz="4000" dirty="0">
                <a:solidFill>
                  <a:schemeClr val="dk1"/>
                </a:solidFill>
              </a:rPr>
              <a:t> = </a:t>
            </a:r>
            <a:r>
              <a:rPr lang="en-US" sz="4000" dirty="0" err="1">
                <a:solidFill>
                  <a:schemeClr val="dk1"/>
                </a:solidFill>
              </a:rPr>
              <a:t>next_city</a:t>
            </a:r>
            <a:r>
              <a:rPr lang="en-US" sz="4000" dirty="0">
                <a:solidFill>
                  <a:schemeClr val="dk1"/>
                </a:solidFill>
              </a:rPr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dirty="0">
                <a:solidFill>
                  <a:schemeClr val="dk1"/>
                </a:solidFill>
              </a:rPr>
              <a:t>return to </a:t>
            </a:r>
            <a:r>
              <a:rPr lang="en-US" sz="4000" dirty="0" err="1">
                <a:solidFill>
                  <a:schemeClr val="dk1"/>
                </a:solidFill>
              </a:rPr>
              <a:t>start_city</a:t>
            </a:r>
            <a:r>
              <a:rPr lang="en-US" sz="4000" dirty="0">
                <a:solidFill>
                  <a:schemeClr val="dk1"/>
                </a:solidFill>
              </a:rPr>
              <a:t> </a:t>
            </a:r>
          </a:p>
        </p:txBody>
      </p:sp>
      <p:sp>
        <p:nvSpPr>
          <p:cNvPr id="12" name="Text 7"/>
          <p:cNvSpPr/>
          <p:nvPr/>
        </p:nvSpPr>
        <p:spPr>
          <a:xfrm>
            <a:off x="9180576" y="932688"/>
            <a:ext cx="461772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8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EE2E8-526E-498D-B7D4-3585AC67D557}"/>
              </a:ext>
            </a:extLst>
          </p:cNvPr>
          <p:cNvSpPr txBox="1"/>
          <p:nvPr/>
        </p:nvSpPr>
        <p:spPr>
          <a:xfrm>
            <a:off x="12737054" y="-258884"/>
            <a:ext cx="1090807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04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7532" y="289379"/>
            <a:ext cx="12216922" cy="1080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" sz="4800" dirty="0"/>
              <a:t>Method 2 - Dynamic Programming (Held-Karp)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827532" y="2203703"/>
            <a:ext cx="8010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</a:rPr>
              <a:t>Working Principle: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000" dirty="0">
                <a:solidFill>
                  <a:schemeClr val="dk1"/>
                </a:solidFill>
              </a:rPr>
              <a:t>Solve TSP by storing solutions of subproblems (subsets of cities), then build up the solution.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832104" y="4269172"/>
            <a:ext cx="801014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</a:rPr>
              <a:t>Example</a:t>
            </a:r>
            <a:r>
              <a:rPr lang="en-US" sz="2000" b="1" dirty="0">
                <a:solidFill>
                  <a:schemeClr val="dk1"/>
                </a:solidFill>
              </a:rPr>
              <a:t>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3000" dirty="0">
                <a:solidFill>
                  <a:schemeClr val="dk1"/>
                </a:solidFill>
              </a:rPr>
              <a:t>Calculate shortest routes for subsets like {A,B}, {A,C}, {A,B,C} etc.</a:t>
            </a:r>
          </a:p>
        </p:txBody>
      </p:sp>
      <p:sp>
        <p:nvSpPr>
          <p:cNvPr id="7" name="Text 3"/>
          <p:cNvSpPr/>
          <p:nvPr/>
        </p:nvSpPr>
        <p:spPr>
          <a:xfrm>
            <a:off x="832104" y="5706662"/>
            <a:ext cx="750722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Time Complexity:</a:t>
            </a:r>
            <a:r>
              <a:rPr lang="en-US" sz="3200" dirty="0">
                <a:solidFill>
                  <a:schemeClr val="dk1"/>
                </a:solidFill>
              </a:rPr>
              <a:t> O(n² * 2^n) — exact but exponential.</a:t>
            </a:r>
            <a:endParaRPr lang="en-US" sz="4400" dirty="0">
              <a:solidFill>
                <a:schemeClr val="dk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C4B10-3788-4672-9CEA-CA474CCD20E1}"/>
              </a:ext>
            </a:extLst>
          </p:cNvPr>
          <p:cNvSpPr txBox="1"/>
          <p:nvPr/>
        </p:nvSpPr>
        <p:spPr>
          <a:xfrm>
            <a:off x="13185119" y="-258884"/>
            <a:ext cx="852525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05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28239"/>
            <a:ext cx="14630400" cy="885139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" y="0"/>
            <a:ext cx="14630400" cy="304495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41832" y="3293992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</a:rPr>
              <a:t>Pseudo Code</a:t>
            </a:r>
          </a:p>
        </p:txBody>
      </p:sp>
      <p:sp>
        <p:nvSpPr>
          <p:cNvPr id="7" name="Text 1"/>
          <p:cNvSpPr/>
          <p:nvPr/>
        </p:nvSpPr>
        <p:spPr>
          <a:xfrm>
            <a:off x="941832" y="5427367"/>
            <a:ext cx="12984480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for each subset S of cities including start: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for each city j in S: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    cost[S][j] = min( cost[S - {j}][</a:t>
            </a:r>
            <a:r>
              <a:rPr lang="en-US" sz="2800" dirty="0" err="1">
                <a:solidFill>
                  <a:schemeClr val="dk1"/>
                </a:solidFill>
              </a:rPr>
              <a:t>i</a:t>
            </a:r>
            <a:r>
              <a:rPr lang="en-US" sz="2800" dirty="0">
                <a:solidFill>
                  <a:schemeClr val="dk1"/>
                </a:solidFill>
              </a:rPr>
              <a:t>] + </a:t>
            </a:r>
            <a:r>
              <a:rPr lang="en-US" sz="2800" dirty="0" err="1">
                <a:solidFill>
                  <a:schemeClr val="dk1"/>
                </a:solidFill>
              </a:rPr>
              <a:t>dist</a:t>
            </a:r>
            <a:r>
              <a:rPr lang="en-US" sz="2800" dirty="0">
                <a:solidFill>
                  <a:schemeClr val="dk1"/>
                </a:solidFill>
              </a:rPr>
              <a:t>[</a:t>
            </a:r>
            <a:r>
              <a:rPr lang="en-US" sz="2800" dirty="0" err="1">
                <a:solidFill>
                  <a:schemeClr val="dk1"/>
                </a:solidFill>
              </a:rPr>
              <a:t>i</a:t>
            </a:r>
            <a:r>
              <a:rPr lang="en-US" sz="2800" dirty="0">
                <a:solidFill>
                  <a:schemeClr val="dk1"/>
                </a:solidFill>
              </a:rPr>
              <a:t>][j] ) for all </a:t>
            </a:r>
            <a:r>
              <a:rPr lang="en-US" sz="2800" dirty="0" err="1">
                <a:solidFill>
                  <a:schemeClr val="dk1"/>
                </a:solidFill>
              </a:rPr>
              <a:t>i</a:t>
            </a:r>
            <a:r>
              <a:rPr lang="en-US" sz="2800" dirty="0">
                <a:solidFill>
                  <a:schemeClr val="dk1"/>
                </a:solidFill>
              </a:rPr>
              <a:t> in S - {j}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 err="1">
                <a:solidFill>
                  <a:schemeClr val="dk1"/>
                </a:solidFill>
              </a:rPr>
              <a:t>final_answer</a:t>
            </a:r>
            <a:r>
              <a:rPr lang="en-US" sz="2800" dirty="0">
                <a:solidFill>
                  <a:schemeClr val="dk1"/>
                </a:solidFill>
              </a:rPr>
              <a:t> = min( cost[</a:t>
            </a:r>
            <a:r>
              <a:rPr lang="en-US" sz="2800" dirty="0" err="1">
                <a:solidFill>
                  <a:schemeClr val="dk1"/>
                </a:solidFill>
              </a:rPr>
              <a:t>all_cities</a:t>
            </a:r>
            <a:r>
              <a:rPr lang="en-US" sz="2800" dirty="0">
                <a:solidFill>
                  <a:schemeClr val="dk1"/>
                </a:solidFill>
              </a:rPr>
              <a:t>][j] + </a:t>
            </a:r>
            <a:r>
              <a:rPr lang="en-US" sz="2800" dirty="0" err="1">
                <a:solidFill>
                  <a:schemeClr val="dk1"/>
                </a:solidFill>
              </a:rPr>
              <a:t>dist</a:t>
            </a:r>
            <a:r>
              <a:rPr lang="en-US" sz="2800" dirty="0">
                <a:solidFill>
                  <a:schemeClr val="dk1"/>
                </a:solidFill>
              </a:rPr>
              <a:t>[j][start] ) for all j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596D6-ABB3-42A4-BC8D-B6BC3E3B1E2F}"/>
              </a:ext>
            </a:extLst>
          </p:cNvPr>
          <p:cNvSpPr txBox="1"/>
          <p:nvPr/>
        </p:nvSpPr>
        <p:spPr>
          <a:xfrm>
            <a:off x="12975336" y="-258884"/>
            <a:ext cx="1181728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chemeClr val="bg2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06</a:t>
            </a:r>
            <a:endParaRPr lang="en-US" sz="4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6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33619"/>
            <a:ext cx="4206241" cy="82387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626940" y="544067"/>
            <a:ext cx="98254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" sz="4800" dirty="0"/>
              <a:t>Method 3 - Backtracking with Pruning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3617796" y="2093974"/>
            <a:ext cx="9834641" cy="1502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</a:rPr>
              <a:t>Working Principle:</a:t>
            </a: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Try all permutations recursively.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If partial path cost already exceeds best known, prune (stop exploring)</a:t>
            </a:r>
          </a:p>
          <a:p>
            <a:pPr marL="1397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2800" dirty="0">
                <a:solidFill>
                  <a:schemeClr val="dk1"/>
                </a:solidFill>
              </a:rPr>
              <a:t>    that path</a:t>
            </a:r>
            <a:endParaRPr lang="en-US" sz="2400" dirty="0"/>
          </a:p>
        </p:txBody>
      </p:sp>
      <p:sp>
        <p:nvSpPr>
          <p:cNvPr id="9" name="Text 3"/>
          <p:cNvSpPr/>
          <p:nvPr/>
        </p:nvSpPr>
        <p:spPr>
          <a:xfrm>
            <a:off x="3617796" y="4633322"/>
            <a:ext cx="8010144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</a:rPr>
              <a:t>Example: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Explore route A → B → C → D.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2800" dirty="0">
                <a:solidFill>
                  <a:schemeClr val="dk1"/>
                </a:solidFill>
              </a:rPr>
              <a:t>If partial cost &gt; best cost, backtrack early.</a:t>
            </a:r>
          </a:p>
        </p:txBody>
      </p:sp>
      <p:sp>
        <p:nvSpPr>
          <p:cNvPr id="12" name="Text 6"/>
          <p:cNvSpPr/>
          <p:nvPr/>
        </p:nvSpPr>
        <p:spPr>
          <a:xfrm>
            <a:off x="3617796" y="6021601"/>
            <a:ext cx="7507224" cy="989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Time Complexity: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</a:rPr>
              <a:t> Worst O(n!) but pruning reduces runtime.</a:t>
            </a:r>
            <a:endParaRPr lang="en-US" sz="5400" dirty="0">
              <a:solidFill>
                <a:schemeClr val="dk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1CA11-054D-418A-8FDD-855641A4E77E}"/>
              </a:ext>
            </a:extLst>
          </p:cNvPr>
          <p:cNvSpPr txBox="1"/>
          <p:nvPr/>
        </p:nvSpPr>
        <p:spPr>
          <a:xfrm>
            <a:off x="13452437" y="-367295"/>
            <a:ext cx="1113417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07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28239"/>
            <a:ext cx="14630400" cy="885139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" y="0"/>
            <a:ext cx="14630400" cy="304495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41832" y="3076486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</a:rPr>
              <a:t>Pseudo Code:</a:t>
            </a:r>
          </a:p>
        </p:txBody>
      </p:sp>
      <p:sp>
        <p:nvSpPr>
          <p:cNvPr id="7" name="Text 1"/>
          <p:cNvSpPr/>
          <p:nvPr/>
        </p:nvSpPr>
        <p:spPr>
          <a:xfrm>
            <a:off x="941832" y="5109881"/>
            <a:ext cx="12984480" cy="1699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</a:rPr>
              <a:t>function tsp(path, visited, </a:t>
            </a:r>
            <a:r>
              <a:rPr lang="en-US" sz="2800" dirty="0" err="1">
                <a:solidFill>
                  <a:schemeClr val="dk1"/>
                </a:solidFill>
              </a:rPr>
              <a:t>current_cost</a:t>
            </a:r>
            <a:r>
              <a:rPr lang="en-US" sz="2800" dirty="0">
                <a:solidFill>
                  <a:schemeClr val="dk1"/>
                </a:solidFill>
              </a:rPr>
              <a:t>):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if all cities visited: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    update </a:t>
            </a:r>
            <a:r>
              <a:rPr lang="en-US" sz="2800" dirty="0" err="1">
                <a:solidFill>
                  <a:schemeClr val="dk1"/>
                </a:solidFill>
              </a:rPr>
              <a:t>min_cost</a:t>
            </a:r>
            <a:r>
              <a:rPr lang="en-US" sz="2800" dirty="0">
                <a:solidFill>
                  <a:schemeClr val="dk1"/>
                </a:solidFill>
              </a:rPr>
              <a:t> if </a:t>
            </a:r>
            <a:r>
              <a:rPr lang="en-US" sz="2800" dirty="0" err="1">
                <a:solidFill>
                  <a:schemeClr val="dk1"/>
                </a:solidFill>
              </a:rPr>
              <a:t>current_cost</a:t>
            </a:r>
            <a:r>
              <a:rPr lang="en-US" sz="2800" dirty="0">
                <a:solidFill>
                  <a:schemeClr val="dk1"/>
                </a:solidFill>
              </a:rPr>
              <a:t> + </a:t>
            </a:r>
            <a:r>
              <a:rPr lang="en-US" sz="2800" dirty="0" err="1">
                <a:solidFill>
                  <a:schemeClr val="dk1"/>
                </a:solidFill>
              </a:rPr>
              <a:t>return_cost</a:t>
            </a:r>
            <a:r>
              <a:rPr lang="en-US" sz="2800" dirty="0">
                <a:solidFill>
                  <a:schemeClr val="dk1"/>
                </a:solidFill>
              </a:rPr>
              <a:t> &lt; </a:t>
            </a:r>
            <a:r>
              <a:rPr lang="en-US" sz="2800" dirty="0" err="1">
                <a:solidFill>
                  <a:schemeClr val="dk1"/>
                </a:solidFill>
              </a:rPr>
              <a:t>min_cost</a:t>
            </a:r>
            <a:r>
              <a:rPr lang="en-US" sz="2800" dirty="0">
                <a:solidFill>
                  <a:schemeClr val="dk1"/>
                </a:solidFill>
              </a:rPr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    return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for each city not in visited: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    if </a:t>
            </a:r>
            <a:r>
              <a:rPr lang="en-US" sz="2800" dirty="0" err="1">
                <a:solidFill>
                  <a:schemeClr val="dk1"/>
                </a:solidFill>
              </a:rPr>
              <a:t>current_cost</a:t>
            </a:r>
            <a:r>
              <a:rPr lang="en-US" sz="2800" dirty="0">
                <a:solidFill>
                  <a:schemeClr val="dk1"/>
                </a:solidFill>
              </a:rPr>
              <a:t> + </a:t>
            </a:r>
            <a:r>
              <a:rPr lang="en-US" sz="2800" dirty="0" err="1">
                <a:solidFill>
                  <a:schemeClr val="dk1"/>
                </a:solidFill>
              </a:rPr>
              <a:t>dist</a:t>
            </a:r>
            <a:r>
              <a:rPr lang="en-US" sz="2800" dirty="0">
                <a:solidFill>
                  <a:schemeClr val="dk1"/>
                </a:solidFill>
              </a:rPr>
              <a:t>[</a:t>
            </a:r>
            <a:r>
              <a:rPr lang="en-US" sz="2800" dirty="0" err="1">
                <a:solidFill>
                  <a:schemeClr val="dk1"/>
                </a:solidFill>
              </a:rPr>
              <a:t>last_city</a:t>
            </a:r>
            <a:r>
              <a:rPr lang="en-US" sz="2800" dirty="0">
                <a:solidFill>
                  <a:schemeClr val="dk1"/>
                </a:solidFill>
              </a:rPr>
              <a:t>][city] &lt; </a:t>
            </a:r>
            <a:r>
              <a:rPr lang="en-US" sz="2800" dirty="0" err="1">
                <a:solidFill>
                  <a:schemeClr val="dk1"/>
                </a:solidFill>
              </a:rPr>
              <a:t>min_cost</a:t>
            </a:r>
            <a:r>
              <a:rPr lang="en-US" sz="2800" dirty="0">
                <a:solidFill>
                  <a:schemeClr val="dk1"/>
                </a:solidFill>
              </a:rPr>
              <a:t>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            tsp(path + city, visited + city, </a:t>
            </a:r>
            <a:r>
              <a:rPr lang="en-US" sz="2800" dirty="0" err="1">
                <a:solidFill>
                  <a:schemeClr val="dk1"/>
                </a:solidFill>
              </a:rPr>
              <a:t>current_cost</a:t>
            </a:r>
            <a:r>
              <a:rPr lang="en-US" sz="2800" dirty="0">
                <a:solidFill>
                  <a:schemeClr val="dk1"/>
                </a:solidFill>
              </a:rPr>
              <a:t> + </a:t>
            </a:r>
            <a:r>
              <a:rPr lang="en-US" sz="2800" dirty="0" err="1">
                <a:solidFill>
                  <a:schemeClr val="dk1"/>
                </a:solidFill>
              </a:rPr>
              <a:t>dist</a:t>
            </a:r>
            <a:r>
              <a:rPr lang="en-US" sz="2800" dirty="0">
                <a:solidFill>
                  <a:schemeClr val="dk1"/>
                </a:solidFill>
              </a:rPr>
              <a:t>[</a:t>
            </a:r>
            <a:r>
              <a:rPr lang="en-US" sz="2800" dirty="0" err="1">
                <a:solidFill>
                  <a:schemeClr val="dk1"/>
                </a:solidFill>
              </a:rPr>
              <a:t>last_city</a:t>
            </a:r>
            <a:r>
              <a:rPr lang="en-US" sz="2800" dirty="0">
                <a:solidFill>
                  <a:schemeClr val="dk1"/>
                </a:solidFill>
              </a:rPr>
              <a:t>][city])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800" dirty="0">
              <a:solidFill>
                <a:schemeClr val="dk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F917D-F65F-48C0-A038-DE624AFD901B}"/>
              </a:ext>
            </a:extLst>
          </p:cNvPr>
          <p:cNvSpPr txBox="1"/>
          <p:nvPr/>
        </p:nvSpPr>
        <p:spPr>
          <a:xfrm>
            <a:off x="12975336" y="-258884"/>
            <a:ext cx="852525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chemeClr val="bg2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08</a:t>
            </a:r>
            <a:endParaRPr lang="en-US" sz="4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7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" y="2798064"/>
          <a:ext cx="12947904" cy="3730752"/>
        </p:xfrm>
        <a:graphic>
          <a:graphicData uri="http://schemas.openxmlformats.org/drawingml/2006/table">
            <a:tbl>
              <a:tblPr/>
              <a:tblGrid>
                <a:gridCol w="3236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Algorithm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Time Complexity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Optimality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Best Use Case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Greedy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O(n²)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Approx.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Large, fast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DP (Held–Karp)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O(n²·2ⁿ)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Exact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Small/medium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Branch &amp; Bound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Exponential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Exact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80"/>
                        </a:lnSpc>
                        <a:buNone/>
                      </a:pPr>
                      <a:r>
                        <a:rPr lang="en-US" sz="1850" dirty="0">
                          <a:solidFill>
                            <a:srgbClr val="03141C"/>
                          </a:solidFill>
                          <a:latin typeface="Arial-Regular" pitchFamily="34" charset="0"/>
                          <a:ea typeface="Arial-Regular" pitchFamily="34" charset="-122"/>
                          <a:cs typeface="Arial-Regular" pitchFamily="34" charset="-120"/>
                        </a:rPr>
                        <a:t>Moderate n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832104" y="1709928"/>
            <a:ext cx="12984480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800" b="1" dirty="0">
                <a:solidFill>
                  <a:schemeClr val="dk1"/>
                </a:solidFill>
              </a:rPr>
              <a:t> Comparison of Approaches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E27A5-8A16-4850-BB59-04CB429FD4EF}"/>
              </a:ext>
            </a:extLst>
          </p:cNvPr>
          <p:cNvSpPr txBox="1"/>
          <p:nvPr/>
        </p:nvSpPr>
        <p:spPr>
          <a:xfrm>
            <a:off x="12975336" y="-140550"/>
            <a:ext cx="1149455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09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7652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4475" y="-37652"/>
            <a:ext cx="2355925" cy="8238744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832104" y="856845"/>
            <a:ext cx="8010144" cy="832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0"/>
              </a:lnSpc>
              <a:buNone/>
            </a:pPr>
            <a:r>
              <a:rPr lang="en" sz="6600" dirty="0"/>
              <a:t>Conclusion</a:t>
            </a:r>
            <a:endParaRPr lang="en-US" sz="4640" dirty="0"/>
          </a:p>
        </p:txBody>
      </p:sp>
      <p:sp>
        <p:nvSpPr>
          <p:cNvPr id="10" name="Text 1"/>
          <p:cNvSpPr/>
          <p:nvPr/>
        </p:nvSpPr>
        <p:spPr>
          <a:xfrm>
            <a:off x="841247" y="1724986"/>
            <a:ext cx="11067467" cy="5299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543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1.TSP is a fundamental problem in optimization.</a:t>
            </a:r>
            <a:br>
              <a:rPr lang="en-US" sz="2800" dirty="0">
                <a:solidFill>
                  <a:schemeClr val="dk1"/>
                </a:solidFill>
              </a:rPr>
            </a:b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543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2.Greedy is fast but approximate.</a:t>
            </a:r>
            <a:br>
              <a:rPr lang="en-US" sz="2800" dirty="0">
                <a:solidFill>
                  <a:schemeClr val="dk1"/>
                </a:solidFill>
              </a:rPr>
            </a:b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543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3.Dynamic Programming balances exactness and efficiency for moderate n.</a:t>
            </a:r>
            <a:br>
              <a:rPr lang="en-US" sz="2800" dirty="0">
                <a:solidFill>
                  <a:schemeClr val="dk1"/>
                </a:solidFill>
              </a:rPr>
            </a:b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543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4.Backtracking guarantees exact solutions but often impractical for large n.</a:t>
            </a:r>
            <a:br>
              <a:rPr lang="en-US" sz="2800" dirty="0">
                <a:solidFill>
                  <a:schemeClr val="dk1"/>
                </a:solidFill>
              </a:rPr>
            </a:br>
            <a:endParaRPr lang="en-US"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543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</a:rPr>
              <a:t>5.Choose the method based on problem size and accuracy requirements.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00113-5212-46C7-8EDA-DF4292E1DB38}"/>
              </a:ext>
            </a:extLst>
          </p:cNvPr>
          <p:cNvSpPr txBox="1"/>
          <p:nvPr/>
        </p:nvSpPr>
        <p:spPr>
          <a:xfrm>
            <a:off x="12975336" y="-258884"/>
            <a:ext cx="1020363" cy="15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0"/>
              </a:lnSpc>
              <a:buNone/>
            </a:pP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-思源黑体-Bold" pitchFamily="34" charset="0"/>
                <a:ea typeface="思源黑体-思源黑体-Bold" pitchFamily="34" charset="-122"/>
              </a:rPr>
              <a:t>10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19856"/>
            <a:ext cx="1298448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970"/>
              </a:lnSpc>
              <a:buNone/>
            </a:pPr>
            <a:r>
              <a:rPr lang="en-US" sz="6600" dirty="0">
                <a:solidFill>
                  <a:srgbClr val="011C2A"/>
                </a:solidFill>
                <a:latin typeface="思源黑体-思源黑体-Bold" pitchFamily="34" charset="0"/>
                <a:ea typeface="思源黑体-思源黑体-Bold" pitchFamily="34" charset="-122"/>
                <a:cs typeface="思源黑体-思源黑体-Bold" pitchFamily="34" charset="-120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734</Words>
  <Application>Microsoft Office PowerPoint</Application>
  <PresentationFormat>Custom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Arial-Regular</vt:lpstr>
      <vt:lpstr>Calibri</vt:lpstr>
      <vt:lpstr>Wingdings</vt:lpstr>
      <vt:lpstr>思源黑体-思源黑体-Bold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Alnoman Robin</cp:lastModifiedBy>
  <cp:revision>9</cp:revision>
  <dcterms:created xsi:type="dcterms:W3CDTF">2025-08-12T17:21:16Z</dcterms:created>
  <dcterms:modified xsi:type="dcterms:W3CDTF">2025-08-13T17:14:38Z</dcterms:modified>
</cp:coreProperties>
</file>