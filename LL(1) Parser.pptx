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4" r:id="rId4"/>
    <p:sldId id="258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7B766-4B15-4C0F-8474-39A2B3D20EAC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AF141-0A46-4CD4-813E-9165F3682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99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2030-B1C9-CE98-571A-C91BD41FF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F8060-F36B-5A50-AC06-96AF0895C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BD022-CF2B-9111-6E10-E753A57F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0FD9-C8A0-461E-805C-D2435E27F757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E4E88-8455-B422-3E77-D93BFA01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A64E4-802E-D608-1C87-B1535A6A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0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179B-8899-8331-C5B2-87B7C3D1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78A6C-92F4-6424-0E95-D1F2C022F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7E0D3-57D5-57E0-3057-40D5FD7E6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9769-24C5-43F8-8F17-467EE4351E8B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A4361-5795-B38B-AB16-6A4A0D7A3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F2FBC-C5C7-4233-3BA5-77AF84ACF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A855-F944-737D-F03C-9068F92F0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6F02F-BEFC-BE6B-4D8A-01CFD428C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7276A-957D-3AFB-23EC-8A695119C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E953-EC44-4EC5-85E8-D73D9743F75A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7052C-BBB4-C937-DA1E-60978A631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7993E-B85C-74F2-3C28-E7F31EEF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1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0E97-7010-4D17-CEAE-75A4F589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5A70D-103A-33C8-6314-449AF339E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3A777-5D98-059D-54C3-FF0EB9564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7376A-DCC9-3B8D-05BD-CF11005F1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AB4D1-3430-49B5-BF5B-109A4CEE72D1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62310-1A0E-CB73-D78E-4A5B25295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75524-CDAE-CEFF-C5D1-C19D12B1A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0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6986-E989-5400-3860-E71604C84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F1EDE-12AF-23F3-C785-17EAE760B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23820-AAFF-97F7-40D0-C2038CCEA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08007-D670-5678-5B0B-2A33F980A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589636-2D21-A50F-9EF4-0F47DD7ED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112B2-EC64-6E9C-6895-99E6CB96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B3BA-59AD-4594-B83D-5CB60D84596B}" type="datetime1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F62CC-EC90-4A7B-5E59-5FFBF6FB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81308-F934-45E0-5152-57E306D6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2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85D2-E8BC-C5F2-B250-0A2C6DF9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56330-9DDC-857D-A065-B4D5E3CD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B0AA-BC33-49B8-8431-B8E022C974D0}" type="datetime1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6187D-D654-37D0-1194-0BDB1ED5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5C218-970F-4B79-9CF7-8F7B8043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5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52BA4-E6A6-5B50-25D8-60DFA6677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BE19E-BECA-4798-A6CF-3884668DBB67}" type="datetime1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7808F-5B37-6109-6CF6-1B6A42F9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736CE-DB56-11FB-828A-46396818F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6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7F48-2491-D64B-5E1B-1FFF08D9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DDDC3-7815-2303-5834-A661EF76D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39459-06D8-B2CF-3702-62134D5C8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83727-9295-345F-F828-35D68127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048D1-CFC5-4179-8688-5A94072F1277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92793-46DC-3EE7-BEA8-B5D02E46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BC92D-75EC-D929-6E6F-92BF590D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9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5544-3122-318E-3832-AB3893ED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232412-B2F4-AE39-59CB-60E83484E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59532-5F3B-6BCC-30B7-964C3668A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6BC2B-24D4-2B85-C4C2-E51AD2B6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1D062-6AE3-440B-9468-AE991F75A813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EC54E-953F-C2C9-B25F-73DAF600C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F5869-253B-E48B-499A-C5FA20A6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5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EFA2-ED7C-5AD8-ADA2-212373DE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2FC2C-FB77-49A8-1798-C763C1F5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81481-8878-66DC-4CB5-9BE36D7A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1F380-E342-4C79-826A-9ED01FDBFA67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C6303-E456-E932-9BFE-47251461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38EA4-CB0C-74F9-5145-D5509A620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2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4A0A7-59EB-8220-9106-1F892A966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BAF3C-8618-CA04-6A88-85658CF71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2A7A6-669F-2217-F390-52E39BED7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F127-A052-4AD5-B6B6-C3B8230D3F25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F0678-3499-05EE-B4DF-28927BDE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FB169-6D52-4D91-8BB9-CFE09507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69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7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6B0B7C-E061-4EEB-7D4D-3864E328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6291A-B133-30D1-66CE-A0EB42CED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F8CAD-4E15-6632-92BB-755CC034B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5984D-7DC5-4653-94B9-DF3F6BC2FBD3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56F61-BE95-3B26-096E-D53C280E8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B8DEB-EAA6-9238-6F83-15A0C45E8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25DCD-6DB1-48D0-8D88-F852053AC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4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-7620"/>
            <a:ext cx="12192000" cy="68656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53746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" y="4085213"/>
            <a:ext cx="10820400" cy="304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81100" y="5379720"/>
            <a:ext cx="310134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708"/>
              </a:lnSpc>
            </a:pPr>
            <a:endParaRPr lang="en-US" sz="1933" dirty="0"/>
          </a:p>
        </p:txBody>
      </p:sp>
      <p:sp>
        <p:nvSpPr>
          <p:cNvPr id="7" name="Text 1"/>
          <p:cNvSpPr/>
          <p:nvPr/>
        </p:nvSpPr>
        <p:spPr>
          <a:xfrm>
            <a:off x="1181100" y="5722620"/>
            <a:ext cx="310134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25"/>
              </a:lnSpc>
            </a:pPr>
            <a:endParaRPr lang="en-US" sz="1158" dirty="0"/>
          </a:p>
        </p:txBody>
      </p:sp>
      <p:sp>
        <p:nvSpPr>
          <p:cNvPr id="8" name="Text 2"/>
          <p:cNvSpPr/>
          <p:nvPr/>
        </p:nvSpPr>
        <p:spPr>
          <a:xfrm>
            <a:off x="693420" y="2404110"/>
            <a:ext cx="10820400" cy="204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008"/>
              </a:lnSpc>
            </a:pPr>
            <a:r>
              <a:rPr lang="en-US" sz="5341" dirty="0">
                <a:solidFill>
                  <a:srgbClr val="262626"/>
                </a:solidFill>
                <a:latin typeface="Trebuchet MS" panose="020B0603020202020204" pitchFamily="34" charset="0"/>
                <a:ea typeface="思源宋体-思源宋体-Heavy" pitchFamily="34" charset="-122"/>
                <a:cs typeface="Times New Roman" panose="02020603050405020304" pitchFamily="18" charset="0"/>
              </a:rPr>
              <a:t>LL(1) PARSING IN COMPILER DESIGN</a:t>
            </a:r>
            <a:endParaRPr lang="en-US" sz="5341" dirty="0"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9A6B7C-488A-0F92-1CFB-7494AF39A3D3}"/>
              </a:ext>
            </a:extLst>
          </p:cNvPr>
          <p:cNvSpPr txBox="1"/>
          <p:nvPr/>
        </p:nvSpPr>
        <p:spPr>
          <a:xfrm>
            <a:off x="678180" y="4274076"/>
            <a:ext cx="23214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261941-572A-7A6B-FC72-7EFBC5AB27AA}"/>
              </a:ext>
            </a:extLst>
          </p:cNvPr>
          <p:cNvCxnSpPr>
            <a:cxnSpLocks/>
          </p:cNvCxnSpPr>
          <p:nvPr/>
        </p:nvCxnSpPr>
        <p:spPr>
          <a:xfrm>
            <a:off x="777240" y="4643408"/>
            <a:ext cx="12014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A4105D-ACDE-780B-7ECE-189C298BBC13}"/>
              </a:ext>
            </a:extLst>
          </p:cNvPr>
          <p:cNvSpPr txBox="1"/>
          <p:nvPr/>
        </p:nvSpPr>
        <p:spPr>
          <a:xfrm>
            <a:off x="693420" y="4797296"/>
            <a:ext cx="44246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Irfat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Jahan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Moshiur Rahman</a:t>
            </a:r>
          </a:p>
          <a:p>
            <a:pPr marL="342900" indent="-342900">
              <a:buAutoNum type="arabicPeriod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Miskatul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Jannat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Miskat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Yousuf Hossain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Noman Robin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"/>
            <a:ext cx="12192000" cy="68656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656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9150" y="1086485"/>
            <a:ext cx="1082040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6941"/>
              </a:lnSpc>
            </a:pPr>
            <a:r>
              <a:rPr lang="en-US" sz="5000" dirty="0">
                <a:solidFill>
                  <a:srgbClr val="002060"/>
                </a:solidFill>
              </a:rPr>
              <a:t>Prime Requirement of LL(1) Parser</a:t>
            </a:r>
            <a:endParaRPr lang="en-US" sz="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99160" y="2560955"/>
            <a:ext cx="5196840" cy="838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80985" indent="-380985">
              <a:lnSpc>
                <a:spcPts val="2508"/>
              </a:lnSpc>
              <a:buAutoNum type="arabicPeriod"/>
            </a:pPr>
            <a:r>
              <a:rPr lang="en-US" sz="1933" b="1" dirty="0">
                <a:solidFill>
                  <a:srgbClr val="30303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  <a:t>Grammar Rules</a:t>
            </a:r>
            <a:br>
              <a:rPr lang="en-US" sz="1933" dirty="0">
                <a:solidFill>
                  <a:srgbClr val="30303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</a:br>
            <a:r>
              <a:rPr lang="en-US" sz="1933" dirty="0">
                <a:solidFill>
                  <a:srgbClr val="30303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grammar must have no ambiguity,</a:t>
            </a:r>
          </a:p>
          <a:p>
            <a:pPr lvl="1">
              <a:lnSpc>
                <a:spcPts val="2508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no non-determinism and no left recursion.</a:t>
            </a:r>
            <a:endParaRPr lang="en-US" sz="1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99160" y="5081268"/>
            <a:ext cx="49911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508"/>
              </a:lnSpc>
            </a:pPr>
            <a:r>
              <a:rPr lang="en-US" sz="1933" b="1" dirty="0">
                <a:solidFill>
                  <a:srgbClr val="30303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  <a:t>3. LL(1) Parsing Table</a:t>
            </a:r>
          </a:p>
          <a:p>
            <a:pPr>
              <a:lnSpc>
                <a:spcPts val="2508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Guides the parser on which production </a:t>
            </a:r>
          </a:p>
          <a:p>
            <a:pPr>
              <a:lnSpc>
                <a:spcPts val="2508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use based on input and stack</a:t>
            </a:r>
            <a:endParaRPr lang="en-US" sz="1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648450" y="3425190"/>
            <a:ext cx="4991100" cy="1901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508"/>
              </a:lnSpc>
            </a:pPr>
            <a:r>
              <a:rPr lang="en-US" sz="1933" b="1" dirty="0">
                <a:solidFill>
                  <a:srgbClr val="30303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  <a:t>5.  Parse Tree</a:t>
            </a:r>
          </a:p>
          <a:p>
            <a:pPr>
              <a:lnSpc>
                <a:spcPts val="2508"/>
              </a:lnSpc>
            </a:pPr>
            <a:r>
              <a:rPr lang="en-US" sz="1933" dirty="0">
                <a:solidFill>
                  <a:srgbClr val="30303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structure representing the</a:t>
            </a:r>
          </a:p>
          <a:p>
            <a:pPr>
              <a:lnSpc>
                <a:spcPts val="2508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syntactic derivation of input</a:t>
            </a:r>
            <a:endParaRPr lang="en-US" sz="1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99160" y="3821430"/>
            <a:ext cx="4991100" cy="838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508"/>
              </a:lnSpc>
            </a:pPr>
            <a:r>
              <a:rPr lang="en-US" sz="1933" b="1" dirty="0">
                <a:solidFill>
                  <a:srgbClr val="30303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  <a:t>2. First and Follow Sets</a:t>
            </a:r>
          </a:p>
          <a:p>
            <a:pPr>
              <a:lnSpc>
                <a:spcPts val="2508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Used to determine which rule to apply</a:t>
            </a:r>
          </a:p>
          <a:p>
            <a:pPr>
              <a:lnSpc>
                <a:spcPts val="2508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during parsing</a:t>
            </a:r>
            <a:endParaRPr lang="en-US" sz="1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648450" y="2492375"/>
            <a:ext cx="4991100" cy="132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508"/>
              </a:lnSpc>
            </a:pPr>
            <a:r>
              <a:rPr lang="en-US" sz="1933" b="1" dirty="0">
                <a:solidFill>
                  <a:srgbClr val="30303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  <a:t>4. Stack Implementation</a:t>
            </a:r>
          </a:p>
          <a:p>
            <a:pPr>
              <a:lnSpc>
                <a:spcPts val="2508"/>
              </a:lnSpc>
            </a:pPr>
            <a:r>
              <a:rPr lang="en-US" sz="1933" dirty="0">
                <a:solidFill>
                  <a:srgbClr val="30303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sequence of grammar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symbols and guides parsing steps</a:t>
            </a:r>
            <a:endParaRPr lang="en-US" sz="1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3D49F20-9241-B8C3-EEA8-B9B0FB271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62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672296B-F117-73D8-E1A0-742BCC3DF65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1446AC-958F-6785-33FC-BD3CCBB8FE9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 → 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 → RY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Y → +RY | -RY | ε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 → IJ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J → *IJ | /IJ | ε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 → (M) | d | 91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BC9EB-59D1-017A-2AD7-8EB6F253EC12}"/>
              </a:ext>
            </a:extLst>
          </p:cNvPr>
          <p:cNvSpPr txBox="1"/>
          <p:nvPr/>
        </p:nvSpPr>
        <p:spPr>
          <a:xfrm>
            <a:off x="838200" y="566059"/>
            <a:ext cx="10515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9C6E9-1AF9-2F29-6531-8E10DAC42243}"/>
              </a:ext>
            </a:extLst>
          </p:cNvPr>
          <p:cNvSpPr txBox="1"/>
          <p:nvPr/>
        </p:nvSpPr>
        <p:spPr>
          <a:xfrm>
            <a:off x="838200" y="5297714"/>
            <a:ext cx="9768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Now we shall construct the parse table for the LL(1) grammar and parse the</a:t>
            </a:r>
          </a:p>
          <a:p>
            <a:r>
              <a:rPr lang="en-US" sz="2000" dirty="0"/>
              <a:t>input string d+91$</a:t>
            </a:r>
          </a:p>
        </p:txBody>
      </p:sp>
    </p:spTree>
    <p:extLst>
      <p:ext uri="{BB962C8B-B14F-4D97-AF65-F5344CB8AC3E}">
        <p14:creationId xmlns:p14="http://schemas.microsoft.com/office/powerpoint/2010/main" val="411411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5CADB4-8E51-981E-73A5-F38B26843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5" y="0"/>
            <a:ext cx="121779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AA54B7-0694-ECC9-BCA3-2E41E536FAE6}"/>
              </a:ext>
            </a:extLst>
          </p:cNvPr>
          <p:cNvSpPr txBox="1"/>
          <p:nvPr/>
        </p:nvSpPr>
        <p:spPr>
          <a:xfrm>
            <a:off x="928914" y="783771"/>
            <a:ext cx="461440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50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First and Follow</a:t>
            </a:r>
            <a:endParaRPr lang="en-US" altLang="en-US" sz="5000" dirty="0">
              <a:solidFill>
                <a:srgbClr val="002060"/>
              </a:solidFill>
            </a:endParaRP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B84387D5-79F6-A95B-4009-87A58C0CA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259865"/>
              </p:ext>
            </p:extLst>
          </p:nvPr>
        </p:nvGraphicFramePr>
        <p:xfrm>
          <a:off x="1030514" y="1645546"/>
          <a:ext cx="10323286" cy="44286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4688">
                  <a:extLst>
                    <a:ext uri="{9D8B030D-6E8A-4147-A177-3AD203B41FA5}">
                      <a16:colId xmlns:a16="http://schemas.microsoft.com/office/drawing/2014/main" val="449893595"/>
                    </a:ext>
                  </a:extLst>
                </a:gridCol>
                <a:gridCol w="3779299">
                  <a:extLst>
                    <a:ext uri="{9D8B030D-6E8A-4147-A177-3AD203B41FA5}">
                      <a16:colId xmlns:a16="http://schemas.microsoft.com/office/drawing/2014/main" val="4257754574"/>
                    </a:ext>
                  </a:extLst>
                </a:gridCol>
                <a:gridCol w="3779299">
                  <a:extLst>
                    <a:ext uri="{9D8B030D-6E8A-4147-A177-3AD203B41FA5}">
                      <a16:colId xmlns:a16="http://schemas.microsoft.com/office/drawing/2014/main" val="2186863087"/>
                    </a:ext>
                  </a:extLst>
                </a:gridCol>
              </a:tblGrid>
              <a:tr h="66293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First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Follow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0158404"/>
                  </a:ext>
                </a:extLst>
              </a:tr>
              <a:tr h="63181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D → M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{    ( , d , 91    }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{$}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78743"/>
                  </a:ext>
                </a:extLst>
              </a:tr>
              <a:tr h="637070">
                <a:tc>
                  <a:txBody>
                    <a:bodyPr/>
                    <a:lstStyle/>
                    <a:p>
                      <a:pPr marL="228600" marR="0" indent="-228600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M → RY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{    ( , d , 91    }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{   $, )   }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815531"/>
                  </a:ext>
                </a:extLst>
              </a:tr>
              <a:tr h="63181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Y → +RY | -RY | ε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{   +,  -,  ε     }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{   $, )   }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7614445"/>
                  </a:ext>
                </a:extLst>
              </a:tr>
              <a:tr h="601421">
                <a:tc>
                  <a:txBody>
                    <a:bodyPr/>
                    <a:lstStyle/>
                    <a:p>
                      <a:pPr marL="228600" marR="0" indent="-228600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R → IJ 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{    ( , d , 91    }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{   +, -, $, )   }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4685620"/>
                  </a:ext>
                </a:extLst>
              </a:tr>
              <a:tr h="63181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J → *IJ | /IJ | ε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{    *, /,  ε    }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{    +, -, $, )   }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6495005"/>
                  </a:ext>
                </a:extLst>
              </a:tr>
              <a:tr h="63181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I → (M) | d | 91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{    ( , d , 91    }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{   *, /, +, -, $, )   }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0424146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9A0DABF-0ACC-CCB7-98C8-E4405DF6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5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92544-A4E8-5242-3116-6CFAB1C64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5" y="0"/>
            <a:ext cx="12177905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730C7-0652-788A-C3EA-9CFF4EAB8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B80C60-B7EB-2C70-9BA6-273485191F2D}"/>
              </a:ext>
            </a:extLst>
          </p:cNvPr>
          <p:cNvSpPr txBox="1">
            <a:spLocks/>
          </p:cNvSpPr>
          <p:nvPr/>
        </p:nvSpPr>
        <p:spPr>
          <a:xfrm>
            <a:off x="707571" y="30706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Parsing Table: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A068678-6277-751C-1084-8E20873697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8170762"/>
              </p:ext>
            </p:extLst>
          </p:nvPr>
        </p:nvGraphicFramePr>
        <p:xfrm>
          <a:off x="622095" y="1320801"/>
          <a:ext cx="6549571" cy="47897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4266">
                  <a:extLst>
                    <a:ext uri="{9D8B030D-6E8A-4147-A177-3AD203B41FA5}">
                      <a16:colId xmlns:a16="http://schemas.microsoft.com/office/drawing/2014/main" val="1359686958"/>
                    </a:ext>
                  </a:extLst>
                </a:gridCol>
                <a:gridCol w="827498">
                  <a:extLst>
                    <a:ext uri="{9D8B030D-6E8A-4147-A177-3AD203B41FA5}">
                      <a16:colId xmlns:a16="http://schemas.microsoft.com/office/drawing/2014/main" val="3855903920"/>
                    </a:ext>
                  </a:extLst>
                </a:gridCol>
                <a:gridCol w="640882">
                  <a:extLst>
                    <a:ext uri="{9D8B030D-6E8A-4147-A177-3AD203B41FA5}">
                      <a16:colId xmlns:a16="http://schemas.microsoft.com/office/drawing/2014/main" val="3958864990"/>
                    </a:ext>
                  </a:extLst>
                </a:gridCol>
                <a:gridCol w="640882">
                  <a:extLst>
                    <a:ext uri="{9D8B030D-6E8A-4147-A177-3AD203B41FA5}">
                      <a16:colId xmlns:a16="http://schemas.microsoft.com/office/drawing/2014/main" val="1567174994"/>
                    </a:ext>
                  </a:extLst>
                </a:gridCol>
                <a:gridCol w="684138">
                  <a:extLst>
                    <a:ext uri="{9D8B030D-6E8A-4147-A177-3AD203B41FA5}">
                      <a16:colId xmlns:a16="http://schemas.microsoft.com/office/drawing/2014/main" val="722812327"/>
                    </a:ext>
                  </a:extLst>
                </a:gridCol>
                <a:gridCol w="641849">
                  <a:extLst>
                    <a:ext uri="{9D8B030D-6E8A-4147-A177-3AD203B41FA5}">
                      <a16:colId xmlns:a16="http://schemas.microsoft.com/office/drawing/2014/main" val="1894039658"/>
                    </a:ext>
                  </a:extLst>
                </a:gridCol>
                <a:gridCol w="598904">
                  <a:extLst>
                    <a:ext uri="{9D8B030D-6E8A-4147-A177-3AD203B41FA5}">
                      <a16:colId xmlns:a16="http://schemas.microsoft.com/office/drawing/2014/main" val="3054443038"/>
                    </a:ext>
                  </a:extLst>
                </a:gridCol>
                <a:gridCol w="641630">
                  <a:extLst>
                    <a:ext uri="{9D8B030D-6E8A-4147-A177-3AD203B41FA5}">
                      <a16:colId xmlns:a16="http://schemas.microsoft.com/office/drawing/2014/main" val="4109283852"/>
                    </a:ext>
                  </a:extLst>
                </a:gridCol>
                <a:gridCol w="641630">
                  <a:extLst>
                    <a:ext uri="{9D8B030D-6E8A-4147-A177-3AD203B41FA5}">
                      <a16:colId xmlns:a16="http://schemas.microsoft.com/office/drawing/2014/main" val="2913618444"/>
                    </a:ext>
                  </a:extLst>
                </a:gridCol>
                <a:gridCol w="777892">
                  <a:extLst>
                    <a:ext uri="{9D8B030D-6E8A-4147-A177-3AD203B41FA5}">
                      <a16:colId xmlns:a16="http://schemas.microsoft.com/office/drawing/2014/main" val="143079907"/>
                    </a:ext>
                  </a:extLst>
                </a:gridCol>
              </a:tblGrid>
              <a:tr h="68614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1127531"/>
                  </a:ext>
                </a:extLst>
              </a:tr>
              <a:tr h="65404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→ 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→ 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→ 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8551861"/>
                  </a:ext>
                </a:extLst>
              </a:tr>
              <a:tr h="69887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→ 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→ 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→ 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7918615"/>
                  </a:ext>
                </a:extLst>
              </a:tr>
              <a:tr h="69887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+RY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-RY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5620080"/>
                  </a:ext>
                </a:extLst>
              </a:tr>
              <a:tr h="69887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 IJ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 IJ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 IJ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2870416"/>
                  </a:ext>
                </a:extLst>
              </a:tr>
              <a:tr h="65404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*IJ  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/IJ 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818766"/>
                  </a:ext>
                </a:extLst>
              </a:tr>
              <a:tr h="69887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→ (M)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→ d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→ 91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2858777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CEDCE91-5DEA-387B-969A-4063D9483A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135434"/>
              </p:ext>
            </p:extLst>
          </p:nvPr>
        </p:nvGraphicFramePr>
        <p:xfrm>
          <a:off x="7518404" y="1646461"/>
          <a:ext cx="4398249" cy="44640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7899">
                  <a:extLst>
                    <a:ext uri="{9D8B030D-6E8A-4147-A177-3AD203B41FA5}">
                      <a16:colId xmlns:a16="http://schemas.microsoft.com/office/drawing/2014/main" val="449893595"/>
                    </a:ext>
                  </a:extLst>
                </a:gridCol>
                <a:gridCol w="1610175">
                  <a:extLst>
                    <a:ext uri="{9D8B030D-6E8A-4147-A177-3AD203B41FA5}">
                      <a16:colId xmlns:a16="http://schemas.microsoft.com/office/drawing/2014/main" val="4257754574"/>
                    </a:ext>
                  </a:extLst>
                </a:gridCol>
                <a:gridCol w="1610175">
                  <a:extLst>
                    <a:ext uri="{9D8B030D-6E8A-4147-A177-3AD203B41FA5}">
                      <a16:colId xmlns:a16="http://schemas.microsoft.com/office/drawing/2014/main" val="2186863087"/>
                    </a:ext>
                  </a:extLst>
                </a:gridCol>
              </a:tblGrid>
              <a:tr h="66822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First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Follow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0158404"/>
                  </a:ext>
                </a:extLst>
              </a:tr>
              <a:tr h="63686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D → M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{ ( , d , 91 }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{$}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78743"/>
                  </a:ext>
                </a:extLst>
              </a:tr>
              <a:tr h="642158">
                <a:tc>
                  <a:txBody>
                    <a:bodyPr/>
                    <a:lstStyle/>
                    <a:p>
                      <a:pPr marL="228600" marR="0" indent="-228600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M → RY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{ ( , d , 91 }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{   $, )   }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815531"/>
                  </a:ext>
                </a:extLst>
              </a:tr>
              <a:tr h="63686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Y → +RY | -RY | ε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{   +,  -,  ε  }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{   $, )   }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7614445"/>
                  </a:ext>
                </a:extLst>
              </a:tr>
              <a:tr h="606225">
                <a:tc>
                  <a:txBody>
                    <a:bodyPr/>
                    <a:lstStyle/>
                    <a:p>
                      <a:pPr marL="228600" marR="0" indent="-228600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R → IJ 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{  ( , d , 91}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{   +, -, $, )   }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4685620"/>
                  </a:ext>
                </a:extLst>
              </a:tr>
              <a:tr h="63686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J → *IJ | /IJ | ε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{  *, /,  ε  }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{    +, -, $, )   }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6495005"/>
                  </a:ext>
                </a:extLst>
              </a:tr>
              <a:tr h="63686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15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I → (M) | d | 91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{ ( , d , 91  }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{  *, /, +, -, $, ) }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042414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4D04B3F-62DE-BD63-7F0F-F075F5BD6F49}"/>
              </a:ext>
            </a:extLst>
          </p:cNvPr>
          <p:cNvSpPr txBox="1"/>
          <p:nvPr/>
        </p:nvSpPr>
        <p:spPr>
          <a:xfrm>
            <a:off x="7518404" y="1201550"/>
            <a:ext cx="6190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First and Follow</a:t>
            </a:r>
            <a:endParaRPr lang="en-US" altLang="en-US" sz="1800" dirty="0">
              <a:solidFill>
                <a:srgbClr val="00206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B9CF64-C81D-82D2-8FCB-F26762F764F6}"/>
              </a:ext>
            </a:extLst>
          </p:cNvPr>
          <p:cNvCxnSpPr>
            <a:cxnSpLocks/>
          </p:cNvCxnSpPr>
          <p:nvPr/>
        </p:nvCxnSpPr>
        <p:spPr>
          <a:xfrm>
            <a:off x="7402290" y="969848"/>
            <a:ext cx="0" cy="5569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050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E1D885-AF00-A33C-A8BF-49E727275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75AE80-7726-7666-84A8-08152D609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" y="0"/>
            <a:ext cx="12177905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7C57609-930C-26A7-1384-B3B85943E057}"/>
              </a:ext>
            </a:extLst>
          </p:cNvPr>
          <p:cNvSpPr txBox="1">
            <a:spLocks/>
          </p:cNvSpPr>
          <p:nvPr/>
        </p:nvSpPr>
        <p:spPr>
          <a:xfrm>
            <a:off x="373743" y="319088"/>
            <a:ext cx="105156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implementation: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C9C3257-6946-63AC-030B-280790C2EB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1798098"/>
              </p:ext>
            </p:extLst>
          </p:nvPr>
        </p:nvGraphicFramePr>
        <p:xfrm>
          <a:off x="489857" y="1277256"/>
          <a:ext cx="4273602" cy="50159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4534">
                  <a:extLst>
                    <a:ext uri="{9D8B030D-6E8A-4147-A177-3AD203B41FA5}">
                      <a16:colId xmlns:a16="http://schemas.microsoft.com/office/drawing/2014/main" val="2989668080"/>
                    </a:ext>
                  </a:extLst>
                </a:gridCol>
                <a:gridCol w="1424534">
                  <a:extLst>
                    <a:ext uri="{9D8B030D-6E8A-4147-A177-3AD203B41FA5}">
                      <a16:colId xmlns:a16="http://schemas.microsoft.com/office/drawing/2014/main" val="1055377462"/>
                    </a:ext>
                  </a:extLst>
                </a:gridCol>
                <a:gridCol w="1424534">
                  <a:extLst>
                    <a:ext uri="{9D8B030D-6E8A-4147-A177-3AD203B41FA5}">
                      <a16:colId xmlns:a16="http://schemas.microsoft.com/office/drawing/2014/main" val="188596867"/>
                    </a:ext>
                  </a:extLst>
                </a:gridCol>
              </a:tblGrid>
              <a:tr h="3417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709600943"/>
                  </a:ext>
                </a:extLst>
              </a:tr>
              <a:tr h="32602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d+91$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→ 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4043107722"/>
                  </a:ext>
                </a:extLst>
              </a:tr>
              <a:tr h="3417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d+91$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→ RY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157227599"/>
                  </a:ext>
                </a:extLst>
              </a:tr>
              <a:tr h="32602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d+91$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 IJ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3860804306"/>
                  </a:ext>
                </a:extLst>
              </a:tr>
              <a:tr h="3417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$YJI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d+91$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→ 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3729875866"/>
                  </a:ext>
                </a:extLst>
              </a:tr>
              <a:tr h="32602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$YJd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d+91$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→ pop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2196156484"/>
                  </a:ext>
                </a:extLst>
              </a:tr>
              <a:tr h="3417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$YJ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+91$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1521378471"/>
                  </a:ext>
                </a:extLst>
              </a:tr>
              <a:tr h="32602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+91$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+ RY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4107331474"/>
                  </a:ext>
                </a:extLst>
              </a:tr>
              <a:tr h="3417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$YR+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+91$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3650844454"/>
                  </a:ext>
                </a:extLst>
              </a:tr>
              <a:tr h="32602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 IJ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2961821758"/>
                  </a:ext>
                </a:extLst>
              </a:tr>
              <a:tr h="3417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$YJI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→ 91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418206410"/>
                  </a:ext>
                </a:extLst>
              </a:tr>
              <a:tr h="32602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$YJ91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476250" algn="l"/>
                        </a:tabLs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180289542"/>
                  </a:ext>
                </a:extLst>
              </a:tr>
              <a:tr h="3417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$YJ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3919712883"/>
                  </a:ext>
                </a:extLst>
              </a:tr>
              <a:tr h="32602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ε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2972147733"/>
                  </a:ext>
                </a:extLst>
              </a:tr>
              <a:tr h="34172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2380726069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3D8DF23D-D09F-8008-BCB4-DD1F02E174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6113305"/>
              </p:ext>
            </p:extLst>
          </p:nvPr>
        </p:nvGraphicFramePr>
        <p:xfrm>
          <a:off x="5335814" y="1749198"/>
          <a:ext cx="6549571" cy="47897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4266">
                  <a:extLst>
                    <a:ext uri="{9D8B030D-6E8A-4147-A177-3AD203B41FA5}">
                      <a16:colId xmlns:a16="http://schemas.microsoft.com/office/drawing/2014/main" val="1359686958"/>
                    </a:ext>
                  </a:extLst>
                </a:gridCol>
                <a:gridCol w="827498">
                  <a:extLst>
                    <a:ext uri="{9D8B030D-6E8A-4147-A177-3AD203B41FA5}">
                      <a16:colId xmlns:a16="http://schemas.microsoft.com/office/drawing/2014/main" val="3855903920"/>
                    </a:ext>
                  </a:extLst>
                </a:gridCol>
                <a:gridCol w="640882">
                  <a:extLst>
                    <a:ext uri="{9D8B030D-6E8A-4147-A177-3AD203B41FA5}">
                      <a16:colId xmlns:a16="http://schemas.microsoft.com/office/drawing/2014/main" val="3958864990"/>
                    </a:ext>
                  </a:extLst>
                </a:gridCol>
                <a:gridCol w="640882">
                  <a:extLst>
                    <a:ext uri="{9D8B030D-6E8A-4147-A177-3AD203B41FA5}">
                      <a16:colId xmlns:a16="http://schemas.microsoft.com/office/drawing/2014/main" val="1567174994"/>
                    </a:ext>
                  </a:extLst>
                </a:gridCol>
                <a:gridCol w="684138">
                  <a:extLst>
                    <a:ext uri="{9D8B030D-6E8A-4147-A177-3AD203B41FA5}">
                      <a16:colId xmlns:a16="http://schemas.microsoft.com/office/drawing/2014/main" val="722812327"/>
                    </a:ext>
                  </a:extLst>
                </a:gridCol>
                <a:gridCol w="641849">
                  <a:extLst>
                    <a:ext uri="{9D8B030D-6E8A-4147-A177-3AD203B41FA5}">
                      <a16:colId xmlns:a16="http://schemas.microsoft.com/office/drawing/2014/main" val="1894039658"/>
                    </a:ext>
                  </a:extLst>
                </a:gridCol>
                <a:gridCol w="598904">
                  <a:extLst>
                    <a:ext uri="{9D8B030D-6E8A-4147-A177-3AD203B41FA5}">
                      <a16:colId xmlns:a16="http://schemas.microsoft.com/office/drawing/2014/main" val="3054443038"/>
                    </a:ext>
                  </a:extLst>
                </a:gridCol>
                <a:gridCol w="641630">
                  <a:extLst>
                    <a:ext uri="{9D8B030D-6E8A-4147-A177-3AD203B41FA5}">
                      <a16:colId xmlns:a16="http://schemas.microsoft.com/office/drawing/2014/main" val="4109283852"/>
                    </a:ext>
                  </a:extLst>
                </a:gridCol>
                <a:gridCol w="641630">
                  <a:extLst>
                    <a:ext uri="{9D8B030D-6E8A-4147-A177-3AD203B41FA5}">
                      <a16:colId xmlns:a16="http://schemas.microsoft.com/office/drawing/2014/main" val="2913618444"/>
                    </a:ext>
                  </a:extLst>
                </a:gridCol>
                <a:gridCol w="777892">
                  <a:extLst>
                    <a:ext uri="{9D8B030D-6E8A-4147-A177-3AD203B41FA5}">
                      <a16:colId xmlns:a16="http://schemas.microsoft.com/office/drawing/2014/main" val="143079907"/>
                    </a:ext>
                  </a:extLst>
                </a:gridCol>
              </a:tblGrid>
              <a:tr h="68614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1127531"/>
                  </a:ext>
                </a:extLst>
              </a:tr>
              <a:tr h="65404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→ 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→ 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→ 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8551861"/>
                  </a:ext>
                </a:extLst>
              </a:tr>
              <a:tr h="69887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→ 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→ 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→ 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7918615"/>
                  </a:ext>
                </a:extLst>
              </a:tr>
              <a:tr h="69887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+RY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-RY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5620080"/>
                  </a:ext>
                </a:extLst>
              </a:tr>
              <a:tr h="69887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 IJ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 IJ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 IJ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2870416"/>
                  </a:ext>
                </a:extLst>
              </a:tr>
              <a:tr h="65404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*IJ  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/IJ 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→ ε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818766"/>
                  </a:ext>
                </a:extLst>
              </a:tr>
              <a:tr h="69887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→ (M)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→ d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→ 91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285877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F34B34-4766-C19C-DDB4-862414F3F69C}"/>
              </a:ext>
            </a:extLst>
          </p:cNvPr>
          <p:cNvSpPr txBox="1"/>
          <p:nvPr/>
        </p:nvSpPr>
        <p:spPr>
          <a:xfrm>
            <a:off x="5264097" y="1357636"/>
            <a:ext cx="619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Parsing Table: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D34B3C-1808-1099-7B74-3C1A7BF39911}"/>
              </a:ext>
            </a:extLst>
          </p:cNvPr>
          <p:cNvCxnSpPr/>
          <p:nvPr/>
        </p:nvCxnSpPr>
        <p:spPr>
          <a:xfrm>
            <a:off x="5091953" y="1277256"/>
            <a:ext cx="0" cy="5261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8B7922-8BDA-250A-8996-DD6E4C77EF7F}"/>
              </a:ext>
            </a:extLst>
          </p:cNvPr>
          <p:cNvCxnSpPr>
            <a:cxnSpLocks/>
          </p:cNvCxnSpPr>
          <p:nvPr/>
        </p:nvCxnSpPr>
        <p:spPr>
          <a:xfrm>
            <a:off x="5091953" y="1273061"/>
            <a:ext cx="6762776" cy="45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644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A920-887F-D151-0DAE-8BEE0B1B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6DB4-74CB-C95D-123D-3D8E90B55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C8B1C-4ED4-5EB2-EEFA-7849D26D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709B7-9F23-6D13-0FDB-63E239A13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838" y="0"/>
            <a:ext cx="12177905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136FAA9-FB29-1291-61CC-147900AEC7BD}"/>
              </a:ext>
            </a:extLst>
          </p:cNvPr>
          <p:cNvSpPr/>
          <p:nvPr/>
        </p:nvSpPr>
        <p:spPr>
          <a:xfrm>
            <a:off x="7360023" y="1140895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A92DEA-9E44-AB0F-49F3-B94476D685C2}"/>
              </a:ext>
            </a:extLst>
          </p:cNvPr>
          <p:cNvSpPr/>
          <p:nvPr/>
        </p:nvSpPr>
        <p:spPr>
          <a:xfrm>
            <a:off x="5932942" y="2631139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EC4333-A51F-D8F0-D0F5-247D00BF5760}"/>
              </a:ext>
            </a:extLst>
          </p:cNvPr>
          <p:cNvSpPr/>
          <p:nvPr/>
        </p:nvSpPr>
        <p:spPr>
          <a:xfrm>
            <a:off x="8663798" y="2631138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4AC7A0-2E4C-E327-684C-15AA5976AB17}"/>
              </a:ext>
            </a:extLst>
          </p:cNvPr>
          <p:cNvSpPr/>
          <p:nvPr/>
        </p:nvSpPr>
        <p:spPr>
          <a:xfrm>
            <a:off x="5196118" y="3877232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2A8AD1-9445-A484-6536-4BCE5390B463}"/>
              </a:ext>
            </a:extLst>
          </p:cNvPr>
          <p:cNvSpPr/>
          <p:nvPr/>
        </p:nvSpPr>
        <p:spPr>
          <a:xfrm>
            <a:off x="6591269" y="5221939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ε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5371F97-316D-614B-0696-62324502FD43}"/>
              </a:ext>
            </a:extLst>
          </p:cNvPr>
          <p:cNvSpPr/>
          <p:nvPr/>
        </p:nvSpPr>
        <p:spPr>
          <a:xfrm>
            <a:off x="5196118" y="5221939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232C18-3782-CFB1-8723-1D35D4A9561C}"/>
              </a:ext>
            </a:extLst>
          </p:cNvPr>
          <p:cNvSpPr/>
          <p:nvPr/>
        </p:nvSpPr>
        <p:spPr>
          <a:xfrm>
            <a:off x="6591269" y="3895442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70EF2D-88E3-7D6D-C634-EFC9B348E8D7}"/>
              </a:ext>
            </a:extLst>
          </p:cNvPr>
          <p:cNvSpPr/>
          <p:nvPr/>
        </p:nvSpPr>
        <p:spPr>
          <a:xfrm>
            <a:off x="8103508" y="3877233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91B55A3-0945-A89B-528E-248305382024}"/>
              </a:ext>
            </a:extLst>
          </p:cNvPr>
          <p:cNvSpPr/>
          <p:nvPr/>
        </p:nvSpPr>
        <p:spPr>
          <a:xfrm>
            <a:off x="9288012" y="3877234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FFAF57-E3A2-9B03-9D2F-954C1F08D6FE}"/>
              </a:ext>
            </a:extLst>
          </p:cNvPr>
          <p:cNvSpPr/>
          <p:nvPr/>
        </p:nvSpPr>
        <p:spPr>
          <a:xfrm>
            <a:off x="10685931" y="3895161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9A97AC-E47E-EABA-4604-47E3A5030E72}"/>
              </a:ext>
            </a:extLst>
          </p:cNvPr>
          <p:cNvSpPr/>
          <p:nvPr/>
        </p:nvSpPr>
        <p:spPr>
          <a:xfrm>
            <a:off x="8794384" y="4854386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916C50E-6000-E8DD-B4B6-A9AAE2403051}"/>
              </a:ext>
            </a:extLst>
          </p:cNvPr>
          <p:cNvSpPr/>
          <p:nvPr/>
        </p:nvSpPr>
        <p:spPr>
          <a:xfrm>
            <a:off x="10000133" y="4854385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C9BF61-DFC1-3A00-E5A5-A1DC3470B9CA}"/>
              </a:ext>
            </a:extLst>
          </p:cNvPr>
          <p:cNvSpPr/>
          <p:nvPr/>
        </p:nvSpPr>
        <p:spPr>
          <a:xfrm>
            <a:off x="8794384" y="5793440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359061-7CF4-E65F-3663-7D8C255DC416}"/>
              </a:ext>
            </a:extLst>
          </p:cNvPr>
          <p:cNvSpPr/>
          <p:nvPr/>
        </p:nvSpPr>
        <p:spPr>
          <a:xfrm>
            <a:off x="10010212" y="5793440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ε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A0E041-A984-63A8-36F4-DB272925D48F}"/>
              </a:ext>
            </a:extLst>
          </p:cNvPr>
          <p:cNvSpPr/>
          <p:nvPr/>
        </p:nvSpPr>
        <p:spPr>
          <a:xfrm>
            <a:off x="11205882" y="4854385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ε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E073C0-A534-0F94-6ACE-64A24495C8EF}"/>
              </a:ext>
            </a:extLst>
          </p:cNvPr>
          <p:cNvSpPr/>
          <p:nvPr/>
        </p:nvSpPr>
        <p:spPr>
          <a:xfrm>
            <a:off x="7360023" y="2017055"/>
            <a:ext cx="600636" cy="61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29FB871-A1F8-7D24-3686-BF962A0D3220}"/>
              </a:ext>
            </a:extLst>
          </p:cNvPr>
          <p:cNvCxnSpPr>
            <a:stCxn id="6" idx="4"/>
            <a:endCxn id="21" idx="0"/>
          </p:cNvCxnSpPr>
          <p:nvPr/>
        </p:nvCxnSpPr>
        <p:spPr>
          <a:xfrm>
            <a:off x="7660341" y="1754978"/>
            <a:ext cx="0" cy="262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C9FECFE-E821-E925-2CDE-0BEA6E3FB3BF}"/>
              </a:ext>
            </a:extLst>
          </p:cNvPr>
          <p:cNvCxnSpPr>
            <a:cxnSpLocks/>
            <a:stCxn id="21" idx="3"/>
            <a:endCxn id="7" idx="7"/>
          </p:cNvCxnSpPr>
          <p:nvPr/>
        </p:nvCxnSpPr>
        <p:spPr>
          <a:xfrm flipH="1">
            <a:off x="6445617" y="2541208"/>
            <a:ext cx="1002367" cy="179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A34D78-DB92-5D69-6160-6A43649B8779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5496436" y="3155292"/>
            <a:ext cx="524467" cy="72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CA4138-570A-F951-44D7-D83C63EA43B4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5496436" y="4491315"/>
            <a:ext cx="0" cy="73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88D639-8716-04FF-8A4C-CF4E656E5F1F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6445617" y="3155292"/>
            <a:ext cx="445970" cy="740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61DD68-83D7-4AC1-237D-4DA5251F25F0}"/>
              </a:ext>
            </a:extLst>
          </p:cNvPr>
          <p:cNvCxnSpPr>
            <a:cxnSpLocks/>
            <a:stCxn id="12" idx="4"/>
            <a:endCxn id="10" idx="0"/>
          </p:cNvCxnSpPr>
          <p:nvPr/>
        </p:nvCxnSpPr>
        <p:spPr>
          <a:xfrm>
            <a:off x="6891587" y="4509525"/>
            <a:ext cx="0" cy="71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5C820FB-ED8B-B342-CB88-0C8CB04E20B0}"/>
              </a:ext>
            </a:extLst>
          </p:cNvPr>
          <p:cNvCxnSpPr>
            <a:cxnSpLocks/>
            <a:stCxn id="21" idx="5"/>
            <a:endCxn id="8" idx="1"/>
          </p:cNvCxnSpPr>
          <p:nvPr/>
        </p:nvCxnSpPr>
        <p:spPr>
          <a:xfrm>
            <a:off x="7872698" y="2541208"/>
            <a:ext cx="879061" cy="179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F32DD34-33BE-468F-8250-5C724AEFF547}"/>
              </a:ext>
            </a:extLst>
          </p:cNvPr>
          <p:cNvCxnSpPr>
            <a:cxnSpLocks/>
            <a:stCxn id="8" idx="3"/>
            <a:endCxn id="13" idx="0"/>
          </p:cNvCxnSpPr>
          <p:nvPr/>
        </p:nvCxnSpPr>
        <p:spPr>
          <a:xfrm flipH="1">
            <a:off x="8403826" y="3155291"/>
            <a:ext cx="347933" cy="72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8CFBBBD-F01B-6C3A-FAB0-90A93E244D8D}"/>
              </a:ext>
            </a:extLst>
          </p:cNvPr>
          <p:cNvCxnSpPr>
            <a:cxnSpLocks/>
            <a:stCxn id="14" idx="5"/>
            <a:endCxn id="17" idx="0"/>
          </p:cNvCxnSpPr>
          <p:nvPr/>
        </p:nvCxnSpPr>
        <p:spPr>
          <a:xfrm>
            <a:off x="9800687" y="4401387"/>
            <a:ext cx="499764" cy="45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D98D79-36E9-ECC3-B53A-6C037C47DF2C}"/>
              </a:ext>
            </a:extLst>
          </p:cNvPr>
          <p:cNvCxnSpPr>
            <a:cxnSpLocks/>
            <a:stCxn id="14" idx="3"/>
            <a:endCxn id="16" idx="0"/>
          </p:cNvCxnSpPr>
          <p:nvPr/>
        </p:nvCxnSpPr>
        <p:spPr>
          <a:xfrm flipH="1">
            <a:off x="9094702" y="4401387"/>
            <a:ext cx="281271" cy="452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398815-A441-94D9-FA3D-112C625A28F9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9176473" y="3155291"/>
            <a:ext cx="411857" cy="72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4686D9-B48B-A7B8-3E90-80F39AD8250E}"/>
              </a:ext>
            </a:extLst>
          </p:cNvPr>
          <p:cNvCxnSpPr>
            <a:cxnSpLocks/>
            <a:stCxn id="8" idx="6"/>
            <a:endCxn id="15" idx="1"/>
          </p:cNvCxnSpPr>
          <p:nvPr/>
        </p:nvCxnSpPr>
        <p:spPr>
          <a:xfrm>
            <a:off x="9264434" y="2938180"/>
            <a:ext cx="1509458" cy="1046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7F006D-40E7-F01D-2ED5-903F0BE73E6C}"/>
              </a:ext>
            </a:extLst>
          </p:cNvPr>
          <p:cNvCxnSpPr>
            <a:cxnSpLocks/>
            <a:stCxn id="16" idx="4"/>
            <a:endCxn id="18" idx="0"/>
          </p:cNvCxnSpPr>
          <p:nvPr/>
        </p:nvCxnSpPr>
        <p:spPr>
          <a:xfrm>
            <a:off x="9094702" y="5468469"/>
            <a:ext cx="0" cy="324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3DFF71-5C87-2163-D0D6-8988EE1FB962}"/>
              </a:ext>
            </a:extLst>
          </p:cNvPr>
          <p:cNvCxnSpPr>
            <a:cxnSpLocks/>
            <a:stCxn id="15" idx="5"/>
            <a:endCxn id="20" idx="0"/>
          </p:cNvCxnSpPr>
          <p:nvPr/>
        </p:nvCxnSpPr>
        <p:spPr>
          <a:xfrm>
            <a:off x="11198606" y="4419314"/>
            <a:ext cx="307594" cy="43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3E8053-4482-A73A-3043-37DB13D90029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>
            <a:off x="10300451" y="5468468"/>
            <a:ext cx="10079" cy="324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68A9319-0F49-6044-6028-DAD8727A2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29244"/>
              </p:ext>
            </p:extLst>
          </p:nvPr>
        </p:nvGraphicFramePr>
        <p:xfrm>
          <a:off x="722110" y="1193424"/>
          <a:ext cx="2825229" cy="54034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1743">
                  <a:extLst>
                    <a:ext uri="{9D8B030D-6E8A-4147-A177-3AD203B41FA5}">
                      <a16:colId xmlns:a16="http://schemas.microsoft.com/office/drawing/2014/main" val="598409289"/>
                    </a:ext>
                  </a:extLst>
                </a:gridCol>
                <a:gridCol w="941743">
                  <a:extLst>
                    <a:ext uri="{9D8B030D-6E8A-4147-A177-3AD203B41FA5}">
                      <a16:colId xmlns:a16="http://schemas.microsoft.com/office/drawing/2014/main" val="4065088396"/>
                    </a:ext>
                  </a:extLst>
                </a:gridCol>
                <a:gridCol w="941743">
                  <a:extLst>
                    <a:ext uri="{9D8B030D-6E8A-4147-A177-3AD203B41FA5}">
                      <a16:colId xmlns:a16="http://schemas.microsoft.com/office/drawing/2014/main" val="1507592850"/>
                    </a:ext>
                  </a:extLst>
                </a:gridCol>
              </a:tblGrid>
              <a:tr h="36812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Stack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Input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Output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4076457612"/>
                  </a:ext>
                </a:extLst>
              </a:tr>
              <a:tr h="35121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$D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d+91$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D → M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3225656591"/>
                  </a:ext>
                </a:extLst>
              </a:tr>
              <a:tr h="36812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$M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d+91$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M → RY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3391729324"/>
                  </a:ext>
                </a:extLst>
              </a:tr>
              <a:tr h="35121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$YR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d+91$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 → IJ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4201157237"/>
                  </a:ext>
                </a:extLst>
              </a:tr>
              <a:tr h="36812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$YJI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d+91$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 → d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1675457278"/>
                  </a:ext>
                </a:extLst>
              </a:tr>
              <a:tr h="35121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$YJd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d+91$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 → pop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2132068428"/>
                  </a:ext>
                </a:extLst>
              </a:tr>
              <a:tr h="36812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$YJ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+91$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J → ε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1566745594"/>
                  </a:ext>
                </a:extLst>
              </a:tr>
              <a:tr h="35121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+91$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Y → + RY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833791618"/>
                  </a:ext>
                </a:extLst>
              </a:tr>
              <a:tr h="36812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$YR+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+91$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pop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2497479082"/>
                  </a:ext>
                </a:extLst>
              </a:tr>
              <a:tr h="35121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$YR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 → IJ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3795082416"/>
                  </a:ext>
                </a:extLst>
              </a:tr>
              <a:tr h="36812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$YJI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 → 91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4243629437"/>
                  </a:ext>
                </a:extLst>
              </a:tr>
              <a:tr h="35121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$YJ91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91$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476250" algn="l"/>
                        </a:tabLst>
                      </a:pPr>
                      <a:r>
                        <a:rPr lang="en-US" sz="1100">
                          <a:effectLst/>
                        </a:rPr>
                        <a:t>pop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3811203577"/>
                  </a:ext>
                </a:extLst>
              </a:tr>
              <a:tr h="36812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$YJ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J → ε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3192983586"/>
                  </a:ext>
                </a:extLst>
              </a:tr>
              <a:tr h="35121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Y → ε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1235813992"/>
                  </a:ext>
                </a:extLst>
              </a:tr>
              <a:tr h="36812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$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accept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6839" marR="66839" marT="0" marB="0"/>
                </a:tc>
                <a:extLst>
                  <a:ext uri="{0D108BD9-81ED-4DB2-BD59-A6C34878D82A}">
                    <a16:rowId xmlns:a16="http://schemas.microsoft.com/office/drawing/2014/main" val="104524569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6534E17F-6C89-BDDA-5018-7FCC5EEDF800}"/>
              </a:ext>
            </a:extLst>
          </p:cNvPr>
          <p:cNvSpPr txBox="1"/>
          <p:nvPr/>
        </p:nvSpPr>
        <p:spPr>
          <a:xfrm>
            <a:off x="6198901" y="251804"/>
            <a:ext cx="309065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</p:txBody>
      </p:sp>
      <p:sp>
        <p:nvSpPr>
          <p:cNvPr id="39" name="Slide Number Placeholder 1">
            <a:extLst>
              <a:ext uri="{FF2B5EF4-FFF2-40B4-BE49-F238E27FC236}">
                <a16:creationId xmlns:a16="http://schemas.microsoft.com/office/drawing/2014/main" id="{176C6779-5F5C-F19B-A538-392FD0DC73BD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525DCD-6DB1-48D0-8D88-F852053AC5F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2ABB0C-4214-77E5-176F-9E3278A7C4AF}"/>
              </a:ext>
            </a:extLst>
          </p:cNvPr>
          <p:cNvSpPr txBox="1"/>
          <p:nvPr/>
        </p:nvSpPr>
        <p:spPr>
          <a:xfrm>
            <a:off x="574675" y="811715"/>
            <a:ext cx="620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implementation: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D0CAE3B-74A2-1767-E3F5-59AF058F87B6}"/>
              </a:ext>
            </a:extLst>
          </p:cNvPr>
          <p:cNvCxnSpPr>
            <a:cxnSpLocks/>
          </p:cNvCxnSpPr>
          <p:nvPr/>
        </p:nvCxnSpPr>
        <p:spPr>
          <a:xfrm>
            <a:off x="4013200" y="1113578"/>
            <a:ext cx="0" cy="5577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9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D50A7-6302-17B4-FE1A-047EC9BB3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C621C-3E11-CA3B-BA7D-7CCDFEA9B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1A21C-01AB-2E51-9A40-AB362F00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DCD-6DB1-48D0-8D88-F852053AC5FC}" type="slidenum">
              <a:rPr lang="en-US" smtClean="0"/>
              <a:t>8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FDBCBE-02D2-08ED-18B3-50E07E110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5B3C27-AC01-E3D1-624F-61250C086210}"/>
              </a:ext>
            </a:extLst>
          </p:cNvPr>
          <p:cNvSpPr txBox="1"/>
          <p:nvPr/>
        </p:nvSpPr>
        <p:spPr>
          <a:xfrm>
            <a:off x="1555750" y="2447945"/>
            <a:ext cx="9080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LL(1) parsing is a fundamental technique in compiler design that ensures efficient and deterministic parsing of source code.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removing ambiguity, non-determinism, and left recursion from grammar, and using FIRST &amp; FOLLOW sets, parsing tables, and stack-driven methods, we can build reliable parsers.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LL(1) parsing lays the groundwork for more advanced compiler concepts and practical parser implementations.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BC7047-56C9-2D46-672D-841995E81A86}"/>
              </a:ext>
            </a:extLst>
          </p:cNvPr>
          <p:cNvSpPr txBox="1"/>
          <p:nvPr/>
        </p:nvSpPr>
        <p:spPr>
          <a:xfrm>
            <a:off x="1555750" y="1215351"/>
            <a:ext cx="310694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58683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56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656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2467610"/>
            <a:ext cx="10820400" cy="1922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6941"/>
              </a:lnSpc>
            </a:pPr>
            <a:r>
              <a:rPr lang="en-US" sz="11500" dirty="0">
                <a:solidFill>
                  <a:srgbClr val="002060"/>
                </a:solidFill>
                <a:latin typeface="Times New Roman" panose="02020603050405020304" pitchFamily="18" charset="0"/>
                <a:ea typeface="思源黑体-思源黑体-Regular" pitchFamily="34" charset="-122"/>
                <a:cs typeface="Times New Roman" panose="02020603050405020304" pitchFamily="18" charset="0"/>
              </a:rPr>
              <a:t>Thank You</a:t>
            </a:r>
            <a:endParaRPr lang="en-US" sz="1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992</Words>
  <Application>Microsoft Office PowerPoint</Application>
  <PresentationFormat>Widescreen</PresentationFormat>
  <Paragraphs>347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Yousuf Hossain Mehrab</dc:creator>
  <cp:lastModifiedBy>Alnoman Robin</cp:lastModifiedBy>
  <cp:revision>4</cp:revision>
  <dcterms:created xsi:type="dcterms:W3CDTF">2025-08-02T12:05:36Z</dcterms:created>
  <dcterms:modified xsi:type="dcterms:W3CDTF">2025-08-02T18:54:28Z</dcterms:modified>
</cp:coreProperties>
</file>