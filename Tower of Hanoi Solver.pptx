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9" r:id="rId3"/>
    <p:sldId id="260" r:id="rId4"/>
    <p:sldId id="261" r:id="rId5"/>
    <p:sldId id="262" r:id="rId6"/>
    <p:sldId id="270" r:id="rId7"/>
    <p:sldId id="264" r:id="rId8"/>
    <p:sldId id="276" r:id="rId9"/>
    <p:sldId id="265" r:id="rId10"/>
    <p:sldId id="266" r:id="rId11"/>
    <p:sldId id="267" r:id="rId12"/>
    <p:sldId id="274" r:id="rId13"/>
    <p:sldId id="275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C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1032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g"/><Relationship Id="rId3" Type="http://schemas.openxmlformats.org/officeDocument/2006/relationships/image" Target="../media/image14.jpg"/><Relationship Id="rId7" Type="http://schemas.openxmlformats.org/officeDocument/2006/relationships/image" Target="../media/image18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jpg"/><Relationship Id="rId5" Type="http://schemas.openxmlformats.org/officeDocument/2006/relationships/image" Target="../media/image16.jpg"/><Relationship Id="rId10" Type="http://schemas.openxmlformats.org/officeDocument/2006/relationships/image" Target="../media/image21.jpg"/><Relationship Id="rId4" Type="http://schemas.openxmlformats.org/officeDocument/2006/relationships/image" Target="../media/image15.jpg"/><Relationship Id="rId9" Type="http://schemas.openxmlformats.org/officeDocument/2006/relationships/image" Target="../media/image20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" y="4736592"/>
            <a:ext cx="12984480" cy="36576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1417320" y="5029200"/>
            <a:ext cx="3236976" cy="4206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250"/>
              </a:lnSpc>
              <a:buNone/>
            </a:pP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1417320" y="5449824"/>
            <a:ext cx="3236976" cy="25603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950"/>
              </a:lnSpc>
              <a:buNone/>
            </a:pPr>
            <a:endParaRPr lang="en-US" sz="1390" dirty="0"/>
          </a:p>
        </p:txBody>
      </p:sp>
      <p:sp>
        <p:nvSpPr>
          <p:cNvPr id="8" name="Text 2"/>
          <p:cNvSpPr/>
          <p:nvPr/>
        </p:nvSpPr>
        <p:spPr>
          <a:xfrm>
            <a:off x="832104" y="3456432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8010"/>
              </a:lnSpc>
              <a:buNone/>
            </a:pPr>
            <a:r>
              <a:rPr lang="en-US" sz="6410" dirty="0">
                <a:solidFill>
                  <a:srgbClr val="103050"/>
                </a:solidFill>
                <a:latin typeface="Cooper Black" panose="0208090404030B020404" pitchFamily="18" charset="0"/>
                <a:ea typeface="思源黑体-Medium" pitchFamily="34" charset="-122"/>
                <a:cs typeface="思源黑体-Medium" pitchFamily="34" charset="-120"/>
              </a:rPr>
              <a:t>Tower of Hanoi Solver</a:t>
            </a:r>
            <a:endParaRPr lang="en-US" sz="6410" dirty="0">
              <a:latin typeface="Cooper Black" panose="0208090404030B0204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F97F8DC-F793-27BB-8488-35CE9FB7FA63}"/>
              </a:ext>
            </a:extLst>
          </p:cNvPr>
          <p:cNvSpPr txBox="1"/>
          <p:nvPr/>
        </p:nvSpPr>
        <p:spPr>
          <a:xfrm>
            <a:off x="832104" y="5215636"/>
            <a:ext cx="676249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Berlin Sans FB" panose="020E0602020502020306" pitchFamily="34" charset="0"/>
                <a:cs typeface="Times New Roman" panose="02020603050405020304" pitchFamily="18" charset="0"/>
              </a:rPr>
              <a:t>SM Nabil Ausaf		Roll:01</a:t>
            </a:r>
          </a:p>
          <a:p>
            <a:r>
              <a:rPr lang="en-US" sz="2400" dirty="0">
                <a:latin typeface="Berlin Sans FB" panose="020E0602020502020306" pitchFamily="34" charset="0"/>
                <a:cs typeface="Times New Roman" panose="02020603050405020304" pitchFamily="18" charset="0"/>
              </a:rPr>
              <a:t>Shahadat Hossen Shuvo	Roll:17</a:t>
            </a:r>
          </a:p>
          <a:p>
            <a:r>
              <a:rPr lang="en-US" sz="2400" dirty="0">
                <a:latin typeface="Berlin Sans FB" panose="020E0602020502020306" pitchFamily="34" charset="0"/>
                <a:cs typeface="Times New Roman" panose="02020603050405020304" pitchFamily="18" charset="0"/>
              </a:rPr>
              <a:t>Al Noman Robin		Roll:19</a:t>
            </a:r>
          </a:p>
          <a:p>
            <a:r>
              <a:rPr lang="en-US" sz="2400" dirty="0">
                <a:latin typeface="Berlin Sans FB" panose="020E0602020502020306" pitchFamily="34" charset="0"/>
                <a:cs typeface="Times New Roman" panose="02020603050405020304" pitchFamily="18" charset="0"/>
              </a:rPr>
              <a:t>Md. Yousuf Hossain		Roll:31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2633472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Introduction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32104" y="3630168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The Tower of Hanoi is a classic mathematical puzzle.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2104" y="4197096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It consists of three pegs and a number of disks of different sizes.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32104" y="4754880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Goal: Move all disks from the source peg to the destination peg following certain rules.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A34372-0630-5F03-BDCC-0667A4516879}"/>
              </a:ext>
            </a:extLst>
          </p:cNvPr>
          <p:cNvSpPr txBox="1"/>
          <p:nvPr/>
        </p:nvSpPr>
        <p:spPr>
          <a:xfrm>
            <a:off x="368300" y="77978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709160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6944" y="4709160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92640" y="4709160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2104" y="34564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Rules of the Game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996696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1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1609344" y="47365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Only one disk can be moved at a time.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5422392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2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6035040" y="4572000"/>
            <a:ext cx="3337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Each move consists of taking the top disk from one stack and placing it on top of another stack.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9848088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3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0460736" y="4736592"/>
            <a:ext cx="3337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No disk may be placed on top of a smaller disk.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F47AC6-D570-DA3D-E0AB-A0B916295FD0}"/>
              </a:ext>
            </a:extLst>
          </p:cNvPr>
          <p:cNvSpPr txBox="1"/>
          <p:nvPr/>
        </p:nvSpPr>
        <p:spPr>
          <a:xfrm>
            <a:off x="444500" y="78613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2633472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Mathematical Insight</a:t>
            </a:r>
            <a:endParaRPr lang="en-US" sz="464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832104" y="3630168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Minimum number of moves: (2^n - 1).</a:t>
            </a:r>
            <a:endParaRPr lang="en-US" sz="185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832104" y="4197096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For (n = 3) disks → (2^3 - 1 = 7) moves.</a:t>
            </a:r>
            <a:endParaRPr lang="en-US" sz="185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832104" y="4754880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The growth is exponential: doubling the disks ≈ quadrupling the moves.</a:t>
            </a:r>
            <a:endParaRPr lang="en-US" sz="1850" dirty="0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2E025-9D30-2929-BD57-6C4BC415B497}"/>
              </a:ext>
            </a:extLst>
          </p:cNvPr>
          <p:cNvSpPr txBox="1"/>
          <p:nvPr/>
        </p:nvSpPr>
        <p:spPr>
          <a:xfrm>
            <a:off x="268257" y="7790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163824"/>
            <a:ext cx="475488" cy="47548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4315968"/>
            <a:ext cx="475488" cy="475488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248" y="5458968"/>
            <a:ext cx="475488" cy="475488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832104" y="1911096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Algorithm (Recursive)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996696" y="3182112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1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2"/>
          <p:cNvSpPr/>
          <p:nvPr/>
        </p:nvSpPr>
        <p:spPr>
          <a:xfrm>
            <a:off x="1609344" y="3191256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Move (n-1) disks from Source to Auxiliary peg.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3"/>
          <p:cNvSpPr/>
          <p:nvPr/>
        </p:nvSpPr>
        <p:spPr>
          <a:xfrm>
            <a:off x="996696" y="4334256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2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4"/>
          <p:cNvSpPr/>
          <p:nvPr/>
        </p:nvSpPr>
        <p:spPr>
          <a:xfrm>
            <a:off x="1609344" y="4343400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Move the (n)th (largest) disk from Source to Destination peg.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5"/>
          <p:cNvSpPr/>
          <p:nvPr/>
        </p:nvSpPr>
        <p:spPr>
          <a:xfrm>
            <a:off x="996696" y="5486400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r>
              <a:rPr lang="en-US" sz="232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3</a:t>
            </a: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6"/>
          <p:cNvSpPr/>
          <p:nvPr/>
        </p:nvSpPr>
        <p:spPr>
          <a:xfrm>
            <a:off x="1609344" y="5495544"/>
            <a:ext cx="7214616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Move (n-1) disks from Auxiliary peg to Destination peg.</a:t>
            </a: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2AAF14-60FF-9E5A-AC6A-915FFF7B2208}"/>
              </a:ext>
            </a:extLst>
          </p:cNvPr>
          <p:cNvSpPr txBox="1"/>
          <p:nvPr/>
        </p:nvSpPr>
        <p:spPr>
          <a:xfrm>
            <a:off x="469900" y="77597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25448" y="730359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103050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Pseudocode</a:t>
            </a:r>
            <a:endParaRPr lang="en-US" sz="4640" dirty="0"/>
          </a:p>
        </p:txBody>
      </p:sp>
      <p:sp>
        <p:nvSpPr>
          <p:cNvPr id="5" name="Text 1"/>
          <p:cNvSpPr/>
          <p:nvPr/>
        </p:nvSpPr>
        <p:spPr>
          <a:xfrm>
            <a:off x="832104" y="4197096"/>
            <a:ext cx="80101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2FC4E72-7A76-0FDD-6E96-41D77855E911}"/>
              </a:ext>
            </a:extLst>
          </p:cNvPr>
          <p:cNvSpPr txBox="1"/>
          <p:nvPr/>
        </p:nvSpPr>
        <p:spPr>
          <a:xfrm>
            <a:off x="1340539" y="1914197"/>
            <a:ext cx="4089981" cy="440120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tower(n, s, a, d)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{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(n == 1)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{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print "s → d"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tower(n-1, s, d, a)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print "s → d"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tower(n-1, a, s, d)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</a:t>
            </a:r>
          </a:p>
          <a:p>
            <a:r>
              <a:rPr lang="en-US" sz="20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A11087B-9E9D-9983-F547-828ECE54787D}"/>
              </a:ext>
            </a:extLst>
          </p:cNvPr>
          <p:cNvSpPr txBox="1"/>
          <p:nvPr/>
        </p:nvSpPr>
        <p:spPr>
          <a:xfrm>
            <a:off x="331757" y="76962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4974336" cy="8238744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C687D8F0-FEE2-B7AE-CD2F-FA252C032DB5}"/>
              </a:ext>
            </a:extLst>
          </p:cNvPr>
          <p:cNvSpPr/>
          <p:nvPr/>
        </p:nvSpPr>
        <p:spPr>
          <a:xfrm>
            <a:off x="5177536" y="905982"/>
            <a:ext cx="9249663" cy="740664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103050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C Code Example</a:t>
            </a:r>
            <a:endParaRPr lang="en-US" sz="464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E7B35A-6128-4447-5638-7DE720A327F6}"/>
              </a:ext>
            </a:extLst>
          </p:cNvPr>
          <p:cNvSpPr txBox="1"/>
          <p:nvPr/>
        </p:nvSpPr>
        <p:spPr>
          <a:xfrm>
            <a:off x="5177536" y="1711576"/>
            <a:ext cx="9249664" cy="5632311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#include &lt;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stdio.h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&gt;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void tower(int n, char Source, char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Auxilary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char Destination) {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if (n == 1) {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("Move Tower %c → Tower %c\n", Source, Destination);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   return;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}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tower(n - 1, Source, Destination,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Auxilary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("Move Tower %c → Tower %c\n", Source, Destination);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tower(n - 1,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Auxilary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, Source, Destination);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endParaRPr lang="en-US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int main() {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int n;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printf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("Enter number of disks: ");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  <a:r>
              <a:rPr lang="en-US" dirty="0" err="1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scanf</a:t>
            </a:r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("%d", &amp;n);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tower(n, 'A', 'B', 'C');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return 0;</a:t>
            </a:r>
          </a:p>
          <a:p>
            <a:r>
              <a:rPr lang="en-US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EE8B2C-7099-EF25-7F7D-F0E0130D2093}"/>
              </a:ext>
            </a:extLst>
          </p:cNvPr>
          <p:cNvSpPr txBox="1"/>
          <p:nvPr/>
        </p:nvSpPr>
        <p:spPr>
          <a:xfrm>
            <a:off x="280957" y="777240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128B5E4E-66E7-E2F3-2B30-980522C13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144"/>
            <a:ext cx="14630400" cy="8238744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4DC5D4-5C53-1B08-2768-1D67A15A8FA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9277" b="30865"/>
          <a:stretch>
            <a:fillRect/>
          </a:stretch>
        </p:blipFill>
        <p:spPr>
          <a:xfrm>
            <a:off x="579211" y="1375416"/>
            <a:ext cx="3087551" cy="273481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4D2BB32-347A-08A5-7296-1619832ED0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9100" b="31041"/>
          <a:stretch>
            <a:fillRect/>
          </a:stretch>
        </p:blipFill>
        <p:spPr>
          <a:xfrm>
            <a:off x="4130127" y="1375415"/>
            <a:ext cx="3087551" cy="273481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3F31CC-74D6-A428-6BD4-5F9F5938E59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8395" b="31746"/>
          <a:stretch>
            <a:fillRect/>
          </a:stretch>
        </p:blipFill>
        <p:spPr>
          <a:xfrm>
            <a:off x="7681043" y="1375415"/>
            <a:ext cx="3087551" cy="273481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E0EE310-F862-7B1E-9581-0BC166D99B8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28219" b="31923"/>
          <a:stretch>
            <a:fillRect/>
          </a:stretch>
        </p:blipFill>
        <p:spPr>
          <a:xfrm>
            <a:off x="11157114" y="4750021"/>
            <a:ext cx="3087551" cy="27348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F8BF09-F307-6042-C6FD-3E1880E11F9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8924" b="31217"/>
          <a:stretch>
            <a:fillRect/>
          </a:stretch>
        </p:blipFill>
        <p:spPr>
          <a:xfrm>
            <a:off x="11157114" y="1375416"/>
            <a:ext cx="3087551" cy="273481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4466C44-717A-4D41-E740-79E3AE2B2A6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28571" b="31569"/>
          <a:stretch>
            <a:fillRect/>
          </a:stretch>
        </p:blipFill>
        <p:spPr>
          <a:xfrm>
            <a:off x="579211" y="4750020"/>
            <a:ext cx="3087551" cy="273481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D2EE7C6-93B4-5C53-7E5A-2A4E8FE7A94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28924" b="31217"/>
          <a:stretch>
            <a:fillRect/>
          </a:stretch>
        </p:blipFill>
        <p:spPr>
          <a:xfrm>
            <a:off x="4132911" y="4750019"/>
            <a:ext cx="3087551" cy="273481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BD954AB-7D8C-0581-D0D8-42666832998E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9806" b="30335"/>
          <a:stretch>
            <a:fillRect/>
          </a:stretch>
        </p:blipFill>
        <p:spPr>
          <a:xfrm>
            <a:off x="7681043" y="4750019"/>
            <a:ext cx="3087551" cy="273481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BEAE3C9C-DB77-1CE3-7752-510CD975AF1F}"/>
              </a:ext>
            </a:extLst>
          </p:cNvPr>
          <p:cNvSpPr txBox="1"/>
          <p:nvPr/>
        </p:nvSpPr>
        <p:spPr>
          <a:xfrm>
            <a:off x="4055282" y="4082143"/>
            <a:ext cx="326629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Move Tower A → Tower C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BA23485-61D2-79AD-99B7-E3000AE6BC1C}"/>
              </a:ext>
            </a:extLst>
          </p:cNvPr>
          <p:cNvSpPr txBox="1"/>
          <p:nvPr/>
        </p:nvSpPr>
        <p:spPr>
          <a:xfrm>
            <a:off x="7597291" y="4115579"/>
            <a:ext cx="738553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A → Tower B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67966F-3856-2039-98DC-D3D7078AB480}"/>
              </a:ext>
            </a:extLst>
          </p:cNvPr>
          <p:cNvSpPr txBox="1"/>
          <p:nvPr/>
        </p:nvSpPr>
        <p:spPr>
          <a:xfrm>
            <a:off x="11075704" y="4089816"/>
            <a:ext cx="31689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C → Tower B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4D70E6C-69B4-1203-5D73-9D447487C0B1}"/>
              </a:ext>
            </a:extLst>
          </p:cNvPr>
          <p:cNvSpPr txBox="1"/>
          <p:nvPr/>
        </p:nvSpPr>
        <p:spPr>
          <a:xfrm>
            <a:off x="579211" y="7526195"/>
            <a:ext cx="308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A → Tower C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D6F1E2-40EF-AEC0-FBFE-E1F4243D020D}"/>
              </a:ext>
            </a:extLst>
          </p:cNvPr>
          <p:cNvSpPr txBox="1"/>
          <p:nvPr/>
        </p:nvSpPr>
        <p:spPr>
          <a:xfrm>
            <a:off x="4055282" y="7526195"/>
            <a:ext cx="30875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B → Tower A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984C4D9-5C16-2F73-2F8B-CA1592E2116B}"/>
              </a:ext>
            </a:extLst>
          </p:cNvPr>
          <p:cNvSpPr txBox="1"/>
          <p:nvPr/>
        </p:nvSpPr>
        <p:spPr>
          <a:xfrm>
            <a:off x="7597291" y="7565271"/>
            <a:ext cx="31713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B → Tower C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C5F31A0-DFB0-FA06-6883-65E5FBB6552E}"/>
              </a:ext>
            </a:extLst>
          </p:cNvPr>
          <p:cNvSpPr txBox="1"/>
          <p:nvPr/>
        </p:nvSpPr>
        <p:spPr>
          <a:xfrm>
            <a:off x="11061553" y="7565129"/>
            <a:ext cx="31831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Move Tower A → Tower C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EA16028-9DCB-3CB6-2EDB-B983D188BA3B}"/>
              </a:ext>
            </a:extLst>
          </p:cNvPr>
          <p:cNvSpPr txBox="1"/>
          <p:nvPr/>
        </p:nvSpPr>
        <p:spPr>
          <a:xfrm>
            <a:off x="4536360" y="221550"/>
            <a:ext cx="55704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Rockwell" panose="02060603020205020403" pitchFamily="18" charset="0"/>
              </a:rPr>
              <a:t>Steps to solve 3 disk Hanoi tower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B68FD8F-7B04-22BA-85A2-058F975E74EA}"/>
              </a:ext>
            </a:extLst>
          </p:cNvPr>
          <p:cNvSpPr txBox="1"/>
          <p:nvPr/>
        </p:nvSpPr>
        <p:spPr>
          <a:xfrm>
            <a:off x="136562" y="78417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8444848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/>
      <p:bldP spid="24" grpId="0"/>
      <p:bldP spid="26" grpId="0"/>
      <p:bldP spid="28" grpId="0"/>
      <p:bldP spid="30" grpId="0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2779776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103050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Time Complexity</a:t>
            </a:r>
            <a:endParaRPr lang="en-US" sz="4640" dirty="0"/>
          </a:p>
        </p:txBody>
      </p:sp>
      <p:sp>
        <p:nvSpPr>
          <p:cNvPr id="5" name="Text 1"/>
          <p:cNvSpPr/>
          <p:nvPr/>
        </p:nvSpPr>
        <p:spPr>
          <a:xfrm>
            <a:off x="832104" y="3785616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607485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Recurrence relation: (T(n) = 2T(n-1) + 1).</a:t>
            </a:r>
            <a:endParaRPr lang="en-US" sz="1850" dirty="0"/>
          </a:p>
        </p:txBody>
      </p:sp>
      <p:sp>
        <p:nvSpPr>
          <p:cNvPr id="6" name="Text 2"/>
          <p:cNvSpPr/>
          <p:nvPr/>
        </p:nvSpPr>
        <p:spPr>
          <a:xfrm>
            <a:off x="832104" y="4343400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607485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Solution: (T(n) = 2^n - 1).</a:t>
            </a:r>
            <a:endParaRPr lang="en-US" sz="1850" dirty="0"/>
          </a:p>
        </p:txBody>
      </p:sp>
      <p:sp>
        <p:nvSpPr>
          <p:cNvPr id="7" name="Text 3"/>
          <p:cNvSpPr/>
          <p:nvPr/>
        </p:nvSpPr>
        <p:spPr>
          <a:xfrm>
            <a:off x="832104" y="4901184"/>
            <a:ext cx="8010144" cy="3017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850" dirty="0">
                <a:solidFill>
                  <a:srgbClr val="607485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Complexity: (O(2^n)).</a:t>
            </a:r>
            <a:endParaRPr lang="en-US" sz="185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B36F4DD-5592-3B7B-8C84-B9E2213B1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960" y="1665131"/>
            <a:ext cx="8054687" cy="5356538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FA199A17-E8B5-EB28-08CF-24ED46CA6C7E}"/>
              </a:ext>
            </a:extLst>
          </p:cNvPr>
          <p:cNvSpPr txBox="1"/>
          <p:nvPr/>
        </p:nvSpPr>
        <p:spPr>
          <a:xfrm>
            <a:off x="204757" y="7745968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2807208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832104" y="3456432"/>
            <a:ext cx="12984480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103050"/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Problem Nature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1"/>
          <p:cNvSpPr/>
          <p:nvPr/>
        </p:nvSpPr>
        <p:spPr>
          <a:xfrm>
            <a:off x="996696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3"/>
          <p:cNvSpPr/>
          <p:nvPr/>
        </p:nvSpPr>
        <p:spPr>
          <a:xfrm>
            <a:off x="1609344" y="5175504"/>
            <a:ext cx="555040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4"/>
          <p:cNvSpPr/>
          <p:nvPr/>
        </p:nvSpPr>
        <p:spPr>
          <a:xfrm>
            <a:off x="7635240" y="4727448"/>
            <a:ext cx="173736" cy="43891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2780"/>
              </a:lnSpc>
              <a:buNone/>
            </a:pPr>
            <a:endParaRPr lang="en-US" sz="232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5"/>
          <p:cNvSpPr/>
          <p:nvPr/>
        </p:nvSpPr>
        <p:spPr>
          <a:xfrm>
            <a:off x="8247888" y="4736592"/>
            <a:ext cx="55504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2320"/>
              </a:lnSpc>
              <a:buNone/>
            </a:pPr>
            <a:endParaRPr lang="en-US" sz="1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Rectangle 1">
            <a:extLst>
              <a:ext uri="{FF2B5EF4-FFF2-40B4-BE49-F238E27FC236}">
                <a16:creationId xmlns:a16="http://schemas.microsoft.com/office/drawing/2014/main" id="{CED4571B-2F9C-AD0C-CA23-C84E46F124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235" y="4738076"/>
            <a:ext cx="631519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Tower of Hanoi is inherently a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recursive problem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+mj-lt"/>
              <a:buAutoNum type="arabicPeriod"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move n disks: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First, move n-1 disks to the auxiliary rod.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Then, move the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largest disk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the target rod.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B6236B0-9249-56AC-96F6-EABA4FC481FE}"/>
              </a:ext>
            </a:extLst>
          </p:cNvPr>
          <p:cNvSpPr txBox="1"/>
          <p:nvPr/>
        </p:nvSpPr>
        <p:spPr>
          <a:xfrm>
            <a:off x="7330323" y="4759646"/>
            <a:ext cx="738553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Finally, move the n-1 disks onto the largest disk.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kumimoji="0" lang="en-US" altLang="en-US" sz="2200" b="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 startAt="3"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Each step </a:t>
            </a:r>
            <a:r>
              <a:rPr kumimoji="0" lang="en-US" altLang="en-US" sz="2200" b="1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the problem size by 1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br>
              <a:rPr lang="en-US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making recursion a natural fit</a:t>
            </a:r>
            <a:endParaRPr lang="en-US" sz="2200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5B92323-AB2B-DB2D-7D85-00995765F065}"/>
              </a:ext>
            </a:extLst>
          </p:cNvPr>
          <p:cNvCxnSpPr>
            <a:cxnSpLocks/>
          </p:cNvCxnSpPr>
          <p:nvPr/>
        </p:nvCxnSpPr>
        <p:spPr>
          <a:xfrm flipH="1">
            <a:off x="7159752" y="4888889"/>
            <a:ext cx="22825" cy="18040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5F924530-1AD9-118F-2DC8-ABB032BAC28A}"/>
              </a:ext>
            </a:extLst>
          </p:cNvPr>
          <p:cNvSpPr txBox="1"/>
          <p:nvPr/>
        </p:nvSpPr>
        <p:spPr>
          <a:xfrm>
            <a:off x="133548" y="77655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83145" y="1692332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solidFill>
                  <a:srgbClr val="103050"/>
                </a:solidFill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Efficiency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1F1CCCF-2A8D-F8C7-F365-526FE60AB9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614" y="2523327"/>
            <a:ext cx="908344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Tower of Hanoi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solved using a recursive algorithm that breaks the problem into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smaller subproblems.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time complexity is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O(2^n)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which grows exponentially with the number of disks.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 move involves transferring only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one disk at a time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following the rules: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Only one disk can be moved in a single step.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 larger disk can never be placed on top of a smaller disk.</a:t>
            </a:r>
            <a:b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recursive approach uses three pegs: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auxiliary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destination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moving n−1n-1 disks to the auxiliary,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then moving the largest disk, and finally moving the n−1n-1 disks to the destination.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6129DA-CB45-BBB2-ED00-699B2DBF35B1}"/>
              </a:ext>
            </a:extLst>
          </p:cNvPr>
          <p:cNvSpPr txBox="1"/>
          <p:nvPr/>
        </p:nvSpPr>
        <p:spPr>
          <a:xfrm>
            <a:off x="193124" y="772991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4" y="0"/>
            <a:ext cx="4974336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2350008"/>
            <a:ext cx="8010144" cy="7406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5800"/>
              </a:lnSpc>
              <a:buNone/>
            </a:pPr>
            <a:r>
              <a:rPr lang="en-US" sz="4640" dirty="0">
                <a:latin typeface="Times New Roman" panose="02020603050405020304" pitchFamily="18" charset="0"/>
                <a:ea typeface="思源黑体-Medium" pitchFamily="34" charset="-122"/>
                <a:cs typeface="Times New Roman" panose="02020603050405020304" pitchFamily="18" charset="0"/>
              </a:rPr>
              <a:t>Conclusion</a:t>
            </a:r>
            <a:endParaRPr lang="en-US" sz="464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4008B53-2479-DBBC-6595-3198BAC513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103" y="3527561"/>
            <a:ext cx="7266867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Tower of Hanoi is a classic recursion problem.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Simple rules lead to complex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Minimum moves grow exponentially (2^n - 1).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Great for learning problem-solving and algorithmic thinking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D38D8A-A186-3A86-1A75-7C91F84188AF}"/>
              </a:ext>
            </a:extLst>
          </p:cNvPr>
          <p:cNvSpPr txBox="1"/>
          <p:nvPr/>
        </p:nvSpPr>
        <p:spPr>
          <a:xfrm>
            <a:off x="152796" y="767663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4630400" cy="823874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832104" y="3474720"/>
            <a:ext cx="12984480" cy="10241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010"/>
              </a:lnSpc>
              <a:buNone/>
            </a:pPr>
            <a:r>
              <a:rPr lang="en-US" sz="6410" dirty="0">
                <a:solidFill>
                  <a:srgbClr val="103050"/>
                </a:solidFill>
                <a:latin typeface="思源黑体-Medium" pitchFamily="34" charset="0"/>
                <a:ea typeface="思源黑体-Medium" pitchFamily="34" charset="-122"/>
                <a:cs typeface="思源黑体-Medium" pitchFamily="34" charset="-120"/>
              </a:rPr>
              <a:t>Thank You</a:t>
            </a:r>
            <a:endParaRPr lang="en-US" sz="64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771</Words>
  <Application>Microsoft Office PowerPoint</Application>
  <PresentationFormat>Custom</PresentationFormat>
  <Paragraphs>123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Arial</vt:lpstr>
      <vt:lpstr>Berlin Sans FB</vt:lpstr>
      <vt:lpstr>Calibri</vt:lpstr>
      <vt:lpstr>Cascadia Code</vt:lpstr>
      <vt:lpstr>Cooper Black</vt:lpstr>
      <vt:lpstr>Rockwell</vt:lpstr>
      <vt:lpstr>Times New Roman</vt:lpstr>
      <vt:lpstr>思源黑体-Medium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Alnoman Robin</cp:lastModifiedBy>
  <cp:revision>3</cp:revision>
  <dcterms:created xsi:type="dcterms:W3CDTF">2025-08-13T16:19:56Z</dcterms:created>
  <dcterms:modified xsi:type="dcterms:W3CDTF">2025-08-13T19:16:31Z</dcterms:modified>
</cp:coreProperties>
</file>