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EE8-DB3B-435A-B12A-8D16A208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6DEC4-0394-409F-8B91-D403D2166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BF084-FBF4-402E-AEAD-BA4F8B85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19C79-0710-4FB0-803A-D3887F83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D728F-0589-4E35-A1A3-807F7317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9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9412-CAA0-4838-973D-FE66ED46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CC0BE-3238-43FD-BC3F-22AD881B5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470F-AB49-4F88-BCFD-D1C6FCE6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A15AF-1B2A-4EBA-9D26-81AF150D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2EE73-0105-4726-B124-F36EF589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6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14C0F-2C86-47B9-9267-2590DC42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D6DE4-8D89-410F-AE89-9A0FBB993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8CEFD-ECBB-4B20-A225-5F1831B5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CF593-7B52-44DB-A81A-8EFB9116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EB392-616C-4F98-B413-571CF7CF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8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1346-4092-4071-BC1C-7CC0349B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6BDDD-699C-4D37-B8EE-083C4CD6E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7699D-A3C7-4662-8934-2F78E8F25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80AD3-A6B8-4FE2-9A17-03200F13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1DD22-0BC3-4F74-BFDB-4E4A9B96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FFF7F-5896-4D0C-9FC5-60922185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4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DB3D-EAAD-4A0F-8312-43DE35CD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AD490-D61F-47F1-ADB4-79CBB21F0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332B5-6266-408A-80A7-5AF1FCFBC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CFE00-0B52-4B22-A248-DA117750A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960D6-13B4-4AD9-9362-568397CAD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DEAFC-6A56-4CCE-9019-3FBE14588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4FEC4-CEEE-4890-95B2-DBDDA4FC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F0022-F459-4104-AC82-9A3F22B8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1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6EEF-04BF-4006-8030-FDDB24FD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C012F-0EA3-4E11-BBA2-9B58CBAB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22D37-82EE-4B8D-ACF8-09939317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F3727-6671-4F09-B713-D48490FD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8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C1911-F154-426B-91EA-87487130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76BD6-F3F0-427B-A46B-31AC0E90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73D43-D29F-4342-9300-2461AEC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4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8334-0C5C-4997-A856-3A36215B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4B8F5-C653-4E65-9A7D-6B32E194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C3E88-6F3B-4580-9062-3726689F2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1EAC6-0FB0-44DF-9734-99E72960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D36D4-3370-435F-8B6B-AAD2D65B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9462C-9CDE-4803-B60D-5A12C96B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9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97519-8057-454C-8E64-A2180335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06C6F-B3C5-46C3-86B9-FC0AABF77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79419-53A2-48F6-B92F-2FE6BC92D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829FF-4483-4F11-B5C8-BAE8400B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54A08-CBB2-4ABD-8681-9958E31E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1DEAD-39E1-4FAC-B9CF-EA92CA78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4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24F5-3F88-4A6A-8A01-0108EC80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79D62-7230-439F-AE50-B0F303A73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81256-4BD3-4F86-98B7-650465CC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6BA83-3154-419F-BE16-92F70FBF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C4341-8AFE-46A6-B41E-678A9EE4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2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A683AA-7E3C-4E9F-ABAE-1B10EF954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2A3D8-78FE-4B2E-AB55-90004CB5E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A5EEC-8342-45B6-8702-FBD3C5E2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130FB-C716-4357-9AD8-D4C826C0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E62E-2070-4199-9718-C88722BB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7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4FAFD-2036-4E04-890B-F8433428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F849B-2330-4E1A-B3C9-81443F3C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AEF7-92EE-46A2-9E8B-A8B60DF9F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2040E-51DC-4E8D-9466-8CB6C614BE7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9DFA8-43CA-4A28-9F1D-DCBF8A47D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3A6A7-B236-4BC1-B715-179DE06F1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1842B-43CB-4E99-9BF1-D1BDD498A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3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robinalnoman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D393F9-935B-4D92-A060-D1853E94A782}"/>
              </a:ext>
            </a:extLst>
          </p:cNvPr>
          <p:cNvSpPr txBox="1"/>
          <p:nvPr/>
        </p:nvSpPr>
        <p:spPr>
          <a:xfrm>
            <a:off x="675185" y="3858470"/>
            <a:ext cx="92846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Database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6EB4D-D0D3-403C-AEB9-D7AFA9A099F8}"/>
              </a:ext>
            </a:extLst>
          </p:cNvPr>
          <p:cNvSpPr txBox="1"/>
          <p:nvPr/>
        </p:nvSpPr>
        <p:spPr>
          <a:xfrm>
            <a:off x="675185" y="5031976"/>
            <a:ext cx="988684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Author: Al Noman Robin</a:t>
            </a:r>
          </a:p>
          <a:p>
            <a:r>
              <a:rPr lang="en-US" dirty="0">
                <a:hlinkClick r:id="rId2"/>
              </a:rPr>
              <a:t>robinalnoman@gmail.com</a:t>
            </a:r>
            <a:endParaRPr lang="en-US" dirty="0"/>
          </a:p>
          <a:p>
            <a:r>
              <a:rPr lang="en-US" dirty="0"/>
              <a:t>Date: 11.01.2026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E7675-3843-4C0D-BAB8-2EB55A4D93B2}"/>
              </a:ext>
            </a:extLst>
          </p:cNvPr>
          <p:cNvSpPr/>
          <p:nvPr/>
        </p:nvSpPr>
        <p:spPr>
          <a:xfrm>
            <a:off x="125506" y="80682"/>
            <a:ext cx="11940988" cy="3348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A73B89-BB10-426B-B984-79D5EAD24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06" y="80682"/>
            <a:ext cx="11940988" cy="325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8476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CB9281-C445-4A97-92E8-422B8CEE6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7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ardrop 5">
            <a:extLst>
              <a:ext uri="{FF2B5EF4-FFF2-40B4-BE49-F238E27FC236}">
                <a16:creationId xmlns:a16="http://schemas.microsoft.com/office/drawing/2014/main" id="{1DAD8067-AE8A-42C5-9086-D00164260584}"/>
              </a:ext>
            </a:extLst>
          </p:cNvPr>
          <p:cNvSpPr/>
          <p:nvPr/>
        </p:nvSpPr>
        <p:spPr>
          <a:xfrm rot="3183671">
            <a:off x="4243279" y="2054071"/>
            <a:ext cx="1284236" cy="1340224"/>
          </a:xfrm>
          <a:prstGeom prst="teardrop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822C359D-614F-4760-B7CF-A8075F82AD4B}"/>
              </a:ext>
            </a:extLst>
          </p:cNvPr>
          <p:cNvSpPr/>
          <p:nvPr/>
        </p:nvSpPr>
        <p:spPr>
          <a:xfrm rot="13243316">
            <a:off x="6235083" y="2062491"/>
            <a:ext cx="1284236" cy="1340224"/>
          </a:xfrm>
          <a:prstGeom prst="teardrop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C0FA2F76-1BF4-4DA6-B2A3-37B4C9A49448}"/>
              </a:ext>
            </a:extLst>
          </p:cNvPr>
          <p:cNvSpPr/>
          <p:nvPr/>
        </p:nvSpPr>
        <p:spPr>
          <a:xfrm rot="19010015">
            <a:off x="5239365" y="3156185"/>
            <a:ext cx="1284236" cy="1340224"/>
          </a:xfrm>
          <a:prstGeom prst="teardrop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BAACD-0CCB-44F7-9DB3-5833C784F07B}"/>
              </a:ext>
            </a:extLst>
          </p:cNvPr>
          <p:cNvSpPr txBox="1"/>
          <p:nvPr/>
        </p:nvSpPr>
        <p:spPr>
          <a:xfrm>
            <a:off x="762000" y="436551"/>
            <a:ext cx="912607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1. Introduction to Database Normalization</a:t>
            </a:r>
          </a:p>
          <a:p>
            <a:r>
              <a:rPr lang="en-US" dirty="0"/>
              <a:t>Database Normalization is a process of organizing data in a database. The main goals are: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206AFD-E103-49BE-BCB8-D75A9E9940EB}"/>
              </a:ext>
            </a:extLst>
          </p:cNvPr>
          <p:cNvSpPr txBox="1"/>
          <p:nvPr/>
        </p:nvSpPr>
        <p:spPr>
          <a:xfrm>
            <a:off x="762000" y="2447365"/>
            <a:ext cx="32861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Reduce data redundancy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F8D8F-CAC6-4636-8A2D-63965FAA7561}"/>
              </a:ext>
            </a:extLst>
          </p:cNvPr>
          <p:cNvSpPr txBox="1"/>
          <p:nvPr/>
        </p:nvSpPr>
        <p:spPr>
          <a:xfrm>
            <a:off x="4735068" y="2493350"/>
            <a:ext cx="439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B12C2-5A54-42BE-BA60-328E24C2843B}"/>
              </a:ext>
            </a:extLst>
          </p:cNvPr>
          <p:cNvSpPr txBox="1"/>
          <p:nvPr/>
        </p:nvSpPr>
        <p:spPr>
          <a:xfrm>
            <a:off x="6674819" y="2493350"/>
            <a:ext cx="439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A1EB1-F1DC-4360-A6ED-2687C156A293}"/>
              </a:ext>
            </a:extLst>
          </p:cNvPr>
          <p:cNvSpPr txBox="1"/>
          <p:nvPr/>
        </p:nvSpPr>
        <p:spPr>
          <a:xfrm>
            <a:off x="5732772" y="3504736"/>
            <a:ext cx="439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1184A5-FCF9-44D7-9E68-12C46D57E26D}"/>
              </a:ext>
            </a:extLst>
          </p:cNvPr>
          <p:cNvSpPr txBox="1"/>
          <p:nvPr/>
        </p:nvSpPr>
        <p:spPr>
          <a:xfrm>
            <a:off x="7835533" y="2378576"/>
            <a:ext cx="41638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Eliminate data inconsistency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F1DC1-C1D2-4CBF-8221-1CDF9BA0F696}"/>
              </a:ext>
            </a:extLst>
          </p:cNvPr>
          <p:cNvSpPr txBox="1"/>
          <p:nvPr/>
        </p:nvSpPr>
        <p:spPr>
          <a:xfrm>
            <a:off x="4767361" y="4482943"/>
            <a:ext cx="3079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Improve data integrity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21A12B-6645-49A9-B2E7-8918A1D0CCCD}"/>
              </a:ext>
            </a:extLst>
          </p:cNvPr>
          <p:cNvSpPr txBox="1"/>
          <p:nvPr/>
        </p:nvSpPr>
        <p:spPr>
          <a:xfrm>
            <a:off x="761999" y="5557299"/>
            <a:ext cx="59128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Normalization is done through different normal 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5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EDB74C-C924-4C97-96B6-30EBACAE1EC1}"/>
              </a:ext>
            </a:extLst>
          </p:cNvPr>
          <p:cNvSpPr/>
          <p:nvPr/>
        </p:nvSpPr>
        <p:spPr>
          <a:xfrm>
            <a:off x="8844803" y="0"/>
            <a:ext cx="3347197" cy="685799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2D9B7-3291-41F0-AF55-32C830AC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1100231"/>
            <a:ext cx="6656295" cy="1325563"/>
          </a:xfrm>
        </p:spPr>
        <p:txBody>
          <a:bodyPr/>
          <a:lstStyle/>
          <a:p>
            <a:r>
              <a:rPr lang="en-US" b="1" dirty="0"/>
              <a:t>2. First Normal Form (1NF)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250BB-0E04-4438-A0C9-DC7DE94C20BB}"/>
              </a:ext>
            </a:extLst>
          </p:cNvPr>
          <p:cNvSpPr txBox="1"/>
          <p:nvPr/>
        </p:nvSpPr>
        <p:spPr>
          <a:xfrm>
            <a:off x="723899" y="2690336"/>
            <a:ext cx="4504765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Rules</a:t>
            </a:r>
          </a:p>
          <a:p>
            <a:r>
              <a:rPr lang="en-US" sz="2400" dirty="0"/>
              <a:t>• Each field contains atomic (indivisible) values.</a:t>
            </a:r>
          </a:p>
          <a:p>
            <a:r>
              <a:rPr lang="en-US" sz="2400" dirty="0"/>
              <a:t>• No repeating groups or multivalued attributes.</a:t>
            </a:r>
          </a:p>
          <a:p>
            <a:r>
              <a:rPr lang="en-US" sz="2400" dirty="0"/>
              <a:t>• Each column must have a unique name.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F7DEA-CADF-4973-A973-4B7EEE1656A7}"/>
              </a:ext>
            </a:extLst>
          </p:cNvPr>
          <p:cNvSpPr txBox="1"/>
          <p:nvPr/>
        </p:nvSpPr>
        <p:spPr>
          <a:xfrm>
            <a:off x="5366497" y="2690336"/>
            <a:ext cx="3478306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</a:t>
            </a:r>
          </a:p>
          <a:p>
            <a:r>
              <a:rPr lang="en-US" sz="2400" dirty="0"/>
              <a:t>• ❌ Phone: 017xx, 018xx</a:t>
            </a:r>
          </a:p>
          <a:p>
            <a:r>
              <a:rPr lang="en-US" sz="2400" dirty="0"/>
              <a:t>• ✅ Phone1, Phone2 in separate columns.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910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71F64B-CDB0-4DDA-B046-CE86B14EB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2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C17E60-95A7-40C6-BB6A-26249EF7CF35}"/>
              </a:ext>
            </a:extLst>
          </p:cNvPr>
          <p:cNvSpPr txBox="1"/>
          <p:nvPr/>
        </p:nvSpPr>
        <p:spPr>
          <a:xfrm>
            <a:off x="866775" y="1065937"/>
            <a:ext cx="716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4. Third Normal Form (3NF)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D2AC3-E95D-4138-A4CE-0BE23558F3A4}"/>
              </a:ext>
            </a:extLst>
          </p:cNvPr>
          <p:cNvSpPr txBox="1"/>
          <p:nvPr/>
        </p:nvSpPr>
        <p:spPr>
          <a:xfrm>
            <a:off x="866775" y="2314575"/>
            <a:ext cx="4381500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Rules</a:t>
            </a:r>
          </a:p>
          <a:p>
            <a:r>
              <a:rPr lang="en-US" sz="2400" dirty="0"/>
              <a:t>• Table must be in 2NF.</a:t>
            </a:r>
          </a:p>
          <a:p>
            <a:r>
              <a:rPr lang="en-US" sz="2400" dirty="0"/>
              <a:t>• No transitive dependency.</a:t>
            </a:r>
          </a:p>
          <a:p>
            <a:r>
              <a:rPr lang="en-US" sz="2400" dirty="0"/>
              <a:t>• Non-key attributes should not depend on other non-key attributes.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6D5B-5A3A-4B54-9DDB-8D2DA6984E4A}"/>
              </a:ext>
            </a:extLst>
          </p:cNvPr>
          <p:cNvSpPr/>
          <p:nvPr/>
        </p:nvSpPr>
        <p:spPr>
          <a:xfrm>
            <a:off x="5343525" y="2295525"/>
            <a:ext cx="3771900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Benefit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Improves data consistency.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5344FC-B5DA-48F2-A3F7-EACAF2174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674" y="20509"/>
            <a:ext cx="2981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0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92C48-B313-4264-994E-7A68E4195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8" y="133351"/>
            <a:ext cx="11971352" cy="660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0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84A391-1E80-46B9-99AA-6927A97DE620}"/>
              </a:ext>
            </a:extLst>
          </p:cNvPr>
          <p:cNvSpPr/>
          <p:nvPr/>
        </p:nvSpPr>
        <p:spPr>
          <a:xfrm>
            <a:off x="1" y="0"/>
            <a:ext cx="4491318" cy="6858000"/>
          </a:xfrm>
          <a:prstGeom prst="roundRect">
            <a:avLst>
              <a:gd name="adj" fmla="val 0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E4F2D-5FF6-4707-9199-D5CDA3E9B9A2}"/>
              </a:ext>
            </a:extLst>
          </p:cNvPr>
          <p:cNvSpPr txBox="1"/>
          <p:nvPr/>
        </p:nvSpPr>
        <p:spPr>
          <a:xfrm>
            <a:off x="4715437" y="591671"/>
            <a:ext cx="70372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6. Transaction Management</a:t>
            </a:r>
          </a:p>
          <a:p>
            <a:r>
              <a:rPr lang="en-US" sz="2000" dirty="0"/>
              <a:t>A transaction is a logical unit of work in a database. It may contain one or more database operations. For example, in an ATM transaction: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C60E20-E8E7-4B72-A990-E148C7605078}"/>
              </a:ext>
            </a:extLst>
          </p:cNvPr>
          <p:cNvSpPr/>
          <p:nvPr/>
        </p:nvSpPr>
        <p:spPr>
          <a:xfrm>
            <a:off x="4697506" y="3299012"/>
            <a:ext cx="3469341" cy="17750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Debit amount.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69D55A-E34E-411E-BF7D-64D14AB62700}"/>
              </a:ext>
            </a:extLst>
          </p:cNvPr>
          <p:cNvSpPr/>
          <p:nvPr/>
        </p:nvSpPr>
        <p:spPr>
          <a:xfrm>
            <a:off x="8417859" y="3299012"/>
            <a:ext cx="3334871" cy="17750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Update account              balance.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0FC7C-E590-4434-978A-9E810B907528}"/>
              </a:ext>
            </a:extLst>
          </p:cNvPr>
          <p:cNvSpPr txBox="1"/>
          <p:nvPr/>
        </p:nvSpPr>
        <p:spPr>
          <a:xfrm>
            <a:off x="4814597" y="5579706"/>
            <a:ext cx="5719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200" dirty="0"/>
              <a:t>If any step fails, the transaction is rolled back.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51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BF321A-C8B5-4B53-947C-235B70CA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" y="0"/>
            <a:ext cx="12106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63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F909DA-5D7F-496D-94F4-7CC71DBB2B4C}"/>
              </a:ext>
            </a:extLst>
          </p:cNvPr>
          <p:cNvSpPr txBox="1"/>
          <p:nvPr/>
        </p:nvSpPr>
        <p:spPr>
          <a:xfrm>
            <a:off x="952499" y="852785"/>
            <a:ext cx="110013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8. Indexing in DBMS</a:t>
            </a:r>
          </a:p>
          <a:p>
            <a:endParaRPr lang="en-US" sz="4400" b="1" dirty="0"/>
          </a:p>
          <a:p>
            <a:r>
              <a:rPr lang="en-US" sz="2800" dirty="0"/>
              <a:t>Indexing is a technique to retrieve data faster. It creates a data structure for quick searching. The advantages include: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B1D4CA-3438-4413-9199-43DA89B9D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3290763"/>
            <a:ext cx="9745435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C3BCDD-417F-4B97-9D1F-277D85A97442}"/>
              </a:ext>
            </a:extLst>
          </p:cNvPr>
          <p:cNvSpPr txBox="1"/>
          <p:nvPr/>
        </p:nvSpPr>
        <p:spPr>
          <a:xfrm>
            <a:off x="657225" y="434459"/>
            <a:ext cx="4019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9. B-Tree Index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6EF60D-DBB8-4204-8E9C-AA8B6929B5D7}"/>
              </a:ext>
            </a:extLst>
          </p:cNvPr>
          <p:cNvSpPr/>
          <p:nvPr/>
        </p:nvSpPr>
        <p:spPr>
          <a:xfrm>
            <a:off x="781051" y="1638300"/>
            <a:ext cx="3352799" cy="43338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61E51-3104-495E-BD75-D1F1F69C8424}"/>
              </a:ext>
            </a:extLst>
          </p:cNvPr>
          <p:cNvSpPr txBox="1"/>
          <p:nvPr/>
        </p:nvSpPr>
        <p:spPr>
          <a:xfrm>
            <a:off x="1066800" y="2019300"/>
            <a:ext cx="292417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C0C0C0"/>
                </a:highlight>
              </a:rPr>
              <a:t>01.</a:t>
            </a:r>
            <a:r>
              <a:rPr lang="en-US" sz="2800" b="1" dirty="0"/>
              <a:t> Overview</a:t>
            </a:r>
            <a:endParaRPr lang="en-US" b="1" dirty="0"/>
          </a:p>
          <a:p>
            <a:r>
              <a:rPr lang="en-US" sz="2400" dirty="0"/>
              <a:t>• Balanced tree data structure.</a:t>
            </a:r>
          </a:p>
          <a:p>
            <a:r>
              <a:rPr lang="en-US" sz="2400" dirty="0"/>
              <a:t>• Data stored in sorted order.</a:t>
            </a:r>
          </a:p>
          <a:p>
            <a:r>
              <a:rPr lang="en-US" sz="2400" dirty="0"/>
              <a:t>• Each node can have multiple keys and children.</a:t>
            </a:r>
          </a:p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D55C93-550D-465A-9654-D5B2537E0F41}"/>
              </a:ext>
            </a:extLst>
          </p:cNvPr>
          <p:cNvSpPr/>
          <p:nvPr/>
        </p:nvSpPr>
        <p:spPr>
          <a:xfrm>
            <a:off x="4276724" y="1638300"/>
            <a:ext cx="3352799" cy="43338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70B9E-F866-4598-891B-BB1FEAB261F2}"/>
              </a:ext>
            </a:extLst>
          </p:cNvPr>
          <p:cNvSpPr txBox="1"/>
          <p:nvPr/>
        </p:nvSpPr>
        <p:spPr>
          <a:xfrm>
            <a:off x="4491035" y="2181225"/>
            <a:ext cx="292417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C0C0C0"/>
                </a:highlight>
              </a:rPr>
              <a:t>02.</a:t>
            </a:r>
            <a:r>
              <a:rPr lang="en-US" sz="2800" b="1" dirty="0"/>
              <a:t> Applications</a:t>
            </a:r>
          </a:p>
          <a:p>
            <a:r>
              <a:rPr lang="en-US" sz="2800" dirty="0"/>
              <a:t>• Database indexing.</a:t>
            </a:r>
          </a:p>
          <a:p>
            <a:r>
              <a:rPr lang="en-US" sz="2800" dirty="0"/>
              <a:t>• File systems.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CC1591-9784-4F7C-97BB-0F0609CF460C}"/>
              </a:ext>
            </a:extLst>
          </p:cNvPr>
          <p:cNvSpPr/>
          <p:nvPr/>
        </p:nvSpPr>
        <p:spPr>
          <a:xfrm>
            <a:off x="7781925" y="0"/>
            <a:ext cx="4410075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026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1407F4-57CD-48B1-8CCC-0BDA39B33142}"/>
              </a:ext>
            </a:extLst>
          </p:cNvPr>
          <p:cNvSpPr/>
          <p:nvPr/>
        </p:nvSpPr>
        <p:spPr>
          <a:xfrm>
            <a:off x="-11160" y="-18663"/>
            <a:ext cx="12217324" cy="3089743"/>
          </a:xfrm>
          <a:custGeom>
            <a:avLst/>
            <a:gdLst>
              <a:gd name="connsiteX0" fmla="*/ 0 w 14406282"/>
              <a:gd name="connsiteY0" fmla="*/ 0 h 3630707"/>
              <a:gd name="connsiteX1" fmla="*/ 14406282 w 14406282"/>
              <a:gd name="connsiteY1" fmla="*/ 0 h 3630707"/>
              <a:gd name="connsiteX2" fmla="*/ 14406282 w 14406282"/>
              <a:gd name="connsiteY2" fmla="*/ 3630707 h 3630707"/>
              <a:gd name="connsiteX3" fmla="*/ 0 w 14406282"/>
              <a:gd name="connsiteY3" fmla="*/ 3630707 h 3630707"/>
              <a:gd name="connsiteX4" fmla="*/ 0 w 14406282"/>
              <a:gd name="connsiteY4" fmla="*/ 0 h 3630707"/>
              <a:gd name="connsiteX0" fmla="*/ 0 w 14406282"/>
              <a:gd name="connsiteY0" fmla="*/ 0 h 3640037"/>
              <a:gd name="connsiteX1" fmla="*/ 14406282 w 14406282"/>
              <a:gd name="connsiteY1" fmla="*/ 0 h 3640037"/>
              <a:gd name="connsiteX2" fmla="*/ 14406282 w 14406282"/>
              <a:gd name="connsiteY2" fmla="*/ 3630707 h 3640037"/>
              <a:gd name="connsiteX3" fmla="*/ 1035698 w 14406282"/>
              <a:gd name="connsiteY3" fmla="*/ 3640037 h 3640037"/>
              <a:gd name="connsiteX4" fmla="*/ 0 w 14406282"/>
              <a:gd name="connsiteY4" fmla="*/ 0 h 3640037"/>
              <a:gd name="connsiteX0" fmla="*/ 0 w 13417237"/>
              <a:gd name="connsiteY0" fmla="*/ 0 h 3640037"/>
              <a:gd name="connsiteX1" fmla="*/ 13417237 w 13417237"/>
              <a:gd name="connsiteY1" fmla="*/ 0 h 3640037"/>
              <a:gd name="connsiteX2" fmla="*/ 13417237 w 13417237"/>
              <a:gd name="connsiteY2" fmla="*/ 3630707 h 3640037"/>
              <a:gd name="connsiteX3" fmla="*/ 46653 w 13417237"/>
              <a:gd name="connsiteY3" fmla="*/ 3640037 h 3640037"/>
              <a:gd name="connsiteX4" fmla="*/ 0 w 13417237"/>
              <a:gd name="connsiteY4" fmla="*/ 0 h 3640037"/>
              <a:gd name="connsiteX0" fmla="*/ 0 w 13417237"/>
              <a:gd name="connsiteY0" fmla="*/ 0 h 3640037"/>
              <a:gd name="connsiteX1" fmla="*/ 13417237 w 13417237"/>
              <a:gd name="connsiteY1" fmla="*/ 0 h 3640037"/>
              <a:gd name="connsiteX2" fmla="*/ 13417237 w 13417237"/>
              <a:gd name="connsiteY2" fmla="*/ 3630707 h 3640037"/>
              <a:gd name="connsiteX3" fmla="*/ 46653 w 13417237"/>
              <a:gd name="connsiteY3" fmla="*/ 3640037 h 3640037"/>
              <a:gd name="connsiteX4" fmla="*/ 0 w 13417237"/>
              <a:gd name="connsiteY4" fmla="*/ 0 h 3640037"/>
              <a:gd name="connsiteX0" fmla="*/ 0 w 13417237"/>
              <a:gd name="connsiteY0" fmla="*/ 13 h 3640050"/>
              <a:gd name="connsiteX1" fmla="*/ 5981472 w 13417237"/>
              <a:gd name="connsiteY1" fmla="*/ 553968 h 3640050"/>
              <a:gd name="connsiteX2" fmla="*/ 13417237 w 13417237"/>
              <a:gd name="connsiteY2" fmla="*/ 13 h 3640050"/>
              <a:gd name="connsiteX3" fmla="*/ 13417237 w 13417237"/>
              <a:gd name="connsiteY3" fmla="*/ 3630720 h 3640050"/>
              <a:gd name="connsiteX4" fmla="*/ 46653 w 13417237"/>
              <a:gd name="connsiteY4" fmla="*/ 3640050 h 3640050"/>
              <a:gd name="connsiteX5" fmla="*/ 0 w 13417237"/>
              <a:gd name="connsiteY5" fmla="*/ 13 h 3640050"/>
              <a:gd name="connsiteX0" fmla="*/ 0 w 13417237"/>
              <a:gd name="connsiteY0" fmla="*/ 506202 h 3640037"/>
              <a:gd name="connsiteX1" fmla="*/ 5981472 w 13417237"/>
              <a:gd name="connsiteY1" fmla="*/ 553955 h 3640037"/>
              <a:gd name="connsiteX2" fmla="*/ 13417237 w 13417237"/>
              <a:gd name="connsiteY2" fmla="*/ 0 h 3640037"/>
              <a:gd name="connsiteX3" fmla="*/ 13417237 w 13417237"/>
              <a:gd name="connsiteY3" fmla="*/ 3630707 h 3640037"/>
              <a:gd name="connsiteX4" fmla="*/ 46653 w 13417237"/>
              <a:gd name="connsiteY4" fmla="*/ 3640037 h 3640037"/>
              <a:gd name="connsiteX5" fmla="*/ 0 w 13417237"/>
              <a:gd name="connsiteY5" fmla="*/ 506202 h 3640037"/>
              <a:gd name="connsiteX0" fmla="*/ 0 w 13417237"/>
              <a:gd name="connsiteY0" fmla="*/ 0 h 3133835"/>
              <a:gd name="connsiteX1" fmla="*/ 5981472 w 13417237"/>
              <a:gd name="connsiteY1" fmla="*/ 47753 h 3133835"/>
              <a:gd name="connsiteX2" fmla="*/ 12166935 w 13417237"/>
              <a:gd name="connsiteY2" fmla="*/ 76406 h 3133835"/>
              <a:gd name="connsiteX3" fmla="*/ 13417237 w 13417237"/>
              <a:gd name="connsiteY3" fmla="*/ 3124505 h 3133835"/>
              <a:gd name="connsiteX4" fmla="*/ 46653 w 13417237"/>
              <a:gd name="connsiteY4" fmla="*/ 3133835 h 3133835"/>
              <a:gd name="connsiteX5" fmla="*/ 0 w 13417237"/>
              <a:gd name="connsiteY5" fmla="*/ 0 h 3133835"/>
              <a:gd name="connsiteX0" fmla="*/ 0 w 12176266"/>
              <a:gd name="connsiteY0" fmla="*/ 0 h 3153157"/>
              <a:gd name="connsiteX1" fmla="*/ 5981472 w 12176266"/>
              <a:gd name="connsiteY1" fmla="*/ 47753 h 3153157"/>
              <a:gd name="connsiteX2" fmla="*/ 12166935 w 12176266"/>
              <a:gd name="connsiteY2" fmla="*/ 76406 h 3153157"/>
              <a:gd name="connsiteX3" fmla="*/ 12176266 w 12176266"/>
              <a:gd name="connsiteY3" fmla="*/ 3153157 h 3153157"/>
              <a:gd name="connsiteX4" fmla="*/ 46653 w 12176266"/>
              <a:gd name="connsiteY4" fmla="*/ 3133835 h 3153157"/>
              <a:gd name="connsiteX5" fmla="*/ 0 w 12176266"/>
              <a:gd name="connsiteY5" fmla="*/ 0 h 3153157"/>
              <a:gd name="connsiteX0" fmla="*/ 0 w 12176266"/>
              <a:gd name="connsiteY0" fmla="*/ 0 h 3153157"/>
              <a:gd name="connsiteX1" fmla="*/ 5981472 w 12176266"/>
              <a:gd name="connsiteY1" fmla="*/ 47753 h 3153157"/>
              <a:gd name="connsiteX2" fmla="*/ 12166935 w 12176266"/>
              <a:gd name="connsiteY2" fmla="*/ 76406 h 3153157"/>
              <a:gd name="connsiteX3" fmla="*/ 12176266 w 12176266"/>
              <a:gd name="connsiteY3" fmla="*/ 3153157 h 3153157"/>
              <a:gd name="connsiteX4" fmla="*/ 46653 w 12176266"/>
              <a:gd name="connsiteY4" fmla="*/ 3133835 h 3153157"/>
              <a:gd name="connsiteX5" fmla="*/ 0 w 12176266"/>
              <a:gd name="connsiteY5" fmla="*/ 0 h 3153157"/>
              <a:gd name="connsiteX0" fmla="*/ 0 w 12176266"/>
              <a:gd name="connsiteY0" fmla="*/ 0 h 3153157"/>
              <a:gd name="connsiteX1" fmla="*/ 5981472 w 12176266"/>
              <a:gd name="connsiteY1" fmla="*/ 47753 h 3153157"/>
              <a:gd name="connsiteX2" fmla="*/ 11093914 w 12176266"/>
              <a:gd name="connsiteY2" fmla="*/ 19101 h 3153157"/>
              <a:gd name="connsiteX3" fmla="*/ 12176266 w 12176266"/>
              <a:gd name="connsiteY3" fmla="*/ 3153157 h 3153157"/>
              <a:gd name="connsiteX4" fmla="*/ 46653 w 12176266"/>
              <a:gd name="connsiteY4" fmla="*/ 3133835 h 3153157"/>
              <a:gd name="connsiteX5" fmla="*/ 0 w 12176266"/>
              <a:gd name="connsiteY5" fmla="*/ 0 h 3153157"/>
              <a:gd name="connsiteX0" fmla="*/ 0 w 11093920"/>
              <a:gd name="connsiteY0" fmla="*/ 0 h 3143606"/>
              <a:gd name="connsiteX1" fmla="*/ 5981472 w 11093920"/>
              <a:gd name="connsiteY1" fmla="*/ 47753 h 3143606"/>
              <a:gd name="connsiteX2" fmla="*/ 11093914 w 11093920"/>
              <a:gd name="connsiteY2" fmla="*/ 19101 h 3143606"/>
              <a:gd name="connsiteX3" fmla="*/ 11076719 w 11093920"/>
              <a:gd name="connsiteY3" fmla="*/ 3143606 h 3143606"/>
              <a:gd name="connsiteX4" fmla="*/ 46653 w 11093920"/>
              <a:gd name="connsiteY4" fmla="*/ 3133835 h 3143606"/>
              <a:gd name="connsiteX5" fmla="*/ 0 w 11093920"/>
              <a:gd name="connsiteY5" fmla="*/ 0 h 3143606"/>
              <a:gd name="connsiteX0" fmla="*/ 0 w 11094038"/>
              <a:gd name="connsiteY0" fmla="*/ 0 h 3143606"/>
              <a:gd name="connsiteX1" fmla="*/ 5981472 w 11094038"/>
              <a:gd name="connsiteY1" fmla="*/ 47753 h 3143606"/>
              <a:gd name="connsiteX2" fmla="*/ 11093914 w 11094038"/>
              <a:gd name="connsiteY2" fmla="*/ 19101 h 3143606"/>
              <a:gd name="connsiteX3" fmla="*/ 11076719 w 11094038"/>
              <a:gd name="connsiteY3" fmla="*/ 3143606 h 3143606"/>
              <a:gd name="connsiteX4" fmla="*/ 46653 w 11094038"/>
              <a:gd name="connsiteY4" fmla="*/ 3133835 h 3143606"/>
              <a:gd name="connsiteX5" fmla="*/ 0 w 11094038"/>
              <a:gd name="connsiteY5" fmla="*/ 0 h 3143606"/>
              <a:gd name="connsiteX0" fmla="*/ 0 w 11094124"/>
              <a:gd name="connsiteY0" fmla="*/ 0 h 3143606"/>
              <a:gd name="connsiteX1" fmla="*/ 5981472 w 11094124"/>
              <a:gd name="connsiteY1" fmla="*/ 47753 h 3143606"/>
              <a:gd name="connsiteX2" fmla="*/ 11093914 w 11094124"/>
              <a:gd name="connsiteY2" fmla="*/ 19101 h 3143606"/>
              <a:gd name="connsiteX3" fmla="*/ 11076719 w 11094124"/>
              <a:gd name="connsiteY3" fmla="*/ 3143606 h 3143606"/>
              <a:gd name="connsiteX4" fmla="*/ 46653 w 11094124"/>
              <a:gd name="connsiteY4" fmla="*/ 3133835 h 3143606"/>
              <a:gd name="connsiteX5" fmla="*/ 0 w 11094124"/>
              <a:gd name="connsiteY5" fmla="*/ 0 h 3143606"/>
              <a:gd name="connsiteX0" fmla="*/ 0 w 11094124"/>
              <a:gd name="connsiteY0" fmla="*/ 0 h 3143606"/>
              <a:gd name="connsiteX1" fmla="*/ 5981472 w 11094124"/>
              <a:gd name="connsiteY1" fmla="*/ 47753 h 3143606"/>
              <a:gd name="connsiteX2" fmla="*/ 11093914 w 11094124"/>
              <a:gd name="connsiteY2" fmla="*/ 19101 h 3143606"/>
              <a:gd name="connsiteX3" fmla="*/ 11076719 w 11094124"/>
              <a:gd name="connsiteY3" fmla="*/ 3143606 h 3143606"/>
              <a:gd name="connsiteX4" fmla="*/ 46653 w 11094124"/>
              <a:gd name="connsiteY4" fmla="*/ 3133835 h 3143606"/>
              <a:gd name="connsiteX5" fmla="*/ 0 w 11094124"/>
              <a:gd name="connsiteY5" fmla="*/ 0 h 3143606"/>
              <a:gd name="connsiteX0" fmla="*/ 0 w 11094124"/>
              <a:gd name="connsiteY0" fmla="*/ 0 h 3143606"/>
              <a:gd name="connsiteX1" fmla="*/ 5981472 w 11094124"/>
              <a:gd name="connsiteY1" fmla="*/ 47753 h 3143606"/>
              <a:gd name="connsiteX2" fmla="*/ 11093914 w 11094124"/>
              <a:gd name="connsiteY2" fmla="*/ 19101 h 3143606"/>
              <a:gd name="connsiteX3" fmla="*/ 11076719 w 11094124"/>
              <a:gd name="connsiteY3" fmla="*/ 3143606 h 3143606"/>
              <a:gd name="connsiteX4" fmla="*/ 684072 w 11094124"/>
              <a:gd name="connsiteY4" fmla="*/ 3143387 h 3143606"/>
              <a:gd name="connsiteX5" fmla="*/ 0 w 11094124"/>
              <a:gd name="connsiteY5" fmla="*/ 0 h 3143606"/>
              <a:gd name="connsiteX0" fmla="*/ 0 w 10432802"/>
              <a:gd name="connsiteY0" fmla="*/ 0 h 3162709"/>
              <a:gd name="connsiteX1" fmla="*/ 5320150 w 10432802"/>
              <a:gd name="connsiteY1" fmla="*/ 66856 h 3162709"/>
              <a:gd name="connsiteX2" fmla="*/ 10432592 w 10432802"/>
              <a:gd name="connsiteY2" fmla="*/ 38204 h 3162709"/>
              <a:gd name="connsiteX3" fmla="*/ 10415397 w 10432802"/>
              <a:gd name="connsiteY3" fmla="*/ 3162709 h 3162709"/>
              <a:gd name="connsiteX4" fmla="*/ 22750 w 10432802"/>
              <a:gd name="connsiteY4" fmla="*/ 3162490 h 3162709"/>
              <a:gd name="connsiteX5" fmla="*/ 0 w 10432802"/>
              <a:gd name="connsiteY5" fmla="*/ 0 h 3162709"/>
              <a:gd name="connsiteX0" fmla="*/ 0 w 10432802"/>
              <a:gd name="connsiteY0" fmla="*/ 0 h 3162709"/>
              <a:gd name="connsiteX1" fmla="*/ 5320150 w 10432802"/>
              <a:gd name="connsiteY1" fmla="*/ 66856 h 3162709"/>
              <a:gd name="connsiteX2" fmla="*/ 10432592 w 10432802"/>
              <a:gd name="connsiteY2" fmla="*/ 38204 h 3162709"/>
              <a:gd name="connsiteX3" fmla="*/ 10415397 w 10432802"/>
              <a:gd name="connsiteY3" fmla="*/ 3162709 h 3162709"/>
              <a:gd name="connsiteX4" fmla="*/ 22750 w 10432802"/>
              <a:gd name="connsiteY4" fmla="*/ 3162490 h 3162709"/>
              <a:gd name="connsiteX5" fmla="*/ 0 w 10432802"/>
              <a:gd name="connsiteY5" fmla="*/ 0 h 316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2802" h="3162709">
                <a:moveTo>
                  <a:pt x="0" y="0"/>
                </a:moveTo>
                <a:lnTo>
                  <a:pt x="5320150" y="66856"/>
                </a:lnTo>
                <a:lnTo>
                  <a:pt x="10432592" y="38204"/>
                </a:lnTo>
                <a:cubicBezTo>
                  <a:pt x="10435702" y="1063788"/>
                  <a:pt x="10403063" y="971908"/>
                  <a:pt x="10415397" y="3162709"/>
                </a:cubicBezTo>
                <a:lnTo>
                  <a:pt x="22750" y="3162490"/>
                </a:lnTo>
                <a:cubicBezTo>
                  <a:pt x="7199" y="1949144"/>
                  <a:pt x="11669" y="1365940"/>
                  <a:pt x="0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7213A-572F-429B-A086-6B76A10AC4D4}"/>
              </a:ext>
            </a:extLst>
          </p:cNvPr>
          <p:cNvSpPr txBox="1"/>
          <p:nvPr/>
        </p:nvSpPr>
        <p:spPr>
          <a:xfrm>
            <a:off x="510989" y="2387679"/>
            <a:ext cx="4583526" cy="898446"/>
          </a:xfrm>
          <a:custGeom>
            <a:avLst/>
            <a:gdLst>
              <a:gd name="connsiteX0" fmla="*/ 0 w 4583526"/>
              <a:gd name="connsiteY0" fmla="*/ 0 h 1107996"/>
              <a:gd name="connsiteX1" fmla="*/ 4583526 w 4583526"/>
              <a:gd name="connsiteY1" fmla="*/ 0 h 1107996"/>
              <a:gd name="connsiteX2" fmla="*/ 4583526 w 4583526"/>
              <a:gd name="connsiteY2" fmla="*/ 1107996 h 1107996"/>
              <a:gd name="connsiteX3" fmla="*/ 0 w 4583526"/>
              <a:gd name="connsiteY3" fmla="*/ 1107996 h 1107996"/>
              <a:gd name="connsiteX4" fmla="*/ 0 w 4583526"/>
              <a:gd name="connsiteY4" fmla="*/ 0 h 1107996"/>
              <a:gd name="connsiteX0" fmla="*/ 0 w 4583526"/>
              <a:gd name="connsiteY0" fmla="*/ 0 h 1107996"/>
              <a:gd name="connsiteX1" fmla="*/ 4583526 w 4583526"/>
              <a:gd name="connsiteY1" fmla="*/ 0 h 1107996"/>
              <a:gd name="connsiteX2" fmla="*/ 4583526 w 4583526"/>
              <a:gd name="connsiteY2" fmla="*/ 1107996 h 1107996"/>
              <a:gd name="connsiteX3" fmla="*/ 0 w 4583526"/>
              <a:gd name="connsiteY3" fmla="*/ 1107996 h 1107996"/>
              <a:gd name="connsiteX4" fmla="*/ 0 w 4583526"/>
              <a:gd name="connsiteY4" fmla="*/ 0 h 1107996"/>
              <a:gd name="connsiteX0" fmla="*/ 0 w 4583526"/>
              <a:gd name="connsiteY0" fmla="*/ 0 h 1107996"/>
              <a:gd name="connsiteX1" fmla="*/ 4583526 w 4583526"/>
              <a:gd name="connsiteY1" fmla="*/ 0 h 1107996"/>
              <a:gd name="connsiteX2" fmla="*/ 4583526 w 4583526"/>
              <a:gd name="connsiteY2" fmla="*/ 1107996 h 1107996"/>
              <a:gd name="connsiteX3" fmla="*/ 0 w 4583526"/>
              <a:gd name="connsiteY3" fmla="*/ 898446 h 1107996"/>
              <a:gd name="connsiteX4" fmla="*/ 0 w 4583526"/>
              <a:gd name="connsiteY4" fmla="*/ 0 h 1107996"/>
              <a:gd name="connsiteX0" fmla="*/ 0 w 4583526"/>
              <a:gd name="connsiteY0" fmla="*/ 0 h 898446"/>
              <a:gd name="connsiteX1" fmla="*/ 4583526 w 4583526"/>
              <a:gd name="connsiteY1" fmla="*/ 0 h 898446"/>
              <a:gd name="connsiteX2" fmla="*/ 4583526 w 4583526"/>
              <a:gd name="connsiteY2" fmla="*/ 898446 h 898446"/>
              <a:gd name="connsiteX3" fmla="*/ 0 w 4583526"/>
              <a:gd name="connsiteY3" fmla="*/ 898446 h 898446"/>
              <a:gd name="connsiteX4" fmla="*/ 0 w 4583526"/>
              <a:gd name="connsiteY4" fmla="*/ 0 h 8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3526" h="898446">
                <a:moveTo>
                  <a:pt x="0" y="0"/>
                </a:moveTo>
                <a:lnTo>
                  <a:pt x="4583526" y="0"/>
                </a:lnTo>
                <a:lnTo>
                  <a:pt x="4583526" y="898446"/>
                </a:lnTo>
                <a:lnTo>
                  <a:pt x="0" y="89844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76200" dir="99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800" dirty="0"/>
              <a:t>10. B+ Tree Index</a:t>
            </a:r>
          </a:p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0F920D-CDB6-434A-8957-B27D6E46D1AF}"/>
              </a:ext>
            </a:extLst>
          </p:cNvPr>
          <p:cNvSpPr/>
          <p:nvPr/>
        </p:nvSpPr>
        <p:spPr>
          <a:xfrm>
            <a:off x="510989" y="3638939"/>
            <a:ext cx="4891436" cy="21297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Overview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Improved version of B-tree.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All data stored only in leaf nodes.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Leaf nodes are linked together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EF6948-2136-45EA-B117-1984DB343468}"/>
              </a:ext>
            </a:extLst>
          </p:cNvPr>
          <p:cNvSpPr/>
          <p:nvPr/>
        </p:nvSpPr>
        <p:spPr>
          <a:xfrm>
            <a:off x="6789575" y="3638939"/>
            <a:ext cx="4891436" cy="21297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Advantages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Faster range queries.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Most commonly used indexing method in DBMS.</a:t>
            </a:r>
          </a:p>
        </p:txBody>
      </p:sp>
    </p:spTree>
    <p:extLst>
      <p:ext uri="{BB962C8B-B14F-4D97-AF65-F5344CB8AC3E}">
        <p14:creationId xmlns:p14="http://schemas.microsoft.com/office/powerpoint/2010/main" val="3104087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9575A8-1A86-49C9-B027-6E3AEA84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5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63336C-B448-4090-84E2-B354401BC3A9}"/>
              </a:ext>
            </a:extLst>
          </p:cNvPr>
          <p:cNvSpPr/>
          <p:nvPr/>
        </p:nvSpPr>
        <p:spPr>
          <a:xfrm>
            <a:off x="0" y="0"/>
            <a:ext cx="12192000" cy="248602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705" t="-70916" r="-2605" b="-50643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052E87-6B34-4BD6-984C-F3B59A5A6791}"/>
              </a:ext>
            </a:extLst>
          </p:cNvPr>
          <p:cNvSpPr/>
          <p:nvPr/>
        </p:nvSpPr>
        <p:spPr>
          <a:xfrm>
            <a:off x="514350" y="2543175"/>
            <a:ext cx="6657975" cy="8858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</a:rPr>
              <a:t>12. Deadlock Handling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EB9A94-2449-4F08-8792-19E787235D0F}"/>
              </a:ext>
            </a:extLst>
          </p:cNvPr>
          <p:cNvSpPr/>
          <p:nvPr/>
        </p:nvSpPr>
        <p:spPr>
          <a:xfrm>
            <a:off x="514350" y="3762375"/>
            <a:ext cx="5429251" cy="238125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Overview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Deadlock: Situation where two or more transactions wait indefinitely for resources held by each other.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B85062-7EA7-479E-9D27-2659F9F6701A}"/>
              </a:ext>
            </a:extLst>
          </p:cNvPr>
          <p:cNvSpPr/>
          <p:nvPr/>
        </p:nvSpPr>
        <p:spPr>
          <a:xfrm>
            <a:off x="6248400" y="3762375"/>
            <a:ext cx="5581650" cy="238125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Handling Methods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Deadlock prevention.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Deadlock detection.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Deadlock recovery.</a:t>
            </a:r>
          </a:p>
        </p:txBody>
      </p:sp>
    </p:spTree>
    <p:extLst>
      <p:ext uri="{BB962C8B-B14F-4D97-AF65-F5344CB8AC3E}">
        <p14:creationId xmlns:p14="http://schemas.microsoft.com/office/powerpoint/2010/main" val="2470967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1B3544-8570-453F-AB79-673C384FA660}"/>
              </a:ext>
            </a:extLst>
          </p:cNvPr>
          <p:cNvSpPr txBox="1"/>
          <p:nvPr/>
        </p:nvSpPr>
        <p:spPr>
          <a:xfrm>
            <a:off x="904875" y="720209"/>
            <a:ext cx="4855845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4800" dirty="0"/>
              <a:t>13. SQL </a:t>
            </a:r>
            <a:r>
              <a:rPr lang="en-US" sz="4400" dirty="0"/>
              <a:t>vs</a:t>
            </a:r>
            <a:r>
              <a:rPr lang="en-US" sz="4800" dirty="0"/>
              <a:t> NoSQL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090A4C9-A8CF-4EFE-BB42-934883AF8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397242"/>
              </p:ext>
            </p:extLst>
          </p:nvPr>
        </p:nvGraphicFramePr>
        <p:xfrm>
          <a:off x="1049655" y="2070202"/>
          <a:ext cx="10696576" cy="373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8288">
                  <a:extLst>
                    <a:ext uri="{9D8B030D-6E8A-4147-A177-3AD203B41FA5}">
                      <a16:colId xmlns:a16="http://schemas.microsoft.com/office/drawing/2014/main" val="466040265"/>
                    </a:ext>
                  </a:extLst>
                </a:gridCol>
                <a:gridCol w="5348288">
                  <a:extLst>
                    <a:ext uri="{9D8B030D-6E8A-4147-A177-3AD203B41FA5}">
                      <a16:colId xmlns:a16="http://schemas.microsoft.com/office/drawing/2014/main" val="3273101721"/>
                    </a:ext>
                  </a:extLst>
                </a:gridCol>
              </a:tblGrid>
              <a:tr h="70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SQL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NoSQL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827181"/>
                  </a:ext>
                </a:extLst>
              </a:tr>
              <a:tr h="71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Relational databases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Non-relational databases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565848"/>
                  </a:ext>
                </a:extLst>
              </a:tr>
              <a:tr h="71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Fixed schema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Flexible schema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0960"/>
                  </a:ext>
                </a:extLst>
              </a:tr>
              <a:tr h="71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Table-based structure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Document, Key-Value, Graph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119632"/>
                  </a:ext>
                </a:extLst>
              </a:tr>
              <a:tr h="71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Strong ACID compliance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BASE consistency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2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863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272445-B7A3-4CB0-B5C0-4F4855F06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09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ADC3D6-B0BD-47C4-AF26-806C96717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BB50E6-6BA7-416A-AAFC-8522BAE2F885}"/>
              </a:ext>
            </a:extLst>
          </p:cNvPr>
          <p:cNvSpPr txBox="1"/>
          <p:nvPr/>
        </p:nvSpPr>
        <p:spPr>
          <a:xfrm>
            <a:off x="4653280" y="1391920"/>
            <a:ext cx="715264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15. Conclusion</a:t>
            </a:r>
            <a:endParaRPr lang="en-US" sz="1200" b="1" dirty="0"/>
          </a:p>
          <a:p>
            <a:endParaRPr lang="en-US" sz="2000" dirty="0"/>
          </a:p>
          <a:p>
            <a:r>
              <a:rPr lang="en-US" sz="2800" dirty="0"/>
              <a:t>Normalization improves database design. ACID properties ensure transaction reliability. Indexing enhances performance. Concurrency control maintains consistency. SQL and NoSQL serve different purposes.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248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3E541-61E8-4099-83CB-D2BCC3CB10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894" t="3537" r="1894" b="3537"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456222-6ED1-4551-A6E4-4D2CF1A4130C}"/>
              </a:ext>
            </a:extLst>
          </p:cNvPr>
          <p:cNvSpPr txBox="1"/>
          <p:nvPr/>
        </p:nvSpPr>
        <p:spPr>
          <a:xfrm>
            <a:off x="1056640" y="1905506"/>
            <a:ext cx="63093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Thank You</a:t>
            </a:r>
          </a:p>
          <a:p>
            <a:endParaRPr lang="en-US" sz="3200" b="1" dirty="0"/>
          </a:p>
          <a:p>
            <a:r>
              <a:rPr lang="en-US" sz="4000" dirty="0"/>
              <a:t>Thank You for Listening.</a:t>
            </a:r>
          </a:p>
          <a:p>
            <a:r>
              <a:rPr lang="en-US" sz="4000" dirty="0"/>
              <a:t>Any Questions</a:t>
            </a:r>
            <a:r>
              <a:rPr lang="en-US" sz="4000" dirty="0">
                <a:solidFill>
                  <a:schemeClr val="accent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64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417</Words>
  <Application>Microsoft Office PowerPoint</Application>
  <PresentationFormat>Widescreen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2. First Normal Form (1NF)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Alnoman Robin</dc:creator>
  <cp:lastModifiedBy>Alnoman Robin</cp:lastModifiedBy>
  <cp:revision>5</cp:revision>
  <dcterms:created xsi:type="dcterms:W3CDTF">2026-01-07T21:18:22Z</dcterms:created>
  <dcterms:modified xsi:type="dcterms:W3CDTF">2026-01-10T13:42:20Z</dcterms:modified>
</cp:coreProperties>
</file>